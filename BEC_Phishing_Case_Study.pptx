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TARANG (~40s): Good morning. We are Tarang, Vivaan and Yaman. Our case study is on phishing email detection using machine learning and NLP, built around one of the most striking frauds of the last decade: a single man in Lithuania who tricked Google and Facebook into wiring him over a hundred million dollars, using nothing more than emails and fake invoices. I'll set the context and walk you through what happened, Vivaan will explain exactly how the attack worked and how he was caught, and Yaman will show how an ML/NLP system could have flagged these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TARANG (~60s): Before the case itself, why this topic matters today. Business Email Compromise, or BEC, is when an attacker poses as a trusted party, like a supplier or a CEO, and convinces someone to send money. It's not the flashy hacking you see in movies. But look at the FBI's numbers: reported BEC losses went from about 360 million dollars in 2016 to nearly 3 billion dollars a year by 2023. The FBI puts total global exposed losses at over 55 billion dollars between October 2013 and the end of 2023. And the scary part: these emails usually carry no virus and no malicious link, so traditional spam and antivirus filters have nothing to catch. That's exactly the gap our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TARANG (~50s): Here's the case in four numbers. Roughly 121 million dollars was wired out, about 98 million from Facebook and 23 million from Google. It ran for about two years without being stopped. And it ended with a five-year prison sentence. The attacker was Evaldas Rimasauskas from Lithuania. He didn't hack servers. He impersonated Quanta Computer, a real Taiwanese manufacturer that genuinely supplied hardware to both companies, which is why the requests looked routine. For two years the companies weren't even named; Fortune magazine identified them in April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TARANG (~60s): Walking through the timeline. Around 2013 he registers a company in Latvia with the exact same name as the real supplier, Quanta Computer, and opens bank accounts in Latvia and Cyprus. From 2013 to 2015 his emails and fake invoices keep landing with finance teams, and the money keeps moving. Around 2015 it stops and the companies start recovering what they can. Then it goes quiet publicly until March 2017, when he's arrested in Lithuania and the Justice Department unseals the charges, though without naming the victims. A month later Fortune reveals it was Google and Facebook. He's extradited in August 2017, pleads guilty in March 2019, and in December 2019 he's sentenced to five years. Now Vivaan will take you through how he actually pulled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VIVAAN (~60s): Thanks Tarang. So how did one person do this? Five steps. First, reconnaissance: he found out that Quanta Computer was a genuine supplier to both companies, with regular, large invoices, and who in finance dealt with those payments. Second, impersonation: he registered a company in Latvia with exactly the same name, Quanta Computer, so that bank records would show a matching company name, and he opened accounts in Latvia and Cyprus. Third, phishing: he emailed employees from accounts pretending to be Quanta staff. Fourth, payment: those emails carried invoices for goods that looked like real orders, and employees paid them. Fifth, laundering: the money was quickly moved on to other countries, and when banks asked questions he supplied forged contracts and letters. Notice what's missing: he never broke into a single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VIVAAN (~60s): To make this concrete, here's a reconstruction of what such an email looks like. This is illustrative, built from what the court filings describe, not a leaked original. Look at the sender: the display name says Quanta Computer, but the domain uses 'r-n' to imitate the letter 'm'. That's a look-alike domain. Second, the bank details have 'changed', to an account in Latvia, which makes no sense for a Taiwanese manufacturer if you stop and think. Third, urgency: pay in three days or shipments get delayed. And the fourth point is the most important one for our project: there's nothing technically malicious here. The PDF is clean, there's no link. A traditional filter sees a normal business email. The red flags are in the language and the context, which is exactly what NLP and machine learning can learn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VIVAAN (~50s): Why did this work on two of the most technically advanced companies in the world? Four reasons. One, it rode on a real relationship: Quanta actually invoiced them for huge amounts, so another invoice didn't stand out. Two, there was nothing for security tools to catch, because no malware and no links. Three, he backed it up with forged paperwork: contracts and letters with fake signatures and company stamps, which he gave to banks when they asked about the transfers. And four, process gaps: the payee name matched, and there was no rule forcing someone to pick up the phone and confirm a bank change with a known contact. The lesson is that the weakest point wasn't the firewall, it was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VIVAAN (~50s): Once the money arrived in Latvia and Cyprus, it didn't stay there. It was split and moved to accounts in countries including Slovakia, Lithuania, Hungary and Hong Kong. That layering is classic money laundering. But wire transfers leave records, and that's how investigators traced it back. In March 2017 he was charged with wire fraud, money laundering and aggravated identity theft. In March 2019 he pleaded guilty to wire fraud and agreed to forfeit 49.7 million dollars. In December 2019 a federal judge in New York gave him five years. Google and Facebook both said they recovered most of the money, but the point stands: they paid first and discovered later. Yaman will now show how detection could move that discovery to before the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YAMAN (~60s): Thanks Vivaan. So how do we catch an email that has no malware in it? Our methodology is a five-stage pipeline. Data: we use public datasets, the Enron corpus for legitimate business email and phishing corpora like Nazario's and SpamAssassin, and since public BEC samples are rare, we add synthetic BEC emails modelled on cases like this one. Pre-processing: we parse email headers separately from the body, clean and tokenise the text, and pull out entities like amounts, bank names and countries. Features: three groups, which I'll show next. Classification: we compare classic models against a fine-tuned transformer. And Act: rather than just deleting mail, the system gives a risk score, and high-risk payment emails are held until someone verifies by phone. The key idea is the hybrid: text alone isn't enough for BEC, because the fake invoice reads exactly like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YAMAN (~60s): These are the features, mapped directly onto this case. Header features: did the email pass SPF, DKIM and DMARC for Quanta's real domain? A spoofed or look-alike sender fails. We measure edit distance between the sender domain and known vendor domains, so 'quanta-cornputer' is flagged as almost-but-not-quite Quanta. And we check if the Reply-To quietly differs from the From address. NLP features: the model learns the intent of 'our bank details have changed' combined with urgency like 'within three business days', using TF-IDF or BERT embeddings. Named-entity recognition spots that the bank is in Latvia or Cyprus while the supplier is Taiwanese. And a behavioural feature: this account number has never been paid before for this vendor. On its own each signal can be noisy, but combined, these emails would have scored as very high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YAMAN (~50s): We compare four models. A TF-IDF plus logistic regression baseline, which is fast and easy to explain. A random forest on the hybrid features, which is strong at combining header and behavioural signals. A BiLSTM, which reads word order. And a fine-tuned DistilBERT, which understands intent best but is heavier to run. We evaluate with a stratified 80/20 split and five-fold cross-validation, reporting precision, recall, F1 and false-positive rate. And we deliberately prioritise recall on payment-related emails, because in a case like this, missing one email costs millions, while a false alarm costs one phone call to the supplier. Published studies regularly report transformer models above 0.95 F1 on public phishing datasets; the harder part for BEC is the metadata, which is why the hybrid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YAMAN (~45s): To conclude. The biggest lesson of this case is that it succeeded without a single line of malicious code. So defence has three layers. Detection: hybrid ML models that read context and flag look-alike senders and payment-change requests. Process: any change in bank details must be verified by phone with a contact you already know, large payments need two approvals, and new payee accounts are held until confirmed. And people: finance teams trained to spot these red flags and encouraged to question urgency. Machine learning can flag the email; a good process is what stops the money.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YAMAN: Leave this slide up during questions. Full reference list (30+) is in the written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p:bgPr>
    </p:bg>
    <p:spTree>
      <p:nvGrpSpPr>
        <p:cNvPr id="1" name=""/>
        <p:cNvGrpSpPr/>
        <p:nvPr/>
      </p:nvGrpSpPr>
      <p:grpSpPr>
        <a:xfrm>
          <a:off x="0" y="0"/>
          <a:ext cx="0" cy="0"/>
          <a:chOff x="0" y="0"/>
          <a:chExt cx="0" cy="0"/>
        </a:xfrm>
      </p:grpSpPr>
      <p:sp>
        <p:nvSpPr>
          <p:cNvPr id="2" name="Text 0"/>
          <p:cNvSpPr txBox="1"/>
          <p:nvPr/>
        </p:nvSpPr>
        <p:spPr>
          <a:xfrm>
            <a:off x="640080" y="685800"/>
            <a:ext cx="7315200" cy="320040"/>
          </a:xfrm>
          <a:prstGeom prst="rect">
            <a:avLst/>
          </a:prstGeom>
          <a:noFill/>
          <a:ln/>
        </p:spPr>
        <p:txBody>
          <a:bodyPr wrap="square" lIns="0" tIns="0" rIns="0" bIns="0" rtlCol="0" anchor="t"/>
          <a:lstStyle/>
          <a:p>
            <a:pPr indent="0" marL="0">
              <a:buNone/>
            </a:pPr>
            <a:r>
              <a:rPr lang="en-US" sz="1200" b="1" spc="300" kern="0" dirty="0">
                <a:solidFill>
                  <a:srgbClr val="8DB8A8"/>
                </a:solidFill>
                <a:latin typeface="Arial" pitchFamily="34" charset="0"/>
                <a:ea typeface="Arial" pitchFamily="34" charset="-122"/>
                <a:cs typeface="Arial" pitchFamily="34" charset="-120"/>
              </a:rPr>
              <a:t>CYBER SECURITY  ·  CA-II CASE STUDY  ·  UNIT 4</a:t>
            </a:r>
            <a:endParaRPr lang="en-US" sz="1200" dirty="0"/>
          </a:p>
        </p:txBody>
      </p:sp>
      <p:sp>
        <p:nvSpPr>
          <p:cNvPr id="3" name="Text 1"/>
          <p:cNvSpPr txBox="1"/>
          <p:nvPr/>
        </p:nvSpPr>
        <p:spPr>
          <a:xfrm>
            <a:off x="640080" y="1188720"/>
            <a:ext cx="7680960" cy="1463040"/>
          </a:xfrm>
          <a:prstGeom prst="rect">
            <a:avLst/>
          </a:prstGeom>
          <a:noFill/>
          <a:ln/>
        </p:spPr>
        <p:txBody>
          <a:bodyPr wrap="square" lIns="0" tIns="0" rIns="0" bIns="0" rtlCol="0" anchor="t"/>
          <a:lstStyle/>
          <a:p>
            <a:pPr indent="0" marL="0">
              <a:buNone/>
            </a:pPr>
            <a:r>
              <a:rPr lang="en-US" sz="3800" b="1" dirty="0">
                <a:solidFill>
                  <a:srgbClr val="F5EFE3"/>
                </a:solidFill>
                <a:latin typeface="Georgia" pitchFamily="34" charset="0"/>
                <a:ea typeface="Georgia" pitchFamily="34" charset="-122"/>
                <a:cs typeface="Georgia" pitchFamily="34" charset="-120"/>
              </a:rPr>
              <a:t>Phishing Email Detection using Machine Learning &amp; NLP</a:t>
            </a:r>
            <a:endParaRPr lang="en-US" sz="3800" dirty="0"/>
          </a:p>
        </p:txBody>
      </p:sp>
      <p:sp>
        <p:nvSpPr>
          <p:cNvPr id="4" name="Text 2"/>
          <p:cNvSpPr txBox="1"/>
          <p:nvPr/>
        </p:nvSpPr>
        <p:spPr>
          <a:xfrm>
            <a:off x="640080" y="2743200"/>
            <a:ext cx="7498080" cy="822960"/>
          </a:xfrm>
          <a:prstGeom prst="rect">
            <a:avLst/>
          </a:prstGeom>
          <a:noFill/>
          <a:ln/>
        </p:spPr>
        <p:txBody>
          <a:bodyPr wrap="square" lIns="0" tIns="0" rIns="0" bIns="0" rtlCol="0" anchor="t"/>
          <a:lstStyle/>
          <a:p>
            <a:pPr indent="0" marL="0">
              <a:buNone/>
            </a:pPr>
            <a:r>
              <a:rPr lang="en-US" sz="1900" i="1" dirty="0">
                <a:solidFill>
                  <a:srgbClr val="8DB8A8"/>
                </a:solidFill>
                <a:latin typeface="Arial" pitchFamily="34" charset="0"/>
                <a:ea typeface="Arial" pitchFamily="34" charset="-122"/>
                <a:cs typeface="Arial" pitchFamily="34" charset="-120"/>
              </a:rPr>
              <a:t>A case study of the $100M+ Google–Facebook Business Email Compromise fraud (2013–2015)</a:t>
            </a:r>
            <a:endParaRPr lang="en-US" sz="1900" dirty="0"/>
          </a:p>
        </p:txBody>
      </p:sp>
      <p:sp>
        <p:nvSpPr>
          <p:cNvPr id="5" name="Shape 3"/>
          <p:cNvSpPr/>
          <p:nvPr/>
        </p:nvSpPr>
        <p:spPr>
          <a:xfrm>
            <a:off x="8961120" y="1005840"/>
            <a:ext cx="2560320" cy="2560320"/>
          </a:xfrm>
          <a:prstGeom prst="ellipse">
            <a:avLst/>
          </a:prstGeom>
          <a:solidFill>
            <a:srgbClr val="24384D"/>
          </a:solidFill>
          <a:ln w="12700">
            <a:solidFill>
              <a:srgbClr val="24384D"/>
            </a:solidFill>
            <a:prstDash val="solid"/>
          </a:ln>
        </p:spPr>
      </p:sp>
      <p:pic>
        <p:nvPicPr>
          <p:cNvPr id="6" name="Image 0" descr="preencoded.png">    </p:cNvPr>
          <p:cNvPicPr>
            <a:picLocks noChangeAspect="1"/>
          </p:cNvPicPr>
          <p:nvPr/>
        </p:nvPicPr>
        <p:blipFill>
          <a:blip r:embed="rId1"/>
          <a:stretch>
            <a:fillRect/>
          </a:stretch>
        </p:blipFill>
        <p:spPr>
          <a:xfrm>
            <a:off x="9601200" y="1645920"/>
            <a:ext cx="1280160" cy="1280160"/>
          </a:xfrm>
          <a:prstGeom prst="rect">
            <a:avLst/>
          </a:prstGeom>
        </p:spPr>
      </p:pic>
      <p:sp>
        <p:nvSpPr>
          <p:cNvPr id="7" name="Shape 4"/>
          <p:cNvSpPr/>
          <p:nvPr/>
        </p:nvSpPr>
        <p:spPr>
          <a:xfrm>
            <a:off x="640080" y="4114800"/>
            <a:ext cx="2651760" cy="1005840"/>
          </a:xfrm>
          <a:prstGeom prst="roundRect">
            <a:avLst>
              <a:gd name="adj" fmla="val 9091"/>
            </a:avLst>
          </a:prstGeom>
          <a:solidFill>
            <a:srgbClr val="24384D"/>
          </a:solidFill>
          <a:ln w="9525">
            <a:solidFill>
              <a:srgbClr val="2F4760"/>
            </a:solidFill>
            <a:prstDash val="solid"/>
          </a:ln>
        </p:spPr>
      </p:sp>
      <p:sp>
        <p:nvSpPr>
          <p:cNvPr id="8" name="Text 5"/>
          <p:cNvSpPr txBox="1"/>
          <p:nvPr/>
        </p:nvSpPr>
        <p:spPr>
          <a:xfrm>
            <a:off x="868680" y="4279392"/>
            <a:ext cx="2286000" cy="365760"/>
          </a:xfrm>
          <a:prstGeom prst="rect">
            <a:avLst/>
          </a:prstGeom>
          <a:noFill/>
          <a:ln/>
        </p:spPr>
        <p:txBody>
          <a:bodyPr wrap="square" lIns="0" tIns="0" rIns="0" bIns="0" rtlCol="0" anchor="t"/>
          <a:lstStyle/>
          <a:p>
            <a:pPr indent="0" marL="0">
              <a:buNone/>
            </a:pPr>
            <a:r>
              <a:rPr lang="en-US" sz="1800" b="1" dirty="0">
                <a:solidFill>
                  <a:srgbClr val="F5EFE3"/>
                </a:solidFill>
                <a:latin typeface="Arial" pitchFamily="34" charset="0"/>
                <a:ea typeface="Arial" pitchFamily="34" charset="-122"/>
                <a:cs typeface="Arial" pitchFamily="34" charset="-120"/>
              </a:rPr>
              <a:t>Tarang</a:t>
            </a:r>
            <a:endParaRPr lang="en-US" sz="1800" dirty="0"/>
          </a:p>
        </p:txBody>
      </p:sp>
      <p:sp>
        <p:nvSpPr>
          <p:cNvPr id="9" name="Text 6"/>
          <p:cNvSpPr txBox="1"/>
          <p:nvPr/>
        </p:nvSpPr>
        <p:spPr>
          <a:xfrm>
            <a:off x="868680" y="4663440"/>
            <a:ext cx="2286000" cy="320040"/>
          </a:xfrm>
          <a:prstGeom prst="rect">
            <a:avLst/>
          </a:prstGeom>
          <a:noFill/>
          <a:ln/>
        </p:spPr>
        <p:txBody>
          <a:bodyPr wrap="square" lIns="0" tIns="0" rIns="0" bIns="0" rtlCol="0" anchor="t"/>
          <a:lstStyle/>
          <a:p>
            <a:pPr indent="0" marL="0">
              <a:buNone/>
            </a:pPr>
            <a:r>
              <a:rPr lang="en-US" sz="1400" dirty="0">
                <a:solidFill>
                  <a:srgbClr val="8DB8A8"/>
                </a:solidFill>
                <a:latin typeface="Arial" pitchFamily="34" charset="0"/>
                <a:ea typeface="Arial" pitchFamily="34" charset="-122"/>
                <a:cs typeface="Arial" pitchFamily="34" charset="-120"/>
              </a:rPr>
              <a:t>PRN 23070123140</a:t>
            </a:r>
            <a:endParaRPr lang="en-US" sz="1400" dirty="0"/>
          </a:p>
        </p:txBody>
      </p:sp>
      <p:sp>
        <p:nvSpPr>
          <p:cNvPr id="10" name="Shape 7"/>
          <p:cNvSpPr/>
          <p:nvPr/>
        </p:nvSpPr>
        <p:spPr>
          <a:xfrm>
            <a:off x="3566160" y="4114800"/>
            <a:ext cx="2651760" cy="1005840"/>
          </a:xfrm>
          <a:prstGeom prst="roundRect">
            <a:avLst>
              <a:gd name="adj" fmla="val 9091"/>
            </a:avLst>
          </a:prstGeom>
          <a:solidFill>
            <a:srgbClr val="24384D"/>
          </a:solidFill>
          <a:ln w="9525">
            <a:solidFill>
              <a:srgbClr val="2F4760"/>
            </a:solidFill>
            <a:prstDash val="solid"/>
          </a:ln>
        </p:spPr>
      </p:sp>
      <p:sp>
        <p:nvSpPr>
          <p:cNvPr id="11" name="Text 8"/>
          <p:cNvSpPr txBox="1"/>
          <p:nvPr/>
        </p:nvSpPr>
        <p:spPr>
          <a:xfrm>
            <a:off x="3794760" y="4279392"/>
            <a:ext cx="2286000" cy="365760"/>
          </a:xfrm>
          <a:prstGeom prst="rect">
            <a:avLst/>
          </a:prstGeom>
          <a:noFill/>
          <a:ln/>
        </p:spPr>
        <p:txBody>
          <a:bodyPr wrap="square" lIns="0" tIns="0" rIns="0" bIns="0" rtlCol="0" anchor="t"/>
          <a:lstStyle/>
          <a:p>
            <a:pPr indent="0" marL="0">
              <a:buNone/>
            </a:pPr>
            <a:r>
              <a:rPr lang="en-US" sz="1800" b="1" dirty="0">
                <a:solidFill>
                  <a:srgbClr val="F5EFE3"/>
                </a:solidFill>
                <a:latin typeface="Arial" pitchFamily="34" charset="0"/>
                <a:ea typeface="Arial" pitchFamily="34" charset="-122"/>
                <a:cs typeface="Arial" pitchFamily="34" charset="-120"/>
              </a:rPr>
              <a:t>Vivaan</a:t>
            </a:r>
            <a:endParaRPr lang="en-US" sz="1800" dirty="0"/>
          </a:p>
        </p:txBody>
      </p:sp>
      <p:sp>
        <p:nvSpPr>
          <p:cNvPr id="12" name="Text 9"/>
          <p:cNvSpPr txBox="1"/>
          <p:nvPr/>
        </p:nvSpPr>
        <p:spPr>
          <a:xfrm>
            <a:off x="3794760" y="4663440"/>
            <a:ext cx="2286000" cy="320040"/>
          </a:xfrm>
          <a:prstGeom prst="rect">
            <a:avLst/>
          </a:prstGeom>
          <a:noFill/>
          <a:ln/>
        </p:spPr>
        <p:txBody>
          <a:bodyPr wrap="square" lIns="0" tIns="0" rIns="0" bIns="0" rtlCol="0" anchor="t"/>
          <a:lstStyle/>
          <a:p>
            <a:pPr indent="0" marL="0">
              <a:buNone/>
            </a:pPr>
            <a:r>
              <a:rPr lang="en-US" sz="1400" dirty="0">
                <a:solidFill>
                  <a:srgbClr val="8DB8A8"/>
                </a:solidFill>
                <a:latin typeface="Arial" pitchFamily="34" charset="0"/>
                <a:ea typeface="Arial" pitchFamily="34" charset="-122"/>
                <a:cs typeface="Arial" pitchFamily="34" charset="-120"/>
              </a:rPr>
              <a:t>PRN 23070123151</a:t>
            </a:r>
            <a:endParaRPr lang="en-US" sz="1400" dirty="0"/>
          </a:p>
        </p:txBody>
      </p:sp>
      <p:sp>
        <p:nvSpPr>
          <p:cNvPr id="13" name="Shape 10"/>
          <p:cNvSpPr/>
          <p:nvPr/>
        </p:nvSpPr>
        <p:spPr>
          <a:xfrm>
            <a:off x="6492240" y="4114800"/>
            <a:ext cx="2651760" cy="1005840"/>
          </a:xfrm>
          <a:prstGeom prst="roundRect">
            <a:avLst>
              <a:gd name="adj" fmla="val 9091"/>
            </a:avLst>
          </a:prstGeom>
          <a:solidFill>
            <a:srgbClr val="24384D"/>
          </a:solidFill>
          <a:ln w="9525">
            <a:solidFill>
              <a:srgbClr val="2F4760"/>
            </a:solidFill>
            <a:prstDash val="solid"/>
          </a:ln>
        </p:spPr>
      </p:sp>
      <p:sp>
        <p:nvSpPr>
          <p:cNvPr id="14" name="Text 11"/>
          <p:cNvSpPr txBox="1"/>
          <p:nvPr/>
        </p:nvSpPr>
        <p:spPr>
          <a:xfrm>
            <a:off x="6720840" y="4279392"/>
            <a:ext cx="2286000" cy="365760"/>
          </a:xfrm>
          <a:prstGeom prst="rect">
            <a:avLst/>
          </a:prstGeom>
          <a:noFill/>
          <a:ln/>
        </p:spPr>
        <p:txBody>
          <a:bodyPr wrap="square" lIns="0" tIns="0" rIns="0" bIns="0" rtlCol="0" anchor="t"/>
          <a:lstStyle/>
          <a:p>
            <a:pPr indent="0" marL="0">
              <a:buNone/>
            </a:pPr>
            <a:r>
              <a:rPr lang="en-US" sz="1800" b="1" dirty="0">
                <a:solidFill>
                  <a:srgbClr val="F5EFE3"/>
                </a:solidFill>
                <a:latin typeface="Arial" pitchFamily="34" charset="0"/>
                <a:ea typeface="Arial" pitchFamily="34" charset="-122"/>
                <a:cs typeface="Arial" pitchFamily="34" charset="-120"/>
              </a:rPr>
              <a:t>Yaman Ansari</a:t>
            </a:r>
            <a:endParaRPr lang="en-US" sz="1800" dirty="0"/>
          </a:p>
        </p:txBody>
      </p:sp>
      <p:sp>
        <p:nvSpPr>
          <p:cNvPr id="15" name="Text 12"/>
          <p:cNvSpPr txBox="1"/>
          <p:nvPr/>
        </p:nvSpPr>
        <p:spPr>
          <a:xfrm>
            <a:off x="6720840" y="4663440"/>
            <a:ext cx="2286000" cy="320040"/>
          </a:xfrm>
          <a:prstGeom prst="rect">
            <a:avLst/>
          </a:prstGeom>
          <a:noFill/>
          <a:ln/>
        </p:spPr>
        <p:txBody>
          <a:bodyPr wrap="square" lIns="0" tIns="0" rIns="0" bIns="0" rtlCol="0" anchor="t"/>
          <a:lstStyle/>
          <a:p>
            <a:pPr indent="0" marL="0">
              <a:buNone/>
            </a:pPr>
            <a:r>
              <a:rPr lang="en-US" sz="1400" dirty="0">
                <a:solidFill>
                  <a:srgbClr val="8DB8A8"/>
                </a:solidFill>
                <a:latin typeface="Arial" pitchFamily="34" charset="0"/>
                <a:ea typeface="Arial" pitchFamily="34" charset="-122"/>
                <a:cs typeface="Arial" pitchFamily="34" charset="-120"/>
              </a:rPr>
              <a:t>PRN 23070123155</a:t>
            </a:r>
            <a:endParaRPr lang="en-US" sz="1400" dirty="0"/>
          </a:p>
        </p:txBody>
      </p:sp>
      <p:sp>
        <p:nvSpPr>
          <p:cNvPr id="16" name="Text 13"/>
          <p:cNvSpPr txBox="1"/>
          <p:nvPr/>
        </p:nvSpPr>
        <p:spPr>
          <a:xfrm>
            <a:off x="640080" y="5852160"/>
            <a:ext cx="10972800" cy="365760"/>
          </a:xfrm>
          <a:prstGeom prst="rect">
            <a:avLst/>
          </a:prstGeom>
          <a:noFill/>
          <a:ln/>
        </p:spPr>
        <p:txBody>
          <a:bodyPr wrap="square" lIns="0" tIns="0" rIns="0" bIns="0" rtlCol="0" anchor="t"/>
          <a:lstStyle/>
          <a:p>
            <a:pPr indent="0" marL="0">
              <a:buNone/>
            </a:pPr>
            <a:r>
              <a:rPr lang="en-US" sz="1300" dirty="0">
                <a:solidFill>
                  <a:srgbClr val="AFC3BB"/>
                </a:solidFill>
                <a:latin typeface="Arial" pitchFamily="34" charset="0"/>
                <a:ea typeface="Arial" pitchFamily="34" charset="-122"/>
                <a:cs typeface="Arial" pitchFamily="34" charset="-120"/>
              </a:rPr>
              <a:t>Group No.: ____   ·   Dept. of E&amp;TC Engineering   ·   Batch 2023–27, Sem VII   ·   Faculty: Dr. Mangal Singh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Why Business Email Compromise matters</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TARANG</a:t>
            </a:r>
            <a:endParaRPr lang="en-US" sz="1000" dirty="0"/>
          </a:p>
        </p:txBody>
      </p:sp>
      <p:sp>
        <p:nvSpPr>
          <p:cNvPr id="5" name="Shape 3"/>
          <p:cNvSpPr/>
          <p:nvPr/>
        </p:nvSpPr>
        <p:spPr>
          <a:xfrm>
            <a:off x="548640" y="1463040"/>
            <a:ext cx="7040880" cy="4754880"/>
          </a:xfrm>
          <a:prstGeom prst="roundRect">
            <a:avLst>
              <a:gd name="adj" fmla="val 1923"/>
            </a:avLst>
          </a:prstGeom>
          <a:solidFill>
            <a:srgbClr val="FFFFFF"/>
          </a:solidFill>
          <a:ln w="9525">
            <a:solidFill>
              <a:srgbClr val="D8D2C4"/>
            </a:solidFill>
            <a:prstDash val="solid"/>
          </a:ln>
        </p:spPr>
      </p:sp>
      <p:sp>
        <p:nvSpPr>
          <p:cNvPr id="6" name="Text 4"/>
          <p:cNvSpPr txBox="1"/>
          <p:nvPr/>
        </p:nvSpPr>
        <p:spPr>
          <a:xfrm>
            <a:off x="822960" y="1645920"/>
            <a:ext cx="6400800" cy="365760"/>
          </a:xfrm>
          <a:prstGeom prst="rect">
            <a:avLst/>
          </a:prstGeom>
          <a:noFill/>
          <a:ln/>
        </p:spPr>
        <p:txBody>
          <a:bodyPr wrap="square" lIns="0" tIns="0" rIns="0" bIns="0" rtlCol="0" anchor="t"/>
          <a:lstStyle/>
          <a:p>
            <a:pPr indent="0" marL="0">
              <a:buNone/>
            </a:pPr>
            <a:r>
              <a:rPr lang="en-US" sz="1500" b="1" dirty="0">
                <a:solidFill>
                  <a:srgbClr val="1B2A3A"/>
                </a:solidFill>
                <a:latin typeface="Arial" pitchFamily="34" charset="0"/>
                <a:ea typeface="Arial" pitchFamily="34" charset="-122"/>
                <a:cs typeface="Arial" pitchFamily="34" charset="-120"/>
              </a:rPr>
              <a:t>BEC losses reported to the FBI (US$ billions)</a:t>
            </a:r>
            <a:endParaRPr lang="en-US" sz="1500" dirty="0"/>
          </a:p>
        </p:txBody>
      </p:sp>
      <p:sp>
        <p:nvSpPr>
          <p:cNvPr id="7" name="Shape 5"/>
          <p:cNvSpPr/>
          <p:nvPr/>
        </p:nvSpPr>
        <p:spPr>
          <a:xfrm>
            <a:off x="822960" y="5394960"/>
            <a:ext cx="6492240" cy="0"/>
          </a:xfrm>
          <a:prstGeom prst="line">
            <a:avLst/>
          </a:prstGeom>
          <a:noFill/>
          <a:ln w="12700">
            <a:solidFill>
              <a:srgbClr val="D8D2C4"/>
            </a:solidFill>
            <a:prstDash val="solid"/>
          </a:ln>
        </p:spPr>
      </p:sp>
      <p:sp>
        <p:nvSpPr>
          <p:cNvPr id="8" name="Shape 6"/>
          <p:cNvSpPr/>
          <p:nvPr/>
        </p:nvSpPr>
        <p:spPr>
          <a:xfrm>
            <a:off x="960120" y="5043830"/>
            <a:ext cx="457200" cy="351130"/>
          </a:xfrm>
          <a:prstGeom prst="rect">
            <a:avLst/>
          </a:prstGeom>
          <a:solidFill>
            <a:srgbClr val="1F6F6B"/>
          </a:solidFill>
          <a:ln w="12700">
            <a:solidFill>
              <a:srgbClr val="1F6F6B"/>
            </a:solidFill>
            <a:prstDash val="solid"/>
          </a:ln>
        </p:spPr>
      </p:sp>
      <p:sp>
        <p:nvSpPr>
          <p:cNvPr id="9" name="Text 7"/>
          <p:cNvSpPr txBox="1"/>
          <p:nvPr/>
        </p:nvSpPr>
        <p:spPr>
          <a:xfrm>
            <a:off x="822960" y="4751222"/>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0.4</a:t>
            </a:r>
            <a:endParaRPr lang="en-US" sz="1200" dirty="0"/>
          </a:p>
        </p:txBody>
      </p:sp>
      <p:sp>
        <p:nvSpPr>
          <p:cNvPr id="10" name="Text 8"/>
          <p:cNvSpPr txBox="1"/>
          <p:nvPr/>
        </p:nvSpPr>
        <p:spPr>
          <a:xfrm>
            <a:off x="822960"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2016</a:t>
            </a:r>
            <a:endParaRPr lang="en-US" sz="1100" dirty="0"/>
          </a:p>
        </p:txBody>
      </p:sp>
      <p:sp>
        <p:nvSpPr>
          <p:cNvPr id="11" name="Shape 9"/>
          <p:cNvSpPr/>
          <p:nvPr/>
        </p:nvSpPr>
        <p:spPr>
          <a:xfrm>
            <a:off x="1664208" y="4731715"/>
            <a:ext cx="457200" cy="663245"/>
          </a:xfrm>
          <a:prstGeom prst="rect">
            <a:avLst/>
          </a:prstGeom>
          <a:solidFill>
            <a:srgbClr val="1F6F6B"/>
          </a:solidFill>
          <a:ln w="12700">
            <a:solidFill>
              <a:srgbClr val="1F6F6B"/>
            </a:solidFill>
            <a:prstDash val="solid"/>
          </a:ln>
        </p:spPr>
      </p:sp>
      <p:sp>
        <p:nvSpPr>
          <p:cNvPr id="12" name="Text 10"/>
          <p:cNvSpPr txBox="1"/>
          <p:nvPr/>
        </p:nvSpPr>
        <p:spPr>
          <a:xfrm>
            <a:off x="1527048" y="4439107"/>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0.7</a:t>
            </a:r>
            <a:endParaRPr lang="en-US" sz="1200" dirty="0"/>
          </a:p>
        </p:txBody>
      </p:sp>
      <p:sp>
        <p:nvSpPr>
          <p:cNvPr id="13" name="Text 11"/>
          <p:cNvSpPr txBox="1"/>
          <p:nvPr/>
        </p:nvSpPr>
        <p:spPr>
          <a:xfrm>
            <a:off x="1527048"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2017</a:t>
            </a:r>
            <a:endParaRPr lang="en-US" sz="1100" dirty="0"/>
          </a:p>
        </p:txBody>
      </p:sp>
      <p:sp>
        <p:nvSpPr>
          <p:cNvPr id="14" name="Shape 12"/>
          <p:cNvSpPr/>
          <p:nvPr/>
        </p:nvSpPr>
        <p:spPr>
          <a:xfrm>
            <a:off x="2368296" y="4126992"/>
            <a:ext cx="457200" cy="1267968"/>
          </a:xfrm>
          <a:prstGeom prst="rect">
            <a:avLst/>
          </a:prstGeom>
          <a:solidFill>
            <a:srgbClr val="1F6F6B"/>
          </a:solidFill>
          <a:ln w="12700">
            <a:solidFill>
              <a:srgbClr val="1F6F6B"/>
            </a:solidFill>
            <a:prstDash val="solid"/>
          </a:ln>
        </p:spPr>
      </p:sp>
      <p:sp>
        <p:nvSpPr>
          <p:cNvPr id="15" name="Text 13"/>
          <p:cNvSpPr txBox="1"/>
          <p:nvPr/>
        </p:nvSpPr>
        <p:spPr>
          <a:xfrm>
            <a:off x="2231136" y="3834384"/>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1.3</a:t>
            </a:r>
            <a:endParaRPr lang="en-US" sz="1200" dirty="0"/>
          </a:p>
        </p:txBody>
      </p:sp>
      <p:sp>
        <p:nvSpPr>
          <p:cNvPr id="16" name="Text 14"/>
          <p:cNvSpPr txBox="1"/>
          <p:nvPr/>
        </p:nvSpPr>
        <p:spPr>
          <a:xfrm>
            <a:off x="2231136"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2018</a:t>
            </a:r>
            <a:endParaRPr lang="en-US" sz="1100" dirty="0"/>
          </a:p>
        </p:txBody>
      </p:sp>
      <p:sp>
        <p:nvSpPr>
          <p:cNvPr id="17" name="Shape 15"/>
          <p:cNvSpPr/>
          <p:nvPr/>
        </p:nvSpPr>
        <p:spPr>
          <a:xfrm>
            <a:off x="3072384" y="3658819"/>
            <a:ext cx="457200" cy="1736141"/>
          </a:xfrm>
          <a:prstGeom prst="rect">
            <a:avLst/>
          </a:prstGeom>
          <a:solidFill>
            <a:srgbClr val="1F6F6B"/>
          </a:solidFill>
          <a:ln w="12700">
            <a:solidFill>
              <a:srgbClr val="1F6F6B"/>
            </a:solidFill>
            <a:prstDash val="solid"/>
          </a:ln>
        </p:spPr>
      </p:sp>
      <p:sp>
        <p:nvSpPr>
          <p:cNvPr id="18" name="Text 16"/>
          <p:cNvSpPr txBox="1"/>
          <p:nvPr/>
        </p:nvSpPr>
        <p:spPr>
          <a:xfrm>
            <a:off x="2935224" y="3366211"/>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1.8</a:t>
            </a:r>
            <a:endParaRPr lang="en-US" sz="1200" dirty="0"/>
          </a:p>
        </p:txBody>
      </p:sp>
      <p:sp>
        <p:nvSpPr>
          <p:cNvPr id="19" name="Text 17"/>
          <p:cNvSpPr txBox="1"/>
          <p:nvPr/>
        </p:nvSpPr>
        <p:spPr>
          <a:xfrm>
            <a:off x="2935224"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2019</a:t>
            </a:r>
            <a:endParaRPr lang="en-US" sz="1100" dirty="0"/>
          </a:p>
        </p:txBody>
      </p:sp>
      <p:sp>
        <p:nvSpPr>
          <p:cNvPr id="20" name="Shape 18"/>
          <p:cNvSpPr/>
          <p:nvPr/>
        </p:nvSpPr>
        <p:spPr>
          <a:xfrm>
            <a:off x="3776472" y="3571037"/>
            <a:ext cx="457200" cy="1823923"/>
          </a:xfrm>
          <a:prstGeom prst="rect">
            <a:avLst/>
          </a:prstGeom>
          <a:solidFill>
            <a:srgbClr val="1F6F6B"/>
          </a:solidFill>
          <a:ln w="12700">
            <a:solidFill>
              <a:srgbClr val="1F6F6B"/>
            </a:solidFill>
            <a:prstDash val="solid"/>
          </a:ln>
        </p:spPr>
      </p:sp>
      <p:sp>
        <p:nvSpPr>
          <p:cNvPr id="21" name="Text 19"/>
          <p:cNvSpPr txBox="1"/>
          <p:nvPr/>
        </p:nvSpPr>
        <p:spPr>
          <a:xfrm>
            <a:off x="3639312" y="3278429"/>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1.9</a:t>
            </a:r>
            <a:endParaRPr lang="en-US" sz="1200" dirty="0"/>
          </a:p>
        </p:txBody>
      </p:sp>
      <p:sp>
        <p:nvSpPr>
          <p:cNvPr id="22" name="Text 20"/>
          <p:cNvSpPr txBox="1"/>
          <p:nvPr/>
        </p:nvSpPr>
        <p:spPr>
          <a:xfrm>
            <a:off x="3639312"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2020</a:t>
            </a:r>
            <a:endParaRPr lang="en-US" sz="1100" dirty="0"/>
          </a:p>
        </p:txBody>
      </p:sp>
      <p:sp>
        <p:nvSpPr>
          <p:cNvPr id="23" name="Shape 21"/>
          <p:cNvSpPr/>
          <p:nvPr/>
        </p:nvSpPr>
        <p:spPr>
          <a:xfrm>
            <a:off x="4480560" y="3054096"/>
            <a:ext cx="457200" cy="2340864"/>
          </a:xfrm>
          <a:prstGeom prst="rect">
            <a:avLst/>
          </a:prstGeom>
          <a:solidFill>
            <a:srgbClr val="1F6F6B"/>
          </a:solidFill>
          <a:ln w="12700">
            <a:solidFill>
              <a:srgbClr val="1F6F6B"/>
            </a:solidFill>
            <a:prstDash val="solid"/>
          </a:ln>
        </p:spPr>
      </p:sp>
      <p:sp>
        <p:nvSpPr>
          <p:cNvPr id="24" name="Text 22"/>
          <p:cNvSpPr txBox="1"/>
          <p:nvPr/>
        </p:nvSpPr>
        <p:spPr>
          <a:xfrm>
            <a:off x="4343400" y="2761488"/>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2.4</a:t>
            </a:r>
            <a:endParaRPr lang="en-US" sz="1200" dirty="0"/>
          </a:p>
        </p:txBody>
      </p:sp>
      <p:sp>
        <p:nvSpPr>
          <p:cNvPr id="25" name="Text 23"/>
          <p:cNvSpPr txBox="1"/>
          <p:nvPr/>
        </p:nvSpPr>
        <p:spPr>
          <a:xfrm>
            <a:off x="4343400"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2021</a:t>
            </a:r>
            <a:endParaRPr lang="en-US" sz="1100" dirty="0"/>
          </a:p>
        </p:txBody>
      </p:sp>
      <p:sp>
        <p:nvSpPr>
          <p:cNvPr id="26" name="Shape 24"/>
          <p:cNvSpPr/>
          <p:nvPr/>
        </p:nvSpPr>
        <p:spPr>
          <a:xfrm>
            <a:off x="5184648" y="2722474"/>
            <a:ext cx="457200" cy="2672486"/>
          </a:xfrm>
          <a:prstGeom prst="rect">
            <a:avLst/>
          </a:prstGeom>
          <a:solidFill>
            <a:srgbClr val="1F6F6B"/>
          </a:solidFill>
          <a:ln w="12700">
            <a:solidFill>
              <a:srgbClr val="1F6F6B"/>
            </a:solidFill>
            <a:prstDash val="solid"/>
          </a:ln>
        </p:spPr>
      </p:sp>
      <p:sp>
        <p:nvSpPr>
          <p:cNvPr id="27" name="Text 25"/>
          <p:cNvSpPr txBox="1"/>
          <p:nvPr/>
        </p:nvSpPr>
        <p:spPr>
          <a:xfrm>
            <a:off x="5047488" y="2429866"/>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2.7</a:t>
            </a:r>
            <a:endParaRPr lang="en-US" sz="1200" dirty="0"/>
          </a:p>
        </p:txBody>
      </p:sp>
      <p:sp>
        <p:nvSpPr>
          <p:cNvPr id="28" name="Text 26"/>
          <p:cNvSpPr txBox="1"/>
          <p:nvPr/>
        </p:nvSpPr>
        <p:spPr>
          <a:xfrm>
            <a:off x="5047488"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2022</a:t>
            </a:r>
            <a:endParaRPr lang="en-US" sz="1100" dirty="0"/>
          </a:p>
        </p:txBody>
      </p:sp>
      <p:sp>
        <p:nvSpPr>
          <p:cNvPr id="29" name="Shape 27"/>
          <p:cNvSpPr/>
          <p:nvPr/>
        </p:nvSpPr>
        <p:spPr>
          <a:xfrm>
            <a:off x="5888736" y="2517648"/>
            <a:ext cx="457200" cy="2877312"/>
          </a:xfrm>
          <a:prstGeom prst="rect">
            <a:avLst/>
          </a:prstGeom>
          <a:solidFill>
            <a:srgbClr val="B5452F"/>
          </a:solidFill>
          <a:ln w="12700">
            <a:solidFill>
              <a:srgbClr val="B5452F"/>
            </a:solidFill>
            <a:prstDash val="solid"/>
          </a:ln>
        </p:spPr>
      </p:sp>
      <p:sp>
        <p:nvSpPr>
          <p:cNvPr id="30" name="Text 28"/>
          <p:cNvSpPr txBox="1"/>
          <p:nvPr/>
        </p:nvSpPr>
        <p:spPr>
          <a:xfrm>
            <a:off x="5751576" y="2225040"/>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3.0</a:t>
            </a:r>
            <a:endParaRPr lang="en-US" sz="1200" dirty="0"/>
          </a:p>
        </p:txBody>
      </p:sp>
      <p:sp>
        <p:nvSpPr>
          <p:cNvPr id="31" name="Text 29"/>
          <p:cNvSpPr txBox="1"/>
          <p:nvPr/>
        </p:nvSpPr>
        <p:spPr>
          <a:xfrm>
            <a:off x="5751576"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2023</a:t>
            </a:r>
            <a:endParaRPr lang="en-US" sz="1100" dirty="0"/>
          </a:p>
        </p:txBody>
      </p:sp>
      <p:sp>
        <p:nvSpPr>
          <p:cNvPr id="32" name="Shape 30"/>
          <p:cNvSpPr/>
          <p:nvPr/>
        </p:nvSpPr>
        <p:spPr>
          <a:xfrm>
            <a:off x="6592824" y="2693213"/>
            <a:ext cx="457200" cy="2701747"/>
          </a:xfrm>
          <a:prstGeom prst="rect">
            <a:avLst/>
          </a:prstGeom>
          <a:solidFill>
            <a:srgbClr val="1F6F6B"/>
          </a:solidFill>
          <a:ln w="12700">
            <a:solidFill>
              <a:srgbClr val="1F6F6B"/>
            </a:solidFill>
            <a:prstDash val="solid"/>
          </a:ln>
        </p:spPr>
      </p:sp>
      <p:sp>
        <p:nvSpPr>
          <p:cNvPr id="33" name="Text 31"/>
          <p:cNvSpPr txBox="1"/>
          <p:nvPr/>
        </p:nvSpPr>
        <p:spPr>
          <a:xfrm>
            <a:off x="6455664" y="2400605"/>
            <a:ext cx="731520" cy="256032"/>
          </a:xfrm>
          <a:prstGeom prst="rect">
            <a:avLst/>
          </a:prstGeom>
          <a:noFill/>
          <a:ln/>
        </p:spPr>
        <p:txBody>
          <a:bodyPr wrap="square" lIns="0" tIns="0" rIns="0" bIns="0" rtlCol="0" anchor="t"/>
          <a:lstStyle/>
          <a:p>
            <a:pPr algn="ctr" indent="0" marL="0">
              <a:buNone/>
            </a:pPr>
            <a:r>
              <a:rPr lang="en-US" sz="1200" b="1" dirty="0">
                <a:solidFill>
                  <a:srgbClr val="1B2A3A"/>
                </a:solidFill>
                <a:latin typeface="Arial" pitchFamily="34" charset="0"/>
                <a:ea typeface="Arial" pitchFamily="34" charset="-122"/>
                <a:cs typeface="Arial" pitchFamily="34" charset="-120"/>
              </a:rPr>
              <a:t>2.8</a:t>
            </a:r>
            <a:endParaRPr lang="en-US" sz="1200" dirty="0"/>
          </a:p>
        </p:txBody>
      </p:sp>
      <p:sp>
        <p:nvSpPr>
          <p:cNvPr id="34" name="Text 32"/>
          <p:cNvSpPr txBox="1"/>
          <p:nvPr/>
        </p:nvSpPr>
        <p:spPr>
          <a:xfrm>
            <a:off x="6455664" y="5468112"/>
            <a:ext cx="731520" cy="256032"/>
          </a:xfrm>
          <a:prstGeom prst="rect">
            <a:avLst/>
          </a:prstGeom>
          <a:noFill/>
          <a:ln/>
        </p:spPr>
        <p:txBody>
          <a:bodyPr wrap="square" lIns="0" tIns="0" rIns="0" bIns="0" rtlCol="0" anchor="t"/>
          <a:lstStyle/>
          <a:p>
            <a:pPr algn="ctr" indent="0" marL="0">
              <a:buNone/>
            </a:pPr>
            <a:r>
              <a:rPr lang="en-US" sz="1100" dirty="0">
                <a:solidFill>
                  <a:srgbClr val="4F5E6B"/>
                </a:solidFill>
                <a:latin typeface="Arial" pitchFamily="34" charset="0"/>
                <a:ea typeface="Arial" pitchFamily="34" charset="-122"/>
                <a:cs typeface="Arial" pitchFamily="34" charset="-120"/>
              </a:rPr>
              <a:t>2024</a:t>
            </a:r>
            <a:endParaRPr lang="en-US" sz="1100" dirty="0"/>
          </a:p>
        </p:txBody>
      </p:sp>
      <p:sp>
        <p:nvSpPr>
          <p:cNvPr id="35" name="Text 33"/>
          <p:cNvSpPr txBox="1"/>
          <p:nvPr/>
        </p:nvSpPr>
        <p:spPr>
          <a:xfrm>
            <a:off x="822960" y="5852160"/>
            <a:ext cx="6400800" cy="274320"/>
          </a:xfrm>
          <a:prstGeom prst="rect">
            <a:avLst/>
          </a:prstGeom>
          <a:noFill/>
          <a:ln/>
        </p:spPr>
        <p:txBody>
          <a:bodyPr wrap="square" lIns="0" tIns="0" rIns="0" bIns="0" rtlCol="0" anchor="t"/>
          <a:lstStyle/>
          <a:p>
            <a:pPr indent="0" marL="0">
              <a:buNone/>
            </a:pPr>
            <a:r>
              <a:rPr lang="en-US" sz="1000" dirty="0">
                <a:solidFill>
                  <a:srgbClr val="4F5E6B"/>
                </a:solidFill>
                <a:latin typeface="Arial" pitchFamily="34" charset="0"/>
                <a:ea typeface="Arial" pitchFamily="34" charset="-122"/>
                <a:cs typeface="Arial" pitchFamily="34" charset="-120"/>
              </a:rPr>
              <a:t>Source: FBI IC3 Internet Crime Reports, 2016–2024</a:t>
            </a:r>
            <a:endParaRPr lang="en-US" sz="1000" dirty="0"/>
          </a:p>
        </p:txBody>
      </p:sp>
      <p:sp>
        <p:nvSpPr>
          <p:cNvPr id="36" name="Shape 34"/>
          <p:cNvSpPr/>
          <p:nvPr/>
        </p:nvSpPr>
        <p:spPr>
          <a:xfrm>
            <a:off x="7863840" y="1463040"/>
            <a:ext cx="3776472" cy="1463040"/>
          </a:xfrm>
          <a:prstGeom prst="roundRect">
            <a:avLst>
              <a:gd name="adj" fmla="val 6250"/>
            </a:avLst>
          </a:prstGeom>
          <a:solidFill>
            <a:srgbClr val="FFFFFF"/>
          </a:solidFill>
          <a:ln w="9525">
            <a:solidFill>
              <a:srgbClr val="D8D2C4"/>
            </a:solidFill>
            <a:prstDash val="solid"/>
          </a:ln>
        </p:spPr>
      </p:sp>
      <p:sp>
        <p:nvSpPr>
          <p:cNvPr id="37" name="Text 35"/>
          <p:cNvSpPr txBox="1"/>
          <p:nvPr/>
        </p:nvSpPr>
        <p:spPr>
          <a:xfrm>
            <a:off x="8092440" y="1627632"/>
            <a:ext cx="3383280" cy="594360"/>
          </a:xfrm>
          <a:prstGeom prst="rect">
            <a:avLst/>
          </a:prstGeom>
          <a:noFill/>
          <a:ln/>
        </p:spPr>
        <p:txBody>
          <a:bodyPr wrap="square" lIns="0" tIns="0" rIns="0" bIns="0" rtlCol="0" anchor="t"/>
          <a:lstStyle/>
          <a:p>
            <a:pPr indent="0" marL="0">
              <a:buNone/>
            </a:pPr>
            <a:r>
              <a:rPr lang="en-US" sz="3200" b="1" dirty="0">
                <a:solidFill>
                  <a:srgbClr val="1F6F6B"/>
                </a:solidFill>
                <a:latin typeface="Georgia" pitchFamily="34" charset="0"/>
                <a:ea typeface="Georgia" pitchFamily="34" charset="-122"/>
                <a:cs typeface="Georgia" pitchFamily="34" charset="-120"/>
              </a:rPr>
              <a:t>$55B+</a:t>
            </a:r>
            <a:endParaRPr lang="en-US" sz="3200" dirty="0"/>
          </a:p>
        </p:txBody>
      </p:sp>
      <p:sp>
        <p:nvSpPr>
          <p:cNvPr id="38" name="Text 36"/>
          <p:cNvSpPr txBox="1"/>
          <p:nvPr/>
        </p:nvSpPr>
        <p:spPr>
          <a:xfrm>
            <a:off x="8092440" y="2267712"/>
            <a:ext cx="3383280" cy="54864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global BEC losses reported to the FBI, Oct 2013 – Dec 2023</a:t>
            </a:r>
            <a:endParaRPr lang="en-US" sz="1300" dirty="0"/>
          </a:p>
        </p:txBody>
      </p:sp>
      <p:sp>
        <p:nvSpPr>
          <p:cNvPr id="39" name="Shape 37"/>
          <p:cNvSpPr/>
          <p:nvPr/>
        </p:nvSpPr>
        <p:spPr>
          <a:xfrm>
            <a:off x="7863840" y="3108960"/>
            <a:ext cx="3776472" cy="1463040"/>
          </a:xfrm>
          <a:prstGeom prst="roundRect">
            <a:avLst>
              <a:gd name="adj" fmla="val 6250"/>
            </a:avLst>
          </a:prstGeom>
          <a:solidFill>
            <a:srgbClr val="FFFFFF"/>
          </a:solidFill>
          <a:ln w="9525">
            <a:solidFill>
              <a:srgbClr val="D8D2C4"/>
            </a:solidFill>
            <a:prstDash val="solid"/>
          </a:ln>
        </p:spPr>
      </p:sp>
      <p:sp>
        <p:nvSpPr>
          <p:cNvPr id="40" name="Text 38"/>
          <p:cNvSpPr txBox="1"/>
          <p:nvPr/>
        </p:nvSpPr>
        <p:spPr>
          <a:xfrm>
            <a:off x="8092440" y="3273552"/>
            <a:ext cx="3383280" cy="594360"/>
          </a:xfrm>
          <a:prstGeom prst="rect">
            <a:avLst/>
          </a:prstGeom>
          <a:noFill/>
          <a:ln/>
        </p:spPr>
        <p:txBody>
          <a:bodyPr wrap="square" lIns="0" tIns="0" rIns="0" bIns="0" rtlCol="0" anchor="t"/>
          <a:lstStyle/>
          <a:p>
            <a:pPr indent="0" marL="0">
              <a:buNone/>
            </a:pPr>
            <a:r>
              <a:rPr lang="en-US" sz="3200" b="1" dirty="0">
                <a:solidFill>
                  <a:srgbClr val="1F6F6B"/>
                </a:solidFill>
                <a:latin typeface="Georgia" pitchFamily="34" charset="0"/>
                <a:ea typeface="Georgia" pitchFamily="34" charset="-122"/>
                <a:cs typeface="Georgia" pitchFamily="34" charset="-120"/>
              </a:rPr>
              <a:t>~8×</a:t>
            </a:r>
            <a:endParaRPr lang="en-US" sz="3200" dirty="0"/>
          </a:p>
        </p:txBody>
      </p:sp>
      <p:sp>
        <p:nvSpPr>
          <p:cNvPr id="41" name="Text 39"/>
          <p:cNvSpPr txBox="1"/>
          <p:nvPr/>
        </p:nvSpPr>
        <p:spPr>
          <a:xfrm>
            <a:off x="8092440" y="3913632"/>
            <a:ext cx="3383280" cy="54864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growth in yearly US-reported BEC losses, 2016 → 2023</a:t>
            </a:r>
            <a:endParaRPr lang="en-US" sz="1300" dirty="0"/>
          </a:p>
        </p:txBody>
      </p:sp>
      <p:sp>
        <p:nvSpPr>
          <p:cNvPr id="42" name="Shape 40"/>
          <p:cNvSpPr/>
          <p:nvPr/>
        </p:nvSpPr>
        <p:spPr>
          <a:xfrm>
            <a:off x="7863840" y="4754880"/>
            <a:ext cx="3776472" cy="1463040"/>
          </a:xfrm>
          <a:prstGeom prst="roundRect">
            <a:avLst>
              <a:gd name="adj" fmla="val 6250"/>
            </a:avLst>
          </a:prstGeom>
          <a:solidFill>
            <a:srgbClr val="FFFFFF"/>
          </a:solidFill>
          <a:ln w="9525">
            <a:solidFill>
              <a:srgbClr val="D8D2C4"/>
            </a:solidFill>
            <a:prstDash val="solid"/>
          </a:ln>
        </p:spPr>
      </p:sp>
      <p:sp>
        <p:nvSpPr>
          <p:cNvPr id="43" name="Text 41"/>
          <p:cNvSpPr txBox="1"/>
          <p:nvPr/>
        </p:nvSpPr>
        <p:spPr>
          <a:xfrm>
            <a:off x="8092440" y="4919472"/>
            <a:ext cx="3383280" cy="594360"/>
          </a:xfrm>
          <a:prstGeom prst="rect">
            <a:avLst/>
          </a:prstGeom>
          <a:noFill/>
          <a:ln/>
        </p:spPr>
        <p:txBody>
          <a:bodyPr wrap="square" lIns="0" tIns="0" rIns="0" bIns="0" rtlCol="0" anchor="t"/>
          <a:lstStyle/>
          <a:p>
            <a:pPr indent="0" marL="0">
              <a:buNone/>
            </a:pPr>
            <a:r>
              <a:rPr lang="en-US" sz="3200" b="1" dirty="0">
                <a:solidFill>
                  <a:srgbClr val="1F6F6B"/>
                </a:solidFill>
                <a:latin typeface="Georgia" pitchFamily="34" charset="0"/>
                <a:ea typeface="Georgia" pitchFamily="34" charset="-122"/>
                <a:cs typeface="Georgia" pitchFamily="34" charset="-120"/>
              </a:rPr>
              <a:t>0</a:t>
            </a:r>
            <a:endParaRPr lang="en-US" sz="3200" dirty="0"/>
          </a:p>
        </p:txBody>
      </p:sp>
      <p:sp>
        <p:nvSpPr>
          <p:cNvPr id="44" name="Text 42"/>
          <p:cNvSpPr txBox="1"/>
          <p:nvPr/>
        </p:nvSpPr>
        <p:spPr>
          <a:xfrm>
            <a:off x="8092440" y="5559552"/>
            <a:ext cx="3383280" cy="54864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malicious links or malware needed: just a believable email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The case at a glance</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TARANG</a:t>
            </a:r>
            <a:endParaRPr lang="en-US" sz="1000" dirty="0"/>
          </a:p>
        </p:txBody>
      </p:sp>
      <p:sp>
        <p:nvSpPr>
          <p:cNvPr id="5" name="Shape 3"/>
          <p:cNvSpPr/>
          <p:nvPr/>
        </p:nvSpPr>
        <p:spPr>
          <a:xfrm>
            <a:off x="548640" y="1463040"/>
            <a:ext cx="2606040" cy="1737360"/>
          </a:xfrm>
          <a:prstGeom prst="roundRect">
            <a:avLst>
              <a:gd name="adj" fmla="val 5263"/>
            </a:avLst>
          </a:prstGeom>
          <a:solidFill>
            <a:srgbClr val="FFFFFF"/>
          </a:solidFill>
          <a:ln w="9525">
            <a:solidFill>
              <a:srgbClr val="D8D2C4"/>
            </a:solidFill>
            <a:prstDash val="solid"/>
          </a:ln>
        </p:spPr>
      </p:sp>
      <p:sp>
        <p:nvSpPr>
          <p:cNvPr id="6" name="Text 4"/>
          <p:cNvSpPr txBox="1"/>
          <p:nvPr/>
        </p:nvSpPr>
        <p:spPr>
          <a:xfrm>
            <a:off x="777240" y="1691640"/>
            <a:ext cx="2194560" cy="640080"/>
          </a:xfrm>
          <a:prstGeom prst="rect">
            <a:avLst/>
          </a:prstGeom>
          <a:noFill/>
          <a:ln/>
        </p:spPr>
        <p:txBody>
          <a:bodyPr wrap="square" lIns="0" tIns="0" rIns="0" bIns="0" rtlCol="0" anchor="ctr"/>
          <a:lstStyle/>
          <a:p>
            <a:pPr indent="0" marL="0">
              <a:buNone/>
            </a:pPr>
            <a:r>
              <a:rPr lang="en-US" sz="3200" b="1" dirty="0">
                <a:solidFill>
                  <a:srgbClr val="B5452F"/>
                </a:solidFill>
                <a:latin typeface="Georgia" pitchFamily="34" charset="0"/>
                <a:ea typeface="Georgia" pitchFamily="34" charset="-122"/>
                <a:cs typeface="Georgia" pitchFamily="34" charset="-120"/>
              </a:rPr>
              <a:t>~$121M</a:t>
            </a:r>
            <a:endParaRPr lang="en-US" sz="3200" dirty="0"/>
          </a:p>
        </p:txBody>
      </p:sp>
      <p:sp>
        <p:nvSpPr>
          <p:cNvPr id="7" name="Text 5"/>
          <p:cNvSpPr txBox="1"/>
          <p:nvPr/>
        </p:nvSpPr>
        <p:spPr>
          <a:xfrm>
            <a:off x="777240" y="2423160"/>
            <a:ext cx="2194560" cy="64008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wired by the two victims to the attacker</a:t>
            </a:r>
            <a:endParaRPr lang="en-US" sz="1400" dirty="0"/>
          </a:p>
        </p:txBody>
      </p:sp>
      <p:sp>
        <p:nvSpPr>
          <p:cNvPr id="8" name="Shape 6"/>
          <p:cNvSpPr/>
          <p:nvPr/>
        </p:nvSpPr>
        <p:spPr>
          <a:xfrm>
            <a:off x="3364992" y="1463040"/>
            <a:ext cx="2606040" cy="1737360"/>
          </a:xfrm>
          <a:prstGeom prst="roundRect">
            <a:avLst>
              <a:gd name="adj" fmla="val 5263"/>
            </a:avLst>
          </a:prstGeom>
          <a:solidFill>
            <a:srgbClr val="FFFFFF"/>
          </a:solidFill>
          <a:ln w="9525">
            <a:solidFill>
              <a:srgbClr val="D8D2C4"/>
            </a:solidFill>
            <a:prstDash val="solid"/>
          </a:ln>
        </p:spPr>
      </p:sp>
      <p:sp>
        <p:nvSpPr>
          <p:cNvPr id="9" name="Text 7"/>
          <p:cNvSpPr txBox="1"/>
          <p:nvPr/>
        </p:nvSpPr>
        <p:spPr>
          <a:xfrm>
            <a:off x="3593592" y="1691640"/>
            <a:ext cx="2194560" cy="640080"/>
          </a:xfrm>
          <a:prstGeom prst="rect">
            <a:avLst/>
          </a:prstGeom>
          <a:noFill/>
          <a:ln/>
        </p:spPr>
        <p:txBody>
          <a:bodyPr wrap="square" lIns="0" tIns="0" rIns="0" bIns="0" rtlCol="0" anchor="ctr"/>
          <a:lstStyle/>
          <a:p>
            <a:pPr indent="0" marL="0">
              <a:buNone/>
            </a:pPr>
            <a:r>
              <a:rPr lang="en-US" sz="2400" b="1" dirty="0">
                <a:solidFill>
                  <a:srgbClr val="1F6F6B"/>
                </a:solidFill>
                <a:latin typeface="Georgia" pitchFamily="34" charset="0"/>
                <a:ea typeface="Georgia" pitchFamily="34" charset="-122"/>
                <a:cs typeface="Georgia" pitchFamily="34" charset="-120"/>
              </a:rPr>
              <a:t>$98M + $23M</a:t>
            </a:r>
            <a:endParaRPr lang="en-US" sz="2400" dirty="0"/>
          </a:p>
        </p:txBody>
      </p:sp>
      <p:sp>
        <p:nvSpPr>
          <p:cNvPr id="10" name="Text 8"/>
          <p:cNvSpPr txBox="1"/>
          <p:nvPr/>
        </p:nvSpPr>
        <p:spPr>
          <a:xfrm>
            <a:off x="3593592" y="2423160"/>
            <a:ext cx="2194560" cy="64008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Facebook + Google (approx.)</a:t>
            </a:r>
            <a:endParaRPr lang="en-US" sz="1400" dirty="0"/>
          </a:p>
        </p:txBody>
      </p:sp>
      <p:sp>
        <p:nvSpPr>
          <p:cNvPr id="11" name="Shape 9"/>
          <p:cNvSpPr/>
          <p:nvPr/>
        </p:nvSpPr>
        <p:spPr>
          <a:xfrm>
            <a:off x="6181344" y="1463040"/>
            <a:ext cx="2606040" cy="1737360"/>
          </a:xfrm>
          <a:prstGeom prst="roundRect">
            <a:avLst>
              <a:gd name="adj" fmla="val 5263"/>
            </a:avLst>
          </a:prstGeom>
          <a:solidFill>
            <a:srgbClr val="FFFFFF"/>
          </a:solidFill>
          <a:ln w="9525">
            <a:solidFill>
              <a:srgbClr val="D8D2C4"/>
            </a:solidFill>
            <a:prstDash val="solid"/>
          </a:ln>
        </p:spPr>
      </p:sp>
      <p:sp>
        <p:nvSpPr>
          <p:cNvPr id="12" name="Text 10"/>
          <p:cNvSpPr txBox="1"/>
          <p:nvPr/>
        </p:nvSpPr>
        <p:spPr>
          <a:xfrm>
            <a:off x="6409944" y="1691640"/>
            <a:ext cx="2194560" cy="640080"/>
          </a:xfrm>
          <a:prstGeom prst="rect">
            <a:avLst/>
          </a:prstGeom>
          <a:noFill/>
          <a:ln/>
        </p:spPr>
        <p:txBody>
          <a:bodyPr wrap="square" lIns="0" tIns="0" rIns="0" bIns="0" rtlCol="0" anchor="ctr"/>
          <a:lstStyle/>
          <a:p>
            <a:pPr indent="0" marL="0">
              <a:buNone/>
            </a:pPr>
            <a:r>
              <a:rPr lang="en-US" sz="3200" b="1" dirty="0">
                <a:solidFill>
                  <a:srgbClr val="1F6F6B"/>
                </a:solidFill>
                <a:latin typeface="Georgia" pitchFamily="34" charset="0"/>
                <a:ea typeface="Georgia" pitchFamily="34" charset="-122"/>
                <a:cs typeface="Georgia" pitchFamily="34" charset="-120"/>
              </a:rPr>
              <a:t>2 years</a:t>
            </a:r>
            <a:endParaRPr lang="en-US" sz="3200" dirty="0"/>
          </a:p>
        </p:txBody>
      </p:sp>
      <p:sp>
        <p:nvSpPr>
          <p:cNvPr id="13" name="Text 11"/>
          <p:cNvSpPr txBox="1"/>
          <p:nvPr/>
        </p:nvSpPr>
        <p:spPr>
          <a:xfrm>
            <a:off x="6409944" y="2423160"/>
            <a:ext cx="2194560" cy="64008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the scheme ran, 2013 to 2015</a:t>
            </a:r>
            <a:endParaRPr lang="en-US" sz="1400" dirty="0"/>
          </a:p>
        </p:txBody>
      </p:sp>
      <p:sp>
        <p:nvSpPr>
          <p:cNvPr id="14" name="Shape 12"/>
          <p:cNvSpPr/>
          <p:nvPr/>
        </p:nvSpPr>
        <p:spPr>
          <a:xfrm>
            <a:off x="8997696" y="1463040"/>
            <a:ext cx="2606040" cy="1737360"/>
          </a:xfrm>
          <a:prstGeom prst="roundRect">
            <a:avLst>
              <a:gd name="adj" fmla="val 5263"/>
            </a:avLst>
          </a:prstGeom>
          <a:solidFill>
            <a:srgbClr val="FFFFFF"/>
          </a:solidFill>
          <a:ln w="9525">
            <a:solidFill>
              <a:srgbClr val="D8D2C4"/>
            </a:solidFill>
            <a:prstDash val="solid"/>
          </a:ln>
        </p:spPr>
      </p:sp>
      <p:sp>
        <p:nvSpPr>
          <p:cNvPr id="15" name="Text 13"/>
          <p:cNvSpPr txBox="1"/>
          <p:nvPr/>
        </p:nvSpPr>
        <p:spPr>
          <a:xfrm>
            <a:off x="9226296" y="1691640"/>
            <a:ext cx="2194560" cy="640080"/>
          </a:xfrm>
          <a:prstGeom prst="rect">
            <a:avLst/>
          </a:prstGeom>
          <a:noFill/>
          <a:ln/>
        </p:spPr>
        <p:txBody>
          <a:bodyPr wrap="square" lIns="0" tIns="0" rIns="0" bIns="0" rtlCol="0" anchor="ctr"/>
          <a:lstStyle/>
          <a:p>
            <a:pPr indent="0" marL="0">
              <a:buNone/>
            </a:pPr>
            <a:r>
              <a:rPr lang="en-US" sz="3200" b="1" dirty="0">
                <a:solidFill>
                  <a:srgbClr val="1F6F6B"/>
                </a:solidFill>
                <a:latin typeface="Georgia" pitchFamily="34" charset="0"/>
                <a:ea typeface="Georgia" pitchFamily="34" charset="-122"/>
                <a:cs typeface="Georgia" pitchFamily="34" charset="-120"/>
              </a:rPr>
              <a:t>5 years</a:t>
            </a:r>
            <a:endParaRPr lang="en-US" sz="3200" dirty="0"/>
          </a:p>
        </p:txBody>
      </p:sp>
      <p:sp>
        <p:nvSpPr>
          <p:cNvPr id="16" name="Text 14"/>
          <p:cNvSpPr txBox="1"/>
          <p:nvPr/>
        </p:nvSpPr>
        <p:spPr>
          <a:xfrm>
            <a:off x="9226296" y="2423160"/>
            <a:ext cx="2194560" cy="64008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prison, plus $49.7M forfeited</a:t>
            </a:r>
            <a:endParaRPr lang="en-US" sz="1400" dirty="0"/>
          </a:p>
        </p:txBody>
      </p:sp>
      <p:sp>
        <p:nvSpPr>
          <p:cNvPr id="17" name="Shape 15"/>
          <p:cNvSpPr/>
          <p:nvPr/>
        </p:nvSpPr>
        <p:spPr>
          <a:xfrm>
            <a:off x="548640" y="3657600"/>
            <a:ext cx="777240" cy="777240"/>
          </a:xfrm>
          <a:prstGeom prst="ellipse">
            <a:avLst/>
          </a:prstGeom>
          <a:solidFill>
            <a:srgbClr val="B5452F"/>
          </a:solidFill>
          <a:ln w="12700">
            <a:solidFill>
              <a:srgbClr val="B5452F"/>
            </a:solidFill>
            <a:prstDash val="solid"/>
          </a:ln>
        </p:spPr>
      </p:sp>
      <p:pic>
        <p:nvPicPr>
          <p:cNvPr id="18" name="Image 0" descr="preencoded.png">    </p:cNvPr>
          <p:cNvPicPr>
            <a:picLocks noChangeAspect="1"/>
          </p:cNvPicPr>
          <p:nvPr/>
        </p:nvPicPr>
        <p:blipFill>
          <a:blip r:embed="rId1"/>
          <a:stretch>
            <a:fillRect/>
          </a:stretch>
        </p:blipFill>
        <p:spPr>
          <a:xfrm>
            <a:off x="758495" y="3867455"/>
            <a:ext cx="357530" cy="357530"/>
          </a:xfrm>
          <a:prstGeom prst="rect">
            <a:avLst/>
          </a:prstGeom>
        </p:spPr>
      </p:pic>
      <p:sp>
        <p:nvSpPr>
          <p:cNvPr id="19" name="Text 16"/>
          <p:cNvSpPr txBox="1"/>
          <p:nvPr/>
        </p:nvSpPr>
        <p:spPr>
          <a:xfrm>
            <a:off x="1554480" y="3657600"/>
            <a:ext cx="4389120" cy="365760"/>
          </a:xfrm>
          <a:prstGeom prst="rect">
            <a:avLst/>
          </a:prstGeom>
          <a:noFill/>
          <a:ln/>
        </p:spPr>
        <p:txBody>
          <a:bodyPr wrap="square" lIns="0" tIns="0" rIns="0" bIns="0" rtlCol="0" anchor="t"/>
          <a:lstStyle/>
          <a:p>
            <a:pPr indent="0" marL="0">
              <a:buNone/>
            </a:pPr>
            <a:r>
              <a:rPr lang="en-US" sz="1700" b="1" dirty="0">
                <a:solidFill>
                  <a:srgbClr val="1B2A3A"/>
                </a:solidFill>
                <a:latin typeface="Arial" pitchFamily="34" charset="0"/>
                <a:ea typeface="Arial" pitchFamily="34" charset="-122"/>
                <a:cs typeface="Arial" pitchFamily="34" charset="-120"/>
              </a:rPr>
              <a:t>Attacker</a:t>
            </a:r>
            <a:endParaRPr lang="en-US" sz="1700" dirty="0"/>
          </a:p>
        </p:txBody>
      </p:sp>
      <p:sp>
        <p:nvSpPr>
          <p:cNvPr id="20" name="Text 17"/>
          <p:cNvSpPr txBox="1"/>
          <p:nvPr/>
        </p:nvSpPr>
        <p:spPr>
          <a:xfrm>
            <a:off x="1554480" y="4041648"/>
            <a:ext cx="438912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Evaldas Rimašauskas, a Lithuanian national, acting largely alone</a:t>
            </a:r>
            <a:endParaRPr lang="en-US" sz="1400" dirty="0"/>
          </a:p>
        </p:txBody>
      </p:sp>
      <p:sp>
        <p:nvSpPr>
          <p:cNvPr id="21" name="Shape 18"/>
          <p:cNvSpPr/>
          <p:nvPr/>
        </p:nvSpPr>
        <p:spPr>
          <a:xfrm>
            <a:off x="6217920" y="3657600"/>
            <a:ext cx="777240" cy="777240"/>
          </a:xfrm>
          <a:prstGeom prst="ellipse">
            <a:avLst/>
          </a:prstGeom>
          <a:solidFill>
            <a:srgbClr val="1F6F6B"/>
          </a:solidFill>
          <a:ln w="12700">
            <a:solidFill>
              <a:srgbClr val="1F6F6B"/>
            </a:solidFill>
            <a:prstDash val="solid"/>
          </a:ln>
        </p:spPr>
      </p:sp>
      <p:pic>
        <p:nvPicPr>
          <p:cNvPr id="22" name="Image 1" descr="preencoded.png">    </p:cNvPr>
          <p:cNvPicPr>
            <a:picLocks noChangeAspect="1"/>
          </p:cNvPicPr>
          <p:nvPr/>
        </p:nvPicPr>
        <p:blipFill>
          <a:blip r:embed="rId2"/>
          <a:stretch>
            <a:fillRect/>
          </a:stretch>
        </p:blipFill>
        <p:spPr>
          <a:xfrm>
            <a:off x="6427775" y="3867455"/>
            <a:ext cx="357530" cy="357530"/>
          </a:xfrm>
          <a:prstGeom prst="rect">
            <a:avLst/>
          </a:prstGeom>
        </p:spPr>
      </p:pic>
      <p:sp>
        <p:nvSpPr>
          <p:cNvPr id="23" name="Text 19"/>
          <p:cNvSpPr txBox="1"/>
          <p:nvPr/>
        </p:nvSpPr>
        <p:spPr>
          <a:xfrm>
            <a:off x="7223760" y="3657600"/>
            <a:ext cx="4389120" cy="365760"/>
          </a:xfrm>
          <a:prstGeom prst="rect">
            <a:avLst/>
          </a:prstGeom>
          <a:noFill/>
          <a:ln/>
        </p:spPr>
        <p:txBody>
          <a:bodyPr wrap="square" lIns="0" tIns="0" rIns="0" bIns="0" rtlCol="0" anchor="t"/>
          <a:lstStyle/>
          <a:p>
            <a:pPr indent="0" marL="0">
              <a:buNone/>
            </a:pPr>
            <a:r>
              <a:rPr lang="en-US" sz="1700" b="1" dirty="0">
                <a:solidFill>
                  <a:srgbClr val="1B2A3A"/>
                </a:solidFill>
                <a:latin typeface="Arial" pitchFamily="34" charset="0"/>
                <a:ea typeface="Arial" pitchFamily="34" charset="-122"/>
                <a:cs typeface="Arial" pitchFamily="34" charset="-120"/>
              </a:rPr>
              <a:t>Impersonated</a:t>
            </a:r>
            <a:endParaRPr lang="en-US" sz="1700" dirty="0"/>
          </a:p>
        </p:txBody>
      </p:sp>
      <p:sp>
        <p:nvSpPr>
          <p:cNvPr id="24" name="Text 20"/>
          <p:cNvSpPr txBox="1"/>
          <p:nvPr/>
        </p:nvSpPr>
        <p:spPr>
          <a:xfrm>
            <a:off x="7223760" y="4041648"/>
            <a:ext cx="438912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Quanta Computer, a Taiwanese hardware maker that supplied both firms</a:t>
            </a:r>
            <a:endParaRPr lang="en-US" sz="1400" dirty="0"/>
          </a:p>
        </p:txBody>
      </p:sp>
      <p:sp>
        <p:nvSpPr>
          <p:cNvPr id="25" name="Shape 21"/>
          <p:cNvSpPr/>
          <p:nvPr/>
        </p:nvSpPr>
        <p:spPr>
          <a:xfrm>
            <a:off x="548640" y="4983480"/>
            <a:ext cx="777240" cy="777240"/>
          </a:xfrm>
          <a:prstGeom prst="ellipse">
            <a:avLst/>
          </a:prstGeom>
          <a:solidFill>
            <a:srgbClr val="1F6F6B"/>
          </a:solidFill>
          <a:ln w="12700">
            <a:solidFill>
              <a:srgbClr val="1F6F6B"/>
            </a:solidFill>
            <a:prstDash val="solid"/>
          </a:ln>
        </p:spPr>
      </p:sp>
      <p:pic>
        <p:nvPicPr>
          <p:cNvPr id="26" name="Image 2" descr="preencoded.png">    </p:cNvPr>
          <p:cNvPicPr>
            <a:picLocks noChangeAspect="1"/>
          </p:cNvPicPr>
          <p:nvPr/>
        </p:nvPicPr>
        <p:blipFill>
          <a:blip r:embed="rId3"/>
          <a:stretch>
            <a:fillRect/>
          </a:stretch>
        </p:blipFill>
        <p:spPr>
          <a:xfrm>
            <a:off x="758495" y="5193335"/>
            <a:ext cx="357530" cy="357530"/>
          </a:xfrm>
          <a:prstGeom prst="rect">
            <a:avLst/>
          </a:prstGeom>
        </p:spPr>
      </p:pic>
      <p:sp>
        <p:nvSpPr>
          <p:cNvPr id="27" name="Text 22"/>
          <p:cNvSpPr txBox="1"/>
          <p:nvPr/>
        </p:nvSpPr>
        <p:spPr>
          <a:xfrm>
            <a:off x="1554480" y="4983480"/>
            <a:ext cx="4389120" cy="365760"/>
          </a:xfrm>
          <a:prstGeom prst="rect">
            <a:avLst/>
          </a:prstGeom>
          <a:noFill/>
          <a:ln/>
        </p:spPr>
        <p:txBody>
          <a:bodyPr wrap="square" lIns="0" tIns="0" rIns="0" bIns="0" rtlCol="0" anchor="t"/>
          <a:lstStyle/>
          <a:p>
            <a:pPr indent="0" marL="0">
              <a:buNone/>
            </a:pPr>
            <a:r>
              <a:rPr lang="en-US" sz="1700" b="1" dirty="0">
                <a:solidFill>
                  <a:srgbClr val="1B2A3A"/>
                </a:solidFill>
                <a:latin typeface="Arial" pitchFamily="34" charset="0"/>
                <a:ea typeface="Arial" pitchFamily="34" charset="-122"/>
                <a:cs typeface="Arial" pitchFamily="34" charset="-120"/>
              </a:rPr>
              <a:t>Victims</a:t>
            </a:r>
            <a:endParaRPr lang="en-US" sz="1700" dirty="0"/>
          </a:p>
        </p:txBody>
      </p:sp>
      <p:sp>
        <p:nvSpPr>
          <p:cNvPr id="28" name="Text 23"/>
          <p:cNvSpPr txBox="1"/>
          <p:nvPr/>
        </p:nvSpPr>
        <p:spPr>
          <a:xfrm>
            <a:off x="1554480" y="5367528"/>
            <a:ext cx="438912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Google and Facebook, named publicly by Fortune in April 2017</a:t>
            </a:r>
            <a:endParaRPr lang="en-US" sz="1400" dirty="0"/>
          </a:p>
        </p:txBody>
      </p:sp>
      <p:sp>
        <p:nvSpPr>
          <p:cNvPr id="29" name="Shape 24"/>
          <p:cNvSpPr/>
          <p:nvPr/>
        </p:nvSpPr>
        <p:spPr>
          <a:xfrm>
            <a:off x="6217920" y="4983480"/>
            <a:ext cx="777240" cy="777240"/>
          </a:xfrm>
          <a:prstGeom prst="ellipse">
            <a:avLst/>
          </a:prstGeom>
          <a:solidFill>
            <a:srgbClr val="1E4A6B"/>
          </a:solidFill>
          <a:ln w="12700">
            <a:solidFill>
              <a:srgbClr val="1E4A6B"/>
            </a:solidFill>
            <a:prstDash val="solid"/>
          </a:ln>
        </p:spPr>
      </p:sp>
      <p:pic>
        <p:nvPicPr>
          <p:cNvPr id="30" name="Image 3" descr="preencoded.png">    </p:cNvPr>
          <p:cNvPicPr>
            <a:picLocks noChangeAspect="1"/>
          </p:cNvPicPr>
          <p:nvPr/>
        </p:nvPicPr>
        <p:blipFill>
          <a:blip r:embed="rId4"/>
          <a:stretch>
            <a:fillRect/>
          </a:stretch>
        </p:blipFill>
        <p:spPr>
          <a:xfrm>
            <a:off x="6427775" y="5193335"/>
            <a:ext cx="357530" cy="357530"/>
          </a:xfrm>
          <a:prstGeom prst="rect">
            <a:avLst/>
          </a:prstGeom>
        </p:spPr>
      </p:pic>
      <p:sp>
        <p:nvSpPr>
          <p:cNvPr id="31" name="Text 25"/>
          <p:cNvSpPr txBox="1"/>
          <p:nvPr/>
        </p:nvSpPr>
        <p:spPr>
          <a:xfrm>
            <a:off x="7223760" y="4983480"/>
            <a:ext cx="4389120" cy="365760"/>
          </a:xfrm>
          <a:prstGeom prst="rect">
            <a:avLst/>
          </a:prstGeom>
          <a:noFill/>
          <a:ln/>
        </p:spPr>
        <p:txBody>
          <a:bodyPr wrap="square" lIns="0" tIns="0" rIns="0" bIns="0" rtlCol="0" anchor="t"/>
          <a:lstStyle/>
          <a:p>
            <a:pPr indent="0" marL="0">
              <a:buNone/>
            </a:pPr>
            <a:r>
              <a:rPr lang="en-US" sz="1700" b="1" dirty="0">
                <a:solidFill>
                  <a:srgbClr val="1B2A3A"/>
                </a:solidFill>
                <a:latin typeface="Arial" pitchFamily="34" charset="0"/>
                <a:ea typeface="Arial" pitchFamily="34" charset="-122"/>
                <a:cs typeface="Arial" pitchFamily="34" charset="-120"/>
              </a:rPr>
              <a:t>Prosecuted by</a:t>
            </a:r>
            <a:endParaRPr lang="en-US" sz="1700" dirty="0"/>
          </a:p>
        </p:txBody>
      </p:sp>
      <p:sp>
        <p:nvSpPr>
          <p:cNvPr id="32" name="Text 26"/>
          <p:cNvSpPr txBox="1"/>
          <p:nvPr/>
        </p:nvSpPr>
        <p:spPr>
          <a:xfrm>
            <a:off x="7223760" y="5367528"/>
            <a:ext cx="438912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U.S. Attorney's Office, Southern District of New York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Timeline of the fraud</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TARANG</a:t>
            </a:r>
            <a:endParaRPr lang="en-US" sz="1000" dirty="0"/>
          </a:p>
        </p:txBody>
      </p:sp>
      <p:sp>
        <p:nvSpPr>
          <p:cNvPr id="5" name="Shape 3"/>
          <p:cNvSpPr/>
          <p:nvPr/>
        </p:nvSpPr>
        <p:spPr>
          <a:xfrm>
            <a:off x="548640" y="1463040"/>
            <a:ext cx="4069080" cy="384048"/>
          </a:xfrm>
          <a:prstGeom prst="roundRect">
            <a:avLst>
              <a:gd name="adj" fmla="val 50000"/>
            </a:avLst>
          </a:prstGeom>
          <a:solidFill>
            <a:srgbClr val="E6EDE8"/>
          </a:solidFill>
          <a:ln w="12700">
            <a:solidFill>
              <a:srgbClr val="E6EDE8"/>
            </a:solidFill>
            <a:prstDash val="solid"/>
          </a:ln>
        </p:spPr>
      </p:sp>
      <p:sp>
        <p:nvSpPr>
          <p:cNvPr id="6" name="Text 4"/>
          <p:cNvSpPr txBox="1"/>
          <p:nvPr/>
        </p:nvSpPr>
        <p:spPr>
          <a:xfrm>
            <a:off x="548640" y="1463040"/>
            <a:ext cx="4069080" cy="384048"/>
          </a:xfrm>
          <a:prstGeom prst="rect">
            <a:avLst/>
          </a:prstGeom>
          <a:noFill/>
          <a:ln/>
        </p:spPr>
        <p:txBody>
          <a:bodyPr wrap="square" lIns="0" tIns="0" rIns="0" bIns="0" rtlCol="0" anchor="ctr"/>
          <a:lstStyle/>
          <a:p>
            <a:pPr algn="ctr" indent="0" marL="0">
              <a:buNone/>
            </a:pPr>
            <a:r>
              <a:rPr lang="en-US" sz="1100" b="1" spc="200" kern="0" dirty="0">
                <a:solidFill>
                  <a:srgbClr val="1F6F6B"/>
                </a:solidFill>
                <a:latin typeface="Arial" pitchFamily="34" charset="0"/>
                <a:ea typeface="Arial" pitchFamily="34" charset="-122"/>
                <a:cs typeface="Arial" pitchFamily="34" charset="-120"/>
              </a:rPr>
              <a:t>THE FRAUD  ·  2013–2015</a:t>
            </a:r>
            <a:endParaRPr lang="en-US" sz="1100" dirty="0"/>
          </a:p>
        </p:txBody>
      </p:sp>
      <p:sp>
        <p:nvSpPr>
          <p:cNvPr id="7" name="Shape 5"/>
          <p:cNvSpPr/>
          <p:nvPr/>
        </p:nvSpPr>
        <p:spPr>
          <a:xfrm>
            <a:off x="4754880" y="1463040"/>
            <a:ext cx="6885432" cy="384048"/>
          </a:xfrm>
          <a:prstGeom prst="roundRect">
            <a:avLst>
              <a:gd name="adj" fmla="val 50000"/>
            </a:avLst>
          </a:prstGeom>
          <a:solidFill>
            <a:srgbClr val="DCE4EC"/>
          </a:solidFill>
          <a:ln w="12700">
            <a:solidFill>
              <a:srgbClr val="DCE4EC"/>
            </a:solidFill>
            <a:prstDash val="solid"/>
          </a:ln>
        </p:spPr>
      </p:sp>
      <p:sp>
        <p:nvSpPr>
          <p:cNvPr id="8" name="Text 6"/>
          <p:cNvSpPr txBox="1"/>
          <p:nvPr/>
        </p:nvSpPr>
        <p:spPr>
          <a:xfrm>
            <a:off x="4754880" y="1463040"/>
            <a:ext cx="6885432" cy="384048"/>
          </a:xfrm>
          <a:prstGeom prst="rect">
            <a:avLst/>
          </a:prstGeom>
          <a:noFill/>
          <a:ln/>
        </p:spPr>
        <p:txBody>
          <a:bodyPr wrap="square" lIns="0" tIns="0" rIns="0" bIns="0" rtlCol="0" anchor="ctr"/>
          <a:lstStyle/>
          <a:p>
            <a:pPr algn="ctr" indent="0" marL="0">
              <a:buNone/>
            </a:pPr>
            <a:r>
              <a:rPr lang="en-US" sz="1100" b="1" spc="200" kern="0" dirty="0">
                <a:solidFill>
                  <a:srgbClr val="1E4A6B"/>
                </a:solidFill>
                <a:latin typeface="Arial" pitchFamily="34" charset="0"/>
                <a:ea typeface="Arial" pitchFamily="34" charset="-122"/>
                <a:cs typeface="Arial" pitchFamily="34" charset="-120"/>
              </a:rPr>
              <a:t>THE LEGAL CASE  ·  2017–2019</a:t>
            </a:r>
            <a:endParaRPr lang="en-US" sz="1100" dirty="0"/>
          </a:p>
        </p:txBody>
      </p:sp>
      <p:sp>
        <p:nvSpPr>
          <p:cNvPr id="9" name="Shape 7"/>
          <p:cNvSpPr/>
          <p:nvPr/>
        </p:nvSpPr>
        <p:spPr>
          <a:xfrm>
            <a:off x="548640" y="2788920"/>
            <a:ext cx="11091672" cy="0"/>
          </a:xfrm>
          <a:prstGeom prst="line">
            <a:avLst/>
          </a:prstGeom>
          <a:noFill/>
          <a:ln w="25400">
            <a:solidFill>
              <a:srgbClr val="8DB8A8"/>
            </a:solidFill>
            <a:prstDash val="solid"/>
          </a:ln>
        </p:spPr>
      </p:sp>
      <p:sp>
        <p:nvSpPr>
          <p:cNvPr id="10" name="Text 8"/>
          <p:cNvSpPr txBox="1"/>
          <p:nvPr/>
        </p:nvSpPr>
        <p:spPr>
          <a:xfrm>
            <a:off x="548640" y="2103120"/>
            <a:ext cx="1385316" cy="365760"/>
          </a:xfrm>
          <a:prstGeom prst="rect">
            <a:avLst/>
          </a:prstGeom>
          <a:noFill/>
          <a:ln/>
        </p:spPr>
        <p:txBody>
          <a:bodyPr wrap="square" lIns="0" tIns="0" rIns="0" bIns="0" rtlCol="0" anchor="t"/>
          <a:lstStyle/>
          <a:p>
            <a:pPr algn="ctr" indent="0" marL="0">
              <a:buNone/>
            </a:pPr>
            <a:r>
              <a:rPr lang="en-US" sz="1700" b="1" dirty="0">
                <a:solidFill>
                  <a:srgbClr val="1F6F6B"/>
                </a:solidFill>
                <a:latin typeface="Georgia" pitchFamily="34" charset="0"/>
                <a:ea typeface="Georgia" pitchFamily="34" charset="-122"/>
                <a:cs typeface="Georgia" pitchFamily="34" charset="-120"/>
              </a:rPr>
              <a:t>2013</a:t>
            </a:r>
            <a:endParaRPr lang="en-US" sz="1700" dirty="0"/>
          </a:p>
        </p:txBody>
      </p:sp>
      <p:sp>
        <p:nvSpPr>
          <p:cNvPr id="11" name="Shape 9"/>
          <p:cNvSpPr/>
          <p:nvPr/>
        </p:nvSpPr>
        <p:spPr>
          <a:xfrm>
            <a:off x="1113282" y="2660904"/>
            <a:ext cx="256032" cy="256032"/>
          </a:xfrm>
          <a:prstGeom prst="ellipse">
            <a:avLst/>
          </a:prstGeom>
          <a:solidFill>
            <a:srgbClr val="1F6F6B"/>
          </a:solidFill>
          <a:ln w="25400">
            <a:solidFill>
              <a:srgbClr val="F5EFE3"/>
            </a:solidFill>
            <a:prstDash val="solid"/>
          </a:ln>
        </p:spPr>
      </p:sp>
      <p:sp>
        <p:nvSpPr>
          <p:cNvPr id="12" name="Text 10"/>
          <p:cNvSpPr txBox="1"/>
          <p:nvPr/>
        </p:nvSpPr>
        <p:spPr>
          <a:xfrm>
            <a:off x="621792"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Fake “Quanta Computer” registered in Latvia; accounts opened in Latvia &amp; Cyprus</a:t>
            </a:r>
            <a:endParaRPr lang="en-US" sz="1300" dirty="0"/>
          </a:p>
        </p:txBody>
      </p:sp>
      <p:sp>
        <p:nvSpPr>
          <p:cNvPr id="13" name="Text 11"/>
          <p:cNvSpPr txBox="1"/>
          <p:nvPr/>
        </p:nvSpPr>
        <p:spPr>
          <a:xfrm>
            <a:off x="1933956" y="2103120"/>
            <a:ext cx="1385316" cy="365760"/>
          </a:xfrm>
          <a:prstGeom prst="rect">
            <a:avLst/>
          </a:prstGeom>
          <a:noFill/>
          <a:ln/>
        </p:spPr>
        <p:txBody>
          <a:bodyPr wrap="square" lIns="0" tIns="0" rIns="0" bIns="0" rtlCol="0" anchor="t"/>
          <a:lstStyle/>
          <a:p>
            <a:pPr algn="ctr" indent="0" marL="0">
              <a:buNone/>
            </a:pPr>
            <a:r>
              <a:rPr lang="en-US" sz="1700" b="1" dirty="0">
                <a:solidFill>
                  <a:srgbClr val="B5452F"/>
                </a:solidFill>
                <a:latin typeface="Georgia" pitchFamily="34" charset="0"/>
                <a:ea typeface="Georgia" pitchFamily="34" charset="-122"/>
                <a:cs typeface="Georgia" pitchFamily="34" charset="-120"/>
              </a:rPr>
              <a:t>2013–15</a:t>
            </a:r>
            <a:endParaRPr lang="en-US" sz="1700" dirty="0"/>
          </a:p>
        </p:txBody>
      </p:sp>
      <p:sp>
        <p:nvSpPr>
          <p:cNvPr id="14" name="Shape 12"/>
          <p:cNvSpPr/>
          <p:nvPr/>
        </p:nvSpPr>
        <p:spPr>
          <a:xfrm>
            <a:off x="2498598" y="2660904"/>
            <a:ext cx="256032" cy="256032"/>
          </a:xfrm>
          <a:prstGeom prst="ellipse">
            <a:avLst/>
          </a:prstGeom>
          <a:solidFill>
            <a:srgbClr val="B5452F"/>
          </a:solidFill>
          <a:ln w="25400">
            <a:solidFill>
              <a:srgbClr val="F5EFE3"/>
            </a:solidFill>
            <a:prstDash val="solid"/>
          </a:ln>
        </p:spPr>
      </p:sp>
      <p:sp>
        <p:nvSpPr>
          <p:cNvPr id="15" name="Text 13"/>
          <p:cNvSpPr txBox="1"/>
          <p:nvPr/>
        </p:nvSpPr>
        <p:spPr>
          <a:xfrm>
            <a:off x="2007108"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Phishing emails and fake invoices; victims wire ~$121M</a:t>
            </a:r>
            <a:endParaRPr lang="en-US" sz="1300" dirty="0"/>
          </a:p>
        </p:txBody>
      </p:sp>
      <p:sp>
        <p:nvSpPr>
          <p:cNvPr id="16" name="Text 14"/>
          <p:cNvSpPr txBox="1"/>
          <p:nvPr/>
        </p:nvSpPr>
        <p:spPr>
          <a:xfrm>
            <a:off x="3319272" y="2103120"/>
            <a:ext cx="1385316" cy="365760"/>
          </a:xfrm>
          <a:prstGeom prst="rect">
            <a:avLst/>
          </a:prstGeom>
          <a:noFill/>
          <a:ln/>
        </p:spPr>
        <p:txBody>
          <a:bodyPr wrap="square" lIns="0" tIns="0" rIns="0" bIns="0" rtlCol="0" anchor="t"/>
          <a:lstStyle/>
          <a:p>
            <a:pPr algn="ctr" indent="0" marL="0">
              <a:buNone/>
            </a:pPr>
            <a:r>
              <a:rPr lang="en-US" sz="1700" b="1" dirty="0">
                <a:solidFill>
                  <a:srgbClr val="1F6F6B"/>
                </a:solidFill>
                <a:latin typeface="Georgia" pitchFamily="34" charset="0"/>
                <a:ea typeface="Georgia" pitchFamily="34" charset="-122"/>
                <a:cs typeface="Georgia" pitchFamily="34" charset="-120"/>
              </a:rPr>
              <a:t>2015</a:t>
            </a:r>
            <a:endParaRPr lang="en-US" sz="1700" dirty="0"/>
          </a:p>
        </p:txBody>
      </p:sp>
      <p:sp>
        <p:nvSpPr>
          <p:cNvPr id="17" name="Shape 15"/>
          <p:cNvSpPr/>
          <p:nvPr/>
        </p:nvSpPr>
        <p:spPr>
          <a:xfrm>
            <a:off x="3883914" y="2660904"/>
            <a:ext cx="256032" cy="256032"/>
          </a:xfrm>
          <a:prstGeom prst="ellipse">
            <a:avLst/>
          </a:prstGeom>
          <a:solidFill>
            <a:srgbClr val="1F6F6B"/>
          </a:solidFill>
          <a:ln w="25400">
            <a:solidFill>
              <a:srgbClr val="F5EFE3"/>
            </a:solidFill>
            <a:prstDash val="solid"/>
          </a:ln>
        </p:spPr>
      </p:sp>
      <p:sp>
        <p:nvSpPr>
          <p:cNvPr id="18" name="Text 16"/>
          <p:cNvSpPr txBox="1"/>
          <p:nvPr/>
        </p:nvSpPr>
        <p:spPr>
          <a:xfrm>
            <a:off x="3392424"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Scheme stops; firms detect the fraud and start recovery</a:t>
            </a:r>
            <a:endParaRPr lang="en-US" sz="1300" dirty="0"/>
          </a:p>
        </p:txBody>
      </p:sp>
      <p:sp>
        <p:nvSpPr>
          <p:cNvPr id="19" name="Text 17"/>
          <p:cNvSpPr txBox="1"/>
          <p:nvPr/>
        </p:nvSpPr>
        <p:spPr>
          <a:xfrm>
            <a:off x="4704588" y="2103120"/>
            <a:ext cx="1385316" cy="365760"/>
          </a:xfrm>
          <a:prstGeom prst="rect">
            <a:avLst/>
          </a:prstGeom>
          <a:noFill/>
          <a:ln/>
        </p:spPr>
        <p:txBody>
          <a:bodyPr wrap="square" lIns="0" tIns="0" rIns="0" bIns="0" rtlCol="0" anchor="t"/>
          <a:lstStyle/>
          <a:p>
            <a:pPr algn="ctr" indent="0" marL="0">
              <a:buNone/>
            </a:pPr>
            <a:r>
              <a:rPr lang="en-US" sz="1700" b="1" dirty="0">
                <a:solidFill>
                  <a:srgbClr val="1E4A6B"/>
                </a:solidFill>
                <a:latin typeface="Georgia" pitchFamily="34" charset="0"/>
                <a:ea typeface="Georgia" pitchFamily="34" charset="-122"/>
                <a:cs typeface="Georgia" pitchFamily="34" charset="-120"/>
              </a:rPr>
              <a:t>Mar 2017</a:t>
            </a:r>
            <a:endParaRPr lang="en-US" sz="1700" dirty="0"/>
          </a:p>
        </p:txBody>
      </p:sp>
      <p:sp>
        <p:nvSpPr>
          <p:cNvPr id="20" name="Shape 18"/>
          <p:cNvSpPr/>
          <p:nvPr/>
        </p:nvSpPr>
        <p:spPr>
          <a:xfrm>
            <a:off x="5269230" y="2660904"/>
            <a:ext cx="256032" cy="256032"/>
          </a:xfrm>
          <a:prstGeom prst="ellipse">
            <a:avLst/>
          </a:prstGeom>
          <a:solidFill>
            <a:srgbClr val="1E4A6B"/>
          </a:solidFill>
          <a:ln w="25400">
            <a:solidFill>
              <a:srgbClr val="F5EFE3"/>
            </a:solidFill>
            <a:prstDash val="solid"/>
          </a:ln>
        </p:spPr>
      </p:sp>
      <p:sp>
        <p:nvSpPr>
          <p:cNvPr id="21" name="Text 19"/>
          <p:cNvSpPr txBox="1"/>
          <p:nvPr/>
        </p:nvSpPr>
        <p:spPr>
          <a:xfrm>
            <a:off x="4777740"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Arrested in Lithuania; U.S. DOJ unseals charges</a:t>
            </a:r>
            <a:endParaRPr lang="en-US" sz="1300" dirty="0"/>
          </a:p>
        </p:txBody>
      </p:sp>
      <p:sp>
        <p:nvSpPr>
          <p:cNvPr id="22" name="Text 20"/>
          <p:cNvSpPr txBox="1"/>
          <p:nvPr/>
        </p:nvSpPr>
        <p:spPr>
          <a:xfrm>
            <a:off x="6089904" y="2103120"/>
            <a:ext cx="1385316" cy="365760"/>
          </a:xfrm>
          <a:prstGeom prst="rect">
            <a:avLst/>
          </a:prstGeom>
          <a:noFill/>
          <a:ln/>
        </p:spPr>
        <p:txBody>
          <a:bodyPr wrap="square" lIns="0" tIns="0" rIns="0" bIns="0" rtlCol="0" anchor="t"/>
          <a:lstStyle/>
          <a:p>
            <a:pPr algn="ctr" indent="0" marL="0">
              <a:buNone/>
            </a:pPr>
            <a:r>
              <a:rPr lang="en-US" sz="1700" b="1" dirty="0">
                <a:solidFill>
                  <a:srgbClr val="1E4A6B"/>
                </a:solidFill>
                <a:latin typeface="Georgia" pitchFamily="34" charset="0"/>
                <a:ea typeface="Georgia" pitchFamily="34" charset="-122"/>
                <a:cs typeface="Georgia" pitchFamily="34" charset="-120"/>
              </a:rPr>
              <a:t>Apr 2017</a:t>
            </a:r>
            <a:endParaRPr lang="en-US" sz="1700" dirty="0"/>
          </a:p>
        </p:txBody>
      </p:sp>
      <p:sp>
        <p:nvSpPr>
          <p:cNvPr id="23" name="Shape 21"/>
          <p:cNvSpPr/>
          <p:nvPr/>
        </p:nvSpPr>
        <p:spPr>
          <a:xfrm>
            <a:off x="6654546" y="2660904"/>
            <a:ext cx="256032" cy="256032"/>
          </a:xfrm>
          <a:prstGeom prst="ellipse">
            <a:avLst/>
          </a:prstGeom>
          <a:solidFill>
            <a:srgbClr val="1E4A6B"/>
          </a:solidFill>
          <a:ln w="25400">
            <a:solidFill>
              <a:srgbClr val="F5EFE3"/>
            </a:solidFill>
            <a:prstDash val="solid"/>
          </a:ln>
        </p:spPr>
      </p:sp>
      <p:sp>
        <p:nvSpPr>
          <p:cNvPr id="24" name="Text 22"/>
          <p:cNvSpPr txBox="1"/>
          <p:nvPr/>
        </p:nvSpPr>
        <p:spPr>
          <a:xfrm>
            <a:off x="6163056"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Fortune reveals the victims: Google and Facebook</a:t>
            </a:r>
            <a:endParaRPr lang="en-US" sz="1300" dirty="0"/>
          </a:p>
        </p:txBody>
      </p:sp>
      <p:sp>
        <p:nvSpPr>
          <p:cNvPr id="25" name="Text 23"/>
          <p:cNvSpPr txBox="1"/>
          <p:nvPr/>
        </p:nvSpPr>
        <p:spPr>
          <a:xfrm>
            <a:off x="7475220" y="2103120"/>
            <a:ext cx="1385316" cy="365760"/>
          </a:xfrm>
          <a:prstGeom prst="rect">
            <a:avLst/>
          </a:prstGeom>
          <a:noFill/>
          <a:ln/>
        </p:spPr>
        <p:txBody>
          <a:bodyPr wrap="square" lIns="0" tIns="0" rIns="0" bIns="0" rtlCol="0" anchor="t"/>
          <a:lstStyle/>
          <a:p>
            <a:pPr algn="ctr" indent="0" marL="0">
              <a:buNone/>
            </a:pPr>
            <a:r>
              <a:rPr lang="en-US" sz="1700" b="1" dirty="0">
                <a:solidFill>
                  <a:srgbClr val="1E4A6B"/>
                </a:solidFill>
                <a:latin typeface="Georgia" pitchFamily="34" charset="0"/>
                <a:ea typeface="Georgia" pitchFamily="34" charset="-122"/>
                <a:cs typeface="Georgia" pitchFamily="34" charset="-120"/>
              </a:rPr>
              <a:t>Aug 2017</a:t>
            </a:r>
            <a:endParaRPr lang="en-US" sz="1700" dirty="0"/>
          </a:p>
        </p:txBody>
      </p:sp>
      <p:sp>
        <p:nvSpPr>
          <p:cNvPr id="26" name="Shape 24"/>
          <p:cNvSpPr/>
          <p:nvPr/>
        </p:nvSpPr>
        <p:spPr>
          <a:xfrm>
            <a:off x="8039862" y="2660904"/>
            <a:ext cx="256032" cy="256032"/>
          </a:xfrm>
          <a:prstGeom prst="ellipse">
            <a:avLst/>
          </a:prstGeom>
          <a:solidFill>
            <a:srgbClr val="1E4A6B"/>
          </a:solidFill>
          <a:ln w="25400">
            <a:solidFill>
              <a:srgbClr val="F5EFE3"/>
            </a:solidFill>
            <a:prstDash val="solid"/>
          </a:ln>
        </p:spPr>
      </p:sp>
      <p:sp>
        <p:nvSpPr>
          <p:cNvPr id="27" name="Text 25"/>
          <p:cNvSpPr txBox="1"/>
          <p:nvPr/>
        </p:nvSpPr>
        <p:spPr>
          <a:xfrm>
            <a:off x="7548372"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Extradited to the United States</a:t>
            </a:r>
            <a:endParaRPr lang="en-US" sz="1300" dirty="0"/>
          </a:p>
        </p:txBody>
      </p:sp>
      <p:sp>
        <p:nvSpPr>
          <p:cNvPr id="28" name="Text 26"/>
          <p:cNvSpPr txBox="1"/>
          <p:nvPr/>
        </p:nvSpPr>
        <p:spPr>
          <a:xfrm>
            <a:off x="8860536" y="2103120"/>
            <a:ext cx="1385316" cy="365760"/>
          </a:xfrm>
          <a:prstGeom prst="rect">
            <a:avLst/>
          </a:prstGeom>
          <a:noFill/>
          <a:ln/>
        </p:spPr>
        <p:txBody>
          <a:bodyPr wrap="square" lIns="0" tIns="0" rIns="0" bIns="0" rtlCol="0" anchor="t"/>
          <a:lstStyle/>
          <a:p>
            <a:pPr algn="ctr" indent="0" marL="0">
              <a:buNone/>
            </a:pPr>
            <a:r>
              <a:rPr lang="en-US" sz="1700" b="1" dirty="0">
                <a:solidFill>
                  <a:srgbClr val="1E4A6B"/>
                </a:solidFill>
                <a:latin typeface="Georgia" pitchFamily="34" charset="0"/>
                <a:ea typeface="Georgia" pitchFamily="34" charset="-122"/>
                <a:cs typeface="Georgia" pitchFamily="34" charset="-120"/>
              </a:rPr>
              <a:t>Mar 2019</a:t>
            </a:r>
            <a:endParaRPr lang="en-US" sz="1700" dirty="0"/>
          </a:p>
        </p:txBody>
      </p:sp>
      <p:sp>
        <p:nvSpPr>
          <p:cNvPr id="29" name="Shape 27"/>
          <p:cNvSpPr/>
          <p:nvPr/>
        </p:nvSpPr>
        <p:spPr>
          <a:xfrm>
            <a:off x="9425178" y="2660904"/>
            <a:ext cx="256032" cy="256032"/>
          </a:xfrm>
          <a:prstGeom prst="ellipse">
            <a:avLst/>
          </a:prstGeom>
          <a:solidFill>
            <a:srgbClr val="1E4A6B"/>
          </a:solidFill>
          <a:ln w="25400">
            <a:solidFill>
              <a:srgbClr val="F5EFE3"/>
            </a:solidFill>
            <a:prstDash val="solid"/>
          </a:ln>
        </p:spPr>
      </p:sp>
      <p:sp>
        <p:nvSpPr>
          <p:cNvPr id="30" name="Text 28"/>
          <p:cNvSpPr txBox="1"/>
          <p:nvPr/>
        </p:nvSpPr>
        <p:spPr>
          <a:xfrm>
            <a:off x="8933688"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Pleads guilty to wire fraud</a:t>
            </a:r>
            <a:endParaRPr lang="en-US" sz="1300" dirty="0"/>
          </a:p>
        </p:txBody>
      </p:sp>
      <p:sp>
        <p:nvSpPr>
          <p:cNvPr id="31" name="Text 29"/>
          <p:cNvSpPr txBox="1"/>
          <p:nvPr/>
        </p:nvSpPr>
        <p:spPr>
          <a:xfrm>
            <a:off x="10245852" y="2103120"/>
            <a:ext cx="1385316" cy="365760"/>
          </a:xfrm>
          <a:prstGeom prst="rect">
            <a:avLst/>
          </a:prstGeom>
          <a:noFill/>
          <a:ln/>
        </p:spPr>
        <p:txBody>
          <a:bodyPr wrap="square" lIns="0" tIns="0" rIns="0" bIns="0" rtlCol="0" anchor="t"/>
          <a:lstStyle/>
          <a:p>
            <a:pPr algn="ctr" indent="0" marL="0">
              <a:buNone/>
            </a:pPr>
            <a:r>
              <a:rPr lang="en-US" sz="1700" b="1" dirty="0">
                <a:solidFill>
                  <a:srgbClr val="1E4A6B"/>
                </a:solidFill>
                <a:latin typeface="Georgia" pitchFamily="34" charset="0"/>
                <a:ea typeface="Georgia" pitchFamily="34" charset="-122"/>
                <a:cs typeface="Georgia" pitchFamily="34" charset="-120"/>
              </a:rPr>
              <a:t>Dec 2019</a:t>
            </a:r>
            <a:endParaRPr lang="en-US" sz="1700" dirty="0"/>
          </a:p>
        </p:txBody>
      </p:sp>
      <p:sp>
        <p:nvSpPr>
          <p:cNvPr id="32" name="Shape 30"/>
          <p:cNvSpPr/>
          <p:nvPr/>
        </p:nvSpPr>
        <p:spPr>
          <a:xfrm>
            <a:off x="10810494" y="2660904"/>
            <a:ext cx="256032" cy="256032"/>
          </a:xfrm>
          <a:prstGeom prst="ellipse">
            <a:avLst/>
          </a:prstGeom>
          <a:solidFill>
            <a:srgbClr val="1E4A6B"/>
          </a:solidFill>
          <a:ln w="25400">
            <a:solidFill>
              <a:srgbClr val="F5EFE3"/>
            </a:solidFill>
            <a:prstDash val="solid"/>
          </a:ln>
        </p:spPr>
      </p:sp>
      <p:sp>
        <p:nvSpPr>
          <p:cNvPr id="33" name="Text 31"/>
          <p:cNvSpPr txBox="1"/>
          <p:nvPr/>
        </p:nvSpPr>
        <p:spPr>
          <a:xfrm>
            <a:off x="10319004" y="3154680"/>
            <a:ext cx="1239012" cy="2194560"/>
          </a:xfrm>
          <a:prstGeom prst="rect">
            <a:avLst/>
          </a:prstGeom>
          <a:noFill/>
          <a:ln/>
        </p:spPr>
        <p:txBody>
          <a:bodyPr wrap="square" lIns="0" tIns="0" rIns="0" bIns="0" rtlCol="0" anchor="t"/>
          <a:lstStyle/>
          <a:p>
            <a:pPr algn="ctr" indent="0" marL="0">
              <a:buNone/>
            </a:pPr>
            <a:r>
              <a:rPr lang="en-US" sz="1300" dirty="0">
                <a:solidFill>
                  <a:srgbClr val="1B2A3A"/>
                </a:solidFill>
                <a:latin typeface="Arial" pitchFamily="34" charset="0"/>
                <a:ea typeface="Arial" pitchFamily="34" charset="-122"/>
                <a:cs typeface="Arial" pitchFamily="34" charset="-120"/>
              </a:rPr>
              <a:t>Sentenced to 5 years in prison</a:t>
            </a:r>
            <a:endParaRPr lang="en-US" sz="1300" dirty="0"/>
          </a:p>
        </p:txBody>
      </p:sp>
      <p:sp>
        <p:nvSpPr>
          <p:cNvPr id="34" name="Shape 32"/>
          <p:cNvSpPr/>
          <p:nvPr/>
        </p:nvSpPr>
        <p:spPr>
          <a:xfrm>
            <a:off x="548640" y="5440680"/>
            <a:ext cx="11091672" cy="777240"/>
          </a:xfrm>
          <a:prstGeom prst="roundRect">
            <a:avLst>
              <a:gd name="adj" fmla="val 11765"/>
            </a:avLst>
          </a:prstGeom>
          <a:solidFill>
            <a:srgbClr val="E6EDE8"/>
          </a:solidFill>
          <a:ln w="12700">
            <a:solidFill>
              <a:srgbClr val="E6EDE8"/>
            </a:solidFill>
            <a:prstDash val="solid"/>
          </a:ln>
        </p:spPr>
      </p:sp>
      <p:sp>
        <p:nvSpPr>
          <p:cNvPr id="35" name="Text 33"/>
          <p:cNvSpPr txBox="1"/>
          <p:nvPr/>
        </p:nvSpPr>
        <p:spPr>
          <a:xfrm>
            <a:off x="822960" y="5440680"/>
            <a:ext cx="10607040" cy="777240"/>
          </a:xfrm>
          <a:prstGeom prst="rect">
            <a:avLst/>
          </a:prstGeom>
          <a:noFill/>
          <a:ln/>
        </p:spPr>
        <p:txBody>
          <a:bodyPr wrap="square" lIns="0" tIns="0" rIns="0" bIns="0" rtlCol="0" anchor="ctr"/>
          <a:lstStyle/>
          <a:p>
            <a:pPr indent="0" marL="0">
              <a:buNone/>
            </a:pPr>
            <a:r>
              <a:rPr lang="en-US" sz="1500" i="1" dirty="0">
                <a:solidFill>
                  <a:srgbClr val="1F6F6B"/>
                </a:solidFill>
                <a:latin typeface="Arial" pitchFamily="34" charset="0"/>
                <a:ea typeface="Arial" pitchFamily="34" charset="-122"/>
                <a:cs typeface="Arial" pitchFamily="34" charset="-120"/>
              </a:rPr>
              <a:t>Two years of undetected payments, followed by two and a half years of investigation, extradition and prosecution.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How the attack worked, in five steps</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VIVAAN</a:t>
            </a:r>
            <a:endParaRPr lang="en-US" sz="1000" dirty="0"/>
          </a:p>
        </p:txBody>
      </p:sp>
      <p:sp>
        <p:nvSpPr>
          <p:cNvPr id="5" name="Shape 3"/>
          <p:cNvSpPr/>
          <p:nvPr/>
        </p:nvSpPr>
        <p:spPr>
          <a:xfrm>
            <a:off x="548640" y="1463040"/>
            <a:ext cx="2039112" cy="4114800"/>
          </a:xfrm>
          <a:prstGeom prst="roundRect">
            <a:avLst>
              <a:gd name="adj" fmla="val 4484"/>
            </a:avLst>
          </a:prstGeom>
          <a:solidFill>
            <a:srgbClr val="FFFFFF"/>
          </a:solidFill>
          <a:ln w="9525">
            <a:solidFill>
              <a:srgbClr val="D8D2C4"/>
            </a:solidFill>
            <a:prstDash val="solid"/>
          </a:ln>
        </p:spPr>
      </p:sp>
      <p:sp>
        <p:nvSpPr>
          <p:cNvPr id="6" name="Shape 4"/>
          <p:cNvSpPr/>
          <p:nvPr/>
        </p:nvSpPr>
        <p:spPr>
          <a:xfrm>
            <a:off x="1161288" y="1737360"/>
            <a:ext cx="822960" cy="822960"/>
          </a:xfrm>
          <a:prstGeom prst="ellipse">
            <a:avLst/>
          </a:prstGeom>
          <a:solidFill>
            <a:srgbClr val="1F6F6B"/>
          </a:solidFill>
          <a:ln w="12700">
            <a:solidFill>
              <a:srgbClr val="1F6F6B"/>
            </a:solidFill>
            <a:prstDash val="solid"/>
          </a:ln>
        </p:spPr>
      </p:sp>
      <p:pic>
        <p:nvPicPr>
          <p:cNvPr id="7" name="Image 0" descr="preencoded.png">    </p:cNvPr>
          <p:cNvPicPr>
            <a:picLocks noChangeAspect="1"/>
          </p:cNvPicPr>
          <p:nvPr/>
        </p:nvPicPr>
        <p:blipFill>
          <a:blip r:embed="rId1"/>
          <a:stretch>
            <a:fillRect/>
          </a:stretch>
        </p:blipFill>
        <p:spPr>
          <a:xfrm>
            <a:off x="1383487" y="1959559"/>
            <a:ext cx="378562" cy="378562"/>
          </a:xfrm>
          <a:prstGeom prst="rect">
            <a:avLst/>
          </a:prstGeom>
        </p:spPr>
      </p:pic>
      <p:sp>
        <p:nvSpPr>
          <p:cNvPr id="8" name="Text 5"/>
          <p:cNvSpPr txBox="1"/>
          <p:nvPr/>
        </p:nvSpPr>
        <p:spPr>
          <a:xfrm>
            <a:off x="548640" y="2697480"/>
            <a:ext cx="2039112" cy="320040"/>
          </a:xfrm>
          <a:prstGeom prst="rect">
            <a:avLst/>
          </a:prstGeom>
          <a:noFill/>
          <a:ln/>
        </p:spPr>
        <p:txBody>
          <a:bodyPr wrap="square" lIns="0" tIns="0" rIns="0" bIns="0" rtlCol="0" anchor="t"/>
          <a:lstStyle/>
          <a:p>
            <a:pPr algn="ctr" indent="0" marL="0">
              <a:buNone/>
            </a:pPr>
            <a:r>
              <a:rPr lang="en-US" sz="1400" b="1" dirty="0">
                <a:solidFill>
                  <a:srgbClr val="8DB8A8"/>
                </a:solidFill>
                <a:latin typeface="Arial" pitchFamily="34" charset="0"/>
                <a:ea typeface="Arial" pitchFamily="34" charset="-122"/>
                <a:cs typeface="Arial" pitchFamily="34" charset="-120"/>
              </a:rPr>
              <a:t>01</a:t>
            </a:r>
            <a:endParaRPr lang="en-US" sz="1400" dirty="0"/>
          </a:p>
        </p:txBody>
      </p:sp>
      <p:sp>
        <p:nvSpPr>
          <p:cNvPr id="9" name="Text 6"/>
          <p:cNvSpPr txBox="1"/>
          <p:nvPr/>
        </p:nvSpPr>
        <p:spPr>
          <a:xfrm>
            <a:off x="548640" y="301752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Reconnaissance</a:t>
            </a:r>
            <a:endParaRPr lang="en-US" sz="1700" dirty="0"/>
          </a:p>
        </p:txBody>
      </p:sp>
      <p:sp>
        <p:nvSpPr>
          <p:cNvPr id="10" name="Text 7"/>
          <p:cNvSpPr txBox="1"/>
          <p:nvPr/>
        </p:nvSpPr>
        <p:spPr>
          <a:xfrm>
            <a:off x="731520" y="3520440"/>
            <a:ext cx="1673352" cy="192024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Found that Quanta was a real, high-volume supplier to both firms</a:t>
            </a:r>
            <a:endParaRPr lang="en-US" sz="1300" dirty="0"/>
          </a:p>
        </p:txBody>
      </p:sp>
      <p:sp>
        <p:nvSpPr>
          <p:cNvPr id="11" name="Shape 8"/>
          <p:cNvSpPr/>
          <p:nvPr/>
        </p:nvSpPr>
        <p:spPr>
          <a:xfrm>
            <a:off x="2834640" y="1463040"/>
            <a:ext cx="2039112" cy="4114800"/>
          </a:xfrm>
          <a:prstGeom prst="roundRect">
            <a:avLst>
              <a:gd name="adj" fmla="val 4484"/>
            </a:avLst>
          </a:prstGeom>
          <a:solidFill>
            <a:srgbClr val="FFFFFF"/>
          </a:solidFill>
          <a:ln w="9525">
            <a:solidFill>
              <a:srgbClr val="D8D2C4"/>
            </a:solidFill>
            <a:prstDash val="solid"/>
          </a:ln>
        </p:spPr>
      </p:sp>
      <p:sp>
        <p:nvSpPr>
          <p:cNvPr id="12" name="Shape 9"/>
          <p:cNvSpPr/>
          <p:nvPr/>
        </p:nvSpPr>
        <p:spPr>
          <a:xfrm>
            <a:off x="3447288" y="1737360"/>
            <a:ext cx="822960" cy="822960"/>
          </a:xfrm>
          <a:prstGeom prst="ellipse">
            <a:avLst/>
          </a:prstGeom>
          <a:solidFill>
            <a:srgbClr val="1F6F6B"/>
          </a:solidFill>
          <a:ln w="12700">
            <a:solidFill>
              <a:srgbClr val="1F6F6B"/>
            </a:solidFill>
            <a:prstDash val="solid"/>
          </a:ln>
        </p:spPr>
      </p:sp>
      <p:pic>
        <p:nvPicPr>
          <p:cNvPr id="13" name="Image 1" descr="preencoded.png">    </p:cNvPr>
          <p:cNvPicPr>
            <a:picLocks noChangeAspect="1"/>
          </p:cNvPicPr>
          <p:nvPr/>
        </p:nvPicPr>
        <p:blipFill>
          <a:blip r:embed="rId2"/>
          <a:stretch>
            <a:fillRect/>
          </a:stretch>
        </p:blipFill>
        <p:spPr>
          <a:xfrm>
            <a:off x="3669487" y="1959559"/>
            <a:ext cx="378562" cy="378562"/>
          </a:xfrm>
          <a:prstGeom prst="rect">
            <a:avLst/>
          </a:prstGeom>
        </p:spPr>
      </p:pic>
      <p:sp>
        <p:nvSpPr>
          <p:cNvPr id="14" name="Text 10"/>
          <p:cNvSpPr txBox="1"/>
          <p:nvPr/>
        </p:nvSpPr>
        <p:spPr>
          <a:xfrm>
            <a:off x="2834640" y="2697480"/>
            <a:ext cx="2039112" cy="320040"/>
          </a:xfrm>
          <a:prstGeom prst="rect">
            <a:avLst/>
          </a:prstGeom>
          <a:noFill/>
          <a:ln/>
        </p:spPr>
        <p:txBody>
          <a:bodyPr wrap="square" lIns="0" tIns="0" rIns="0" bIns="0" rtlCol="0" anchor="t"/>
          <a:lstStyle/>
          <a:p>
            <a:pPr algn="ctr" indent="0" marL="0">
              <a:buNone/>
            </a:pPr>
            <a:r>
              <a:rPr lang="en-US" sz="1400" b="1" dirty="0">
                <a:solidFill>
                  <a:srgbClr val="8DB8A8"/>
                </a:solidFill>
                <a:latin typeface="Arial" pitchFamily="34" charset="0"/>
                <a:ea typeface="Arial" pitchFamily="34" charset="-122"/>
                <a:cs typeface="Arial" pitchFamily="34" charset="-120"/>
              </a:rPr>
              <a:t>02</a:t>
            </a:r>
            <a:endParaRPr lang="en-US" sz="1400" dirty="0"/>
          </a:p>
        </p:txBody>
      </p:sp>
      <p:sp>
        <p:nvSpPr>
          <p:cNvPr id="15" name="Text 11"/>
          <p:cNvSpPr txBox="1"/>
          <p:nvPr/>
        </p:nvSpPr>
        <p:spPr>
          <a:xfrm>
            <a:off x="2834640" y="301752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Impersonation</a:t>
            </a:r>
            <a:endParaRPr lang="en-US" sz="1700" dirty="0"/>
          </a:p>
        </p:txBody>
      </p:sp>
      <p:sp>
        <p:nvSpPr>
          <p:cNvPr id="16" name="Text 12"/>
          <p:cNvSpPr txBox="1"/>
          <p:nvPr/>
        </p:nvSpPr>
        <p:spPr>
          <a:xfrm>
            <a:off x="3017520" y="3520440"/>
            <a:ext cx="1673352" cy="192024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Registered a Latvian company with the identical name; opened accounts in Latvia &amp; Cyprus</a:t>
            </a:r>
            <a:endParaRPr lang="en-US" sz="1300" dirty="0"/>
          </a:p>
        </p:txBody>
      </p:sp>
      <p:sp>
        <p:nvSpPr>
          <p:cNvPr id="17" name="Shape 13"/>
          <p:cNvSpPr/>
          <p:nvPr/>
        </p:nvSpPr>
        <p:spPr>
          <a:xfrm>
            <a:off x="5120640" y="1463040"/>
            <a:ext cx="2039112" cy="4114800"/>
          </a:xfrm>
          <a:prstGeom prst="roundRect">
            <a:avLst>
              <a:gd name="adj" fmla="val 4484"/>
            </a:avLst>
          </a:prstGeom>
          <a:solidFill>
            <a:srgbClr val="FFFFFF"/>
          </a:solidFill>
          <a:ln w="9525">
            <a:solidFill>
              <a:srgbClr val="D8D2C4"/>
            </a:solidFill>
            <a:prstDash val="solid"/>
          </a:ln>
        </p:spPr>
      </p:sp>
      <p:sp>
        <p:nvSpPr>
          <p:cNvPr id="18" name="Shape 14"/>
          <p:cNvSpPr/>
          <p:nvPr/>
        </p:nvSpPr>
        <p:spPr>
          <a:xfrm>
            <a:off x="5733288" y="1737360"/>
            <a:ext cx="822960" cy="822960"/>
          </a:xfrm>
          <a:prstGeom prst="ellipse">
            <a:avLst/>
          </a:prstGeom>
          <a:solidFill>
            <a:srgbClr val="1F6F6B"/>
          </a:solidFill>
          <a:ln w="12700">
            <a:solidFill>
              <a:srgbClr val="1F6F6B"/>
            </a:solidFill>
            <a:prstDash val="solid"/>
          </a:ln>
        </p:spPr>
      </p:sp>
      <p:pic>
        <p:nvPicPr>
          <p:cNvPr id="19" name="Image 2" descr="preencoded.png">    </p:cNvPr>
          <p:cNvPicPr>
            <a:picLocks noChangeAspect="1"/>
          </p:cNvPicPr>
          <p:nvPr/>
        </p:nvPicPr>
        <p:blipFill>
          <a:blip r:embed="rId3"/>
          <a:stretch>
            <a:fillRect/>
          </a:stretch>
        </p:blipFill>
        <p:spPr>
          <a:xfrm>
            <a:off x="5955487" y="1959559"/>
            <a:ext cx="378562" cy="378562"/>
          </a:xfrm>
          <a:prstGeom prst="rect">
            <a:avLst/>
          </a:prstGeom>
        </p:spPr>
      </p:pic>
      <p:sp>
        <p:nvSpPr>
          <p:cNvPr id="20" name="Text 15"/>
          <p:cNvSpPr txBox="1"/>
          <p:nvPr/>
        </p:nvSpPr>
        <p:spPr>
          <a:xfrm>
            <a:off x="5120640" y="2697480"/>
            <a:ext cx="2039112" cy="320040"/>
          </a:xfrm>
          <a:prstGeom prst="rect">
            <a:avLst/>
          </a:prstGeom>
          <a:noFill/>
          <a:ln/>
        </p:spPr>
        <p:txBody>
          <a:bodyPr wrap="square" lIns="0" tIns="0" rIns="0" bIns="0" rtlCol="0" anchor="t"/>
          <a:lstStyle/>
          <a:p>
            <a:pPr algn="ctr" indent="0" marL="0">
              <a:buNone/>
            </a:pPr>
            <a:r>
              <a:rPr lang="en-US" sz="1400" b="1" dirty="0">
                <a:solidFill>
                  <a:srgbClr val="8DB8A8"/>
                </a:solidFill>
                <a:latin typeface="Arial" pitchFamily="34" charset="0"/>
                <a:ea typeface="Arial" pitchFamily="34" charset="-122"/>
                <a:cs typeface="Arial" pitchFamily="34" charset="-120"/>
              </a:rPr>
              <a:t>03</a:t>
            </a:r>
            <a:endParaRPr lang="en-US" sz="1400" dirty="0"/>
          </a:p>
        </p:txBody>
      </p:sp>
      <p:sp>
        <p:nvSpPr>
          <p:cNvPr id="21" name="Text 16"/>
          <p:cNvSpPr txBox="1"/>
          <p:nvPr/>
        </p:nvSpPr>
        <p:spPr>
          <a:xfrm>
            <a:off x="5120640" y="301752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Phishing</a:t>
            </a:r>
            <a:endParaRPr lang="en-US" sz="1700" dirty="0"/>
          </a:p>
        </p:txBody>
      </p:sp>
      <p:sp>
        <p:nvSpPr>
          <p:cNvPr id="22" name="Text 17"/>
          <p:cNvSpPr txBox="1"/>
          <p:nvPr/>
        </p:nvSpPr>
        <p:spPr>
          <a:xfrm>
            <a:off x="5303520" y="3520440"/>
            <a:ext cx="1673352" cy="192024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Emailed finance staff from accounts posing as Quanta employees</a:t>
            </a:r>
            <a:endParaRPr lang="en-US" sz="1300" dirty="0"/>
          </a:p>
        </p:txBody>
      </p:sp>
      <p:sp>
        <p:nvSpPr>
          <p:cNvPr id="23" name="Shape 18"/>
          <p:cNvSpPr/>
          <p:nvPr/>
        </p:nvSpPr>
        <p:spPr>
          <a:xfrm>
            <a:off x="7406640" y="1463040"/>
            <a:ext cx="2039112" cy="4114800"/>
          </a:xfrm>
          <a:prstGeom prst="roundRect">
            <a:avLst>
              <a:gd name="adj" fmla="val 4484"/>
            </a:avLst>
          </a:prstGeom>
          <a:solidFill>
            <a:srgbClr val="FFFFFF"/>
          </a:solidFill>
          <a:ln w="9525">
            <a:solidFill>
              <a:srgbClr val="D8D2C4"/>
            </a:solidFill>
            <a:prstDash val="solid"/>
          </a:ln>
        </p:spPr>
      </p:sp>
      <p:sp>
        <p:nvSpPr>
          <p:cNvPr id="24" name="Shape 19"/>
          <p:cNvSpPr/>
          <p:nvPr/>
        </p:nvSpPr>
        <p:spPr>
          <a:xfrm>
            <a:off x="8019288" y="1737360"/>
            <a:ext cx="822960" cy="822960"/>
          </a:xfrm>
          <a:prstGeom prst="ellipse">
            <a:avLst/>
          </a:prstGeom>
          <a:solidFill>
            <a:srgbClr val="1F6F6B"/>
          </a:solidFill>
          <a:ln w="12700">
            <a:solidFill>
              <a:srgbClr val="1F6F6B"/>
            </a:solidFill>
            <a:prstDash val="solid"/>
          </a:ln>
        </p:spPr>
      </p:sp>
      <p:pic>
        <p:nvPicPr>
          <p:cNvPr id="25" name="Image 3" descr="preencoded.png">    </p:cNvPr>
          <p:cNvPicPr>
            <a:picLocks noChangeAspect="1"/>
          </p:cNvPicPr>
          <p:nvPr/>
        </p:nvPicPr>
        <p:blipFill>
          <a:blip r:embed="rId4"/>
          <a:stretch>
            <a:fillRect/>
          </a:stretch>
        </p:blipFill>
        <p:spPr>
          <a:xfrm>
            <a:off x="8241487" y="1959559"/>
            <a:ext cx="378562" cy="378562"/>
          </a:xfrm>
          <a:prstGeom prst="rect">
            <a:avLst/>
          </a:prstGeom>
        </p:spPr>
      </p:pic>
      <p:sp>
        <p:nvSpPr>
          <p:cNvPr id="26" name="Text 20"/>
          <p:cNvSpPr txBox="1"/>
          <p:nvPr/>
        </p:nvSpPr>
        <p:spPr>
          <a:xfrm>
            <a:off x="7406640" y="2697480"/>
            <a:ext cx="2039112" cy="320040"/>
          </a:xfrm>
          <a:prstGeom prst="rect">
            <a:avLst/>
          </a:prstGeom>
          <a:noFill/>
          <a:ln/>
        </p:spPr>
        <p:txBody>
          <a:bodyPr wrap="square" lIns="0" tIns="0" rIns="0" bIns="0" rtlCol="0" anchor="t"/>
          <a:lstStyle/>
          <a:p>
            <a:pPr algn="ctr" indent="0" marL="0">
              <a:buNone/>
            </a:pPr>
            <a:r>
              <a:rPr lang="en-US" sz="1400" b="1" dirty="0">
                <a:solidFill>
                  <a:srgbClr val="8DB8A8"/>
                </a:solidFill>
                <a:latin typeface="Arial" pitchFamily="34" charset="0"/>
                <a:ea typeface="Arial" pitchFamily="34" charset="-122"/>
                <a:cs typeface="Arial" pitchFamily="34" charset="-120"/>
              </a:rPr>
              <a:t>04</a:t>
            </a:r>
            <a:endParaRPr lang="en-US" sz="1400" dirty="0"/>
          </a:p>
        </p:txBody>
      </p:sp>
      <p:sp>
        <p:nvSpPr>
          <p:cNvPr id="27" name="Text 21"/>
          <p:cNvSpPr txBox="1"/>
          <p:nvPr/>
        </p:nvSpPr>
        <p:spPr>
          <a:xfrm>
            <a:off x="7406640" y="301752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Payment</a:t>
            </a:r>
            <a:endParaRPr lang="en-US" sz="1700" dirty="0"/>
          </a:p>
        </p:txBody>
      </p:sp>
      <p:sp>
        <p:nvSpPr>
          <p:cNvPr id="28" name="Text 22"/>
          <p:cNvSpPr txBox="1"/>
          <p:nvPr/>
        </p:nvSpPr>
        <p:spPr>
          <a:xfrm>
            <a:off x="7589520" y="3520440"/>
            <a:ext cx="1673352" cy="192024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Sent real-looking invoices; staff wired millions per invoice</a:t>
            </a:r>
            <a:endParaRPr lang="en-US" sz="1300" dirty="0"/>
          </a:p>
        </p:txBody>
      </p:sp>
      <p:sp>
        <p:nvSpPr>
          <p:cNvPr id="29" name="Shape 23"/>
          <p:cNvSpPr/>
          <p:nvPr/>
        </p:nvSpPr>
        <p:spPr>
          <a:xfrm>
            <a:off x="9692640" y="1463040"/>
            <a:ext cx="2039112" cy="4114800"/>
          </a:xfrm>
          <a:prstGeom prst="roundRect">
            <a:avLst>
              <a:gd name="adj" fmla="val 4484"/>
            </a:avLst>
          </a:prstGeom>
          <a:solidFill>
            <a:srgbClr val="FFFFFF"/>
          </a:solidFill>
          <a:ln w="9525">
            <a:solidFill>
              <a:srgbClr val="D8D2C4"/>
            </a:solidFill>
            <a:prstDash val="solid"/>
          </a:ln>
        </p:spPr>
      </p:sp>
      <p:sp>
        <p:nvSpPr>
          <p:cNvPr id="30" name="Shape 24"/>
          <p:cNvSpPr/>
          <p:nvPr/>
        </p:nvSpPr>
        <p:spPr>
          <a:xfrm>
            <a:off x="10305288" y="1737360"/>
            <a:ext cx="822960" cy="822960"/>
          </a:xfrm>
          <a:prstGeom prst="ellipse">
            <a:avLst/>
          </a:prstGeom>
          <a:solidFill>
            <a:srgbClr val="B5452F"/>
          </a:solidFill>
          <a:ln w="12700">
            <a:solidFill>
              <a:srgbClr val="B5452F"/>
            </a:solidFill>
            <a:prstDash val="solid"/>
          </a:ln>
        </p:spPr>
      </p:sp>
      <p:pic>
        <p:nvPicPr>
          <p:cNvPr id="31" name="Image 4" descr="preencoded.png">    </p:cNvPr>
          <p:cNvPicPr>
            <a:picLocks noChangeAspect="1"/>
          </p:cNvPicPr>
          <p:nvPr/>
        </p:nvPicPr>
        <p:blipFill>
          <a:blip r:embed="rId5"/>
          <a:stretch>
            <a:fillRect/>
          </a:stretch>
        </p:blipFill>
        <p:spPr>
          <a:xfrm>
            <a:off x="10527487" y="1959559"/>
            <a:ext cx="378562" cy="378562"/>
          </a:xfrm>
          <a:prstGeom prst="rect">
            <a:avLst/>
          </a:prstGeom>
        </p:spPr>
      </p:pic>
      <p:sp>
        <p:nvSpPr>
          <p:cNvPr id="32" name="Text 25"/>
          <p:cNvSpPr txBox="1"/>
          <p:nvPr/>
        </p:nvSpPr>
        <p:spPr>
          <a:xfrm>
            <a:off x="9692640" y="2697480"/>
            <a:ext cx="2039112" cy="320040"/>
          </a:xfrm>
          <a:prstGeom prst="rect">
            <a:avLst/>
          </a:prstGeom>
          <a:noFill/>
          <a:ln/>
        </p:spPr>
        <p:txBody>
          <a:bodyPr wrap="square" lIns="0" tIns="0" rIns="0" bIns="0" rtlCol="0" anchor="t"/>
          <a:lstStyle/>
          <a:p>
            <a:pPr algn="ctr" indent="0" marL="0">
              <a:buNone/>
            </a:pPr>
            <a:r>
              <a:rPr lang="en-US" sz="1400" b="1" dirty="0">
                <a:solidFill>
                  <a:srgbClr val="8DB8A8"/>
                </a:solidFill>
                <a:latin typeface="Arial" pitchFamily="34" charset="0"/>
                <a:ea typeface="Arial" pitchFamily="34" charset="-122"/>
                <a:cs typeface="Arial" pitchFamily="34" charset="-120"/>
              </a:rPr>
              <a:t>05</a:t>
            </a:r>
            <a:endParaRPr lang="en-US" sz="1400" dirty="0"/>
          </a:p>
        </p:txBody>
      </p:sp>
      <p:sp>
        <p:nvSpPr>
          <p:cNvPr id="33" name="Text 26"/>
          <p:cNvSpPr txBox="1"/>
          <p:nvPr/>
        </p:nvSpPr>
        <p:spPr>
          <a:xfrm>
            <a:off x="9692640" y="301752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Laundering</a:t>
            </a:r>
            <a:endParaRPr lang="en-US" sz="1700" dirty="0"/>
          </a:p>
        </p:txBody>
      </p:sp>
      <p:sp>
        <p:nvSpPr>
          <p:cNvPr id="34" name="Text 27"/>
          <p:cNvSpPr txBox="1"/>
          <p:nvPr/>
        </p:nvSpPr>
        <p:spPr>
          <a:xfrm>
            <a:off x="9875520" y="3520440"/>
            <a:ext cx="1673352" cy="192024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Moved funds abroad; used forged documents to satisfy banks</a:t>
            </a:r>
            <a:endParaRPr lang="en-US" sz="1300" dirty="0"/>
          </a:p>
        </p:txBody>
      </p:sp>
      <p:sp>
        <p:nvSpPr>
          <p:cNvPr id="35" name="Shape 28"/>
          <p:cNvSpPr/>
          <p:nvPr/>
        </p:nvSpPr>
        <p:spPr>
          <a:xfrm>
            <a:off x="548640" y="5715000"/>
            <a:ext cx="11091672" cy="548640"/>
          </a:xfrm>
          <a:prstGeom prst="roundRect">
            <a:avLst>
              <a:gd name="adj" fmla="val 16667"/>
            </a:avLst>
          </a:prstGeom>
          <a:solidFill>
            <a:srgbClr val="E6EDE8"/>
          </a:solidFill>
          <a:ln w="12700">
            <a:solidFill>
              <a:srgbClr val="E6EDE8"/>
            </a:solidFill>
            <a:prstDash val="solid"/>
          </a:ln>
        </p:spPr>
      </p:sp>
      <p:sp>
        <p:nvSpPr>
          <p:cNvPr id="36" name="Text 29"/>
          <p:cNvSpPr txBox="1"/>
          <p:nvPr/>
        </p:nvSpPr>
        <p:spPr>
          <a:xfrm>
            <a:off x="822960" y="5715000"/>
            <a:ext cx="10607040" cy="548640"/>
          </a:xfrm>
          <a:prstGeom prst="rect">
            <a:avLst/>
          </a:prstGeom>
          <a:noFill/>
          <a:ln/>
        </p:spPr>
        <p:txBody>
          <a:bodyPr wrap="square" lIns="0" tIns="0" rIns="0" bIns="0" rtlCol="0" anchor="ctr"/>
          <a:lstStyle/>
          <a:p>
            <a:pPr indent="0" marL="0">
              <a:buNone/>
            </a:pPr>
            <a:r>
              <a:rPr lang="en-US" sz="1500" b="1" i="1" dirty="0">
                <a:solidFill>
                  <a:srgbClr val="1F6F6B"/>
                </a:solidFill>
                <a:latin typeface="Arial" pitchFamily="34" charset="0"/>
                <a:ea typeface="Arial" pitchFamily="34" charset="-122"/>
                <a:cs typeface="Arial" pitchFamily="34" charset="-120"/>
              </a:rPr>
              <a:t>No malware. No hacking of company systems. Just social engineering plus paperwork.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Anatomy of a fraudulent invoice email</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VIVAAN</a:t>
            </a:r>
            <a:endParaRPr lang="en-US" sz="1000" dirty="0"/>
          </a:p>
        </p:txBody>
      </p:sp>
      <p:sp>
        <p:nvSpPr>
          <p:cNvPr id="5" name="Shape 3"/>
          <p:cNvSpPr/>
          <p:nvPr/>
        </p:nvSpPr>
        <p:spPr>
          <a:xfrm>
            <a:off x="548640" y="1463040"/>
            <a:ext cx="6309360" cy="4754880"/>
          </a:xfrm>
          <a:prstGeom prst="roundRect">
            <a:avLst>
              <a:gd name="adj" fmla="val 1923"/>
            </a:avLst>
          </a:prstGeom>
          <a:solidFill>
            <a:srgbClr val="FFFFFF"/>
          </a:solidFill>
          <a:ln w="9525">
            <a:solidFill>
              <a:srgbClr val="D8D2C4"/>
            </a:solidFill>
            <a:prstDash val="solid"/>
          </a:ln>
        </p:spPr>
      </p:sp>
      <p:sp>
        <p:nvSpPr>
          <p:cNvPr id="6" name="Shape 4"/>
          <p:cNvSpPr/>
          <p:nvPr/>
        </p:nvSpPr>
        <p:spPr>
          <a:xfrm>
            <a:off x="557784" y="1472184"/>
            <a:ext cx="6291072" cy="457200"/>
          </a:xfrm>
          <a:prstGeom prst="rect">
            <a:avLst/>
          </a:prstGeom>
          <a:solidFill>
            <a:srgbClr val="E6EDE8"/>
          </a:solidFill>
          <a:ln w="12700">
            <a:solidFill>
              <a:srgbClr val="E6EDE8"/>
            </a:solidFill>
            <a:prstDash val="solid"/>
          </a:ln>
        </p:spPr>
      </p:sp>
      <p:sp>
        <p:nvSpPr>
          <p:cNvPr id="7" name="Text 5"/>
          <p:cNvSpPr txBox="1"/>
          <p:nvPr/>
        </p:nvSpPr>
        <p:spPr>
          <a:xfrm>
            <a:off x="822960" y="1472184"/>
            <a:ext cx="4572000" cy="457200"/>
          </a:xfrm>
          <a:prstGeom prst="rect">
            <a:avLst/>
          </a:prstGeom>
          <a:noFill/>
          <a:ln/>
        </p:spPr>
        <p:txBody>
          <a:bodyPr wrap="square" lIns="0" tIns="0" rIns="0" bIns="0" rtlCol="0" anchor="ctr"/>
          <a:lstStyle/>
          <a:p>
            <a:pPr indent="0" marL="0">
              <a:buNone/>
            </a:pPr>
            <a:r>
              <a:rPr lang="en-US" sz="1200" b="1" dirty="0">
                <a:solidFill>
                  <a:srgbClr val="4F5E6B"/>
                </a:solidFill>
                <a:latin typeface="Arial" pitchFamily="34" charset="0"/>
                <a:ea typeface="Arial" pitchFamily="34" charset="-122"/>
                <a:cs typeface="Arial" pitchFamily="34" charset="-120"/>
              </a:rPr>
              <a:t>Inbox  ·  Accounts Payable</a:t>
            </a:r>
            <a:endParaRPr lang="en-US" sz="1200" dirty="0"/>
          </a:p>
        </p:txBody>
      </p:sp>
      <p:sp>
        <p:nvSpPr>
          <p:cNvPr id="8" name="Text 6"/>
          <p:cNvSpPr txBox="1"/>
          <p:nvPr/>
        </p:nvSpPr>
        <p:spPr>
          <a:xfrm>
            <a:off x="822960" y="2103120"/>
            <a:ext cx="1051560" cy="320040"/>
          </a:xfrm>
          <a:prstGeom prst="rect">
            <a:avLst/>
          </a:prstGeom>
          <a:noFill/>
          <a:ln/>
        </p:spPr>
        <p:txBody>
          <a:bodyPr wrap="square" lIns="0" tIns="0" rIns="0" bIns="0" rtlCol="0" anchor="t"/>
          <a:lstStyle/>
          <a:p>
            <a:pPr indent="0" marL="0">
              <a:buNone/>
            </a:pPr>
            <a:r>
              <a:rPr lang="en-US" sz="1200" b="1" dirty="0">
                <a:solidFill>
                  <a:srgbClr val="1B2A3A"/>
                </a:solidFill>
                <a:latin typeface="Arial" pitchFamily="34" charset="0"/>
                <a:ea typeface="Arial" pitchFamily="34" charset="-122"/>
                <a:cs typeface="Arial" pitchFamily="34" charset="-120"/>
              </a:rPr>
              <a:t>From:</a:t>
            </a:r>
            <a:endParaRPr lang="en-US" sz="1200" dirty="0"/>
          </a:p>
        </p:txBody>
      </p:sp>
      <p:sp>
        <p:nvSpPr>
          <p:cNvPr id="9" name="Text 7"/>
          <p:cNvSpPr txBox="1"/>
          <p:nvPr/>
        </p:nvSpPr>
        <p:spPr>
          <a:xfrm>
            <a:off x="1874520" y="2103120"/>
            <a:ext cx="4343400" cy="320040"/>
          </a:xfrm>
          <a:prstGeom prst="rect">
            <a:avLst/>
          </a:prstGeom>
          <a:noFill/>
          <a:ln/>
        </p:spPr>
        <p:txBody>
          <a:bodyPr wrap="square" lIns="0" tIns="0" rIns="0" bIns="0" rtlCol="0" anchor="t"/>
          <a:lstStyle/>
          <a:p>
            <a:pPr indent="0" marL="0">
              <a:buNone/>
            </a:pPr>
            <a:r>
              <a:rPr lang="en-US" sz="1200" dirty="0">
                <a:solidFill>
                  <a:srgbClr val="1B2A3A"/>
                </a:solidFill>
                <a:latin typeface="Arial" pitchFamily="34" charset="0"/>
                <a:ea typeface="Arial" pitchFamily="34" charset="-122"/>
                <a:cs typeface="Arial" pitchFamily="34" charset="-120"/>
              </a:rPr>
              <a:t>Quanta Computer – Accounts &lt;billing@quanta-cornputer.com&gt;</a:t>
            </a:r>
            <a:endParaRPr lang="en-US" sz="1200" dirty="0"/>
          </a:p>
        </p:txBody>
      </p:sp>
      <p:sp>
        <p:nvSpPr>
          <p:cNvPr id="10" name="Shape 8"/>
          <p:cNvSpPr/>
          <p:nvPr/>
        </p:nvSpPr>
        <p:spPr>
          <a:xfrm>
            <a:off x="6355080" y="2121408"/>
            <a:ext cx="274320" cy="274320"/>
          </a:xfrm>
          <a:prstGeom prst="ellipse">
            <a:avLst/>
          </a:prstGeom>
          <a:solidFill>
            <a:srgbClr val="B5452F"/>
          </a:solidFill>
          <a:ln w="12700">
            <a:solidFill>
              <a:srgbClr val="B5452F"/>
            </a:solidFill>
            <a:prstDash val="solid"/>
          </a:ln>
        </p:spPr>
      </p:sp>
      <p:sp>
        <p:nvSpPr>
          <p:cNvPr id="11" name="Text 9"/>
          <p:cNvSpPr txBox="1"/>
          <p:nvPr/>
        </p:nvSpPr>
        <p:spPr>
          <a:xfrm>
            <a:off x="6355080" y="21214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822960" y="2468880"/>
            <a:ext cx="1051560" cy="320040"/>
          </a:xfrm>
          <a:prstGeom prst="rect">
            <a:avLst/>
          </a:prstGeom>
          <a:noFill/>
          <a:ln/>
        </p:spPr>
        <p:txBody>
          <a:bodyPr wrap="square" lIns="0" tIns="0" rIns="0" bIns="0" rtlCol="0" anchor="t"/>
          <a:lstStyle/>
          <a:p>
            <a:pPr indent="0" marL="0">
              <a:buNone/>
            </a:pPr>
            <a:r>
              <a:rPr lang="en-US" sz="1200" b="1" dirty="0">
                <a:solidFill>
                  <a:srgbClr val="1B2A3A"/>
                </a:solidFill>
                <a:latin typeface="Arial" pitchFamily="34" charset="0"/>
                <a:ea typeface="Arial" pitchFamily="34" charset="-122"/>
                <a:cs typeface="Arial" pitchFamily="34" charset="-120"/>
              </a:rPr>
              <a:t>Subject:</a:t>
            </a:r>
            <a:endParaRPr lang="en-US" sz="1200" dirty="0"/>
          </a:p>
        </p:txBody>
      </p:sp>
      <p:sp>
        <p:nvSpPr>
          <p:cNvPr id="13" name="Text 11"/>
          <p:cNvSpPr txBox="1"/>
          <p:nvPr/>
        </p:nvSpPr>
        <p:spPr>
          <a:xfrm>
            <a:off x="1874520" y="2468880"/>
            <a:ext cx="4343400" cy="320040"/>
          </a:xfrm>
          <a:prstGeom prst="rect">
            <a:avLst/>
          </a:prstGeom>
          <a:noFill/>
          <a:ln/>
        </p:spPr>
        <p:txBody>
          <a:bodyPr wrap="square" lIns="0" tIns="0" rIns="0" bIns="0" rtlCol="0" anchor="t"/>
          <a:lstStyle/>
          <a:p>
            <a:pPr indent="0" marL="0">
              <a:buNone/>
            </a:pPr>
            <a:r>
              <a:rPr lang="en-US" sz="1200" dirty="0">
                <a:solidFill>
                  <a:srgbClr val="1B2A3A"/>
                </a:solidFill>
                <a:latin typeface="Arial" pitchFamily="34" charset="0"/>
                <a:ea typeface="Arial" pitchFamily="34" charset="-122"/>
                <a:cs typeface="Arial" pitchFamily="34" charset="-120"/>
              </a:rPr>
              <a:t>Invoice QC-0847 – Server components, payment due</a:t>
            </a:r>
            <a:endParaRPr lang="en-US" sz="1200" dirty="0"/>
          </a:p>
        </p:txBody>
      </p:sp>
      <p:sp>
        <p:nvSpPr>
          <p:cNvPr id="14" name="Text 12"/>
          <p:cNvSpPr txBox="1"/>
          <p:nvPr/>
        </p:nvSpPr>
        <p:spPr>
          <a:xfrm>
            <a:off x="822960" y="2834640"/>
            <a:ext cx="1051560" cy="320040"/>
          </a:xfrm>
          <a:prstGeom prst="rect">
            <a:avLst/>
          </a:prstGeom>
          <a:noFill/>
          <a:ln/>
        </p:spPr>
        <p:txBody>
          <a:bodyPr wrap="square" lIns="0" tIns="0" rIns="0" bIns="0" rtlCol="0" anchor="t"/>
          <a:lstStyle/>
          <a:p>
            <a:pPr indent="0" marL="0">
              <a:buNone/>
            </a:pPr>
            <a:r>
              <a:rPr lang="en-US" sz="1200" b="1" dirty="0">
                <a:solidFill>
                  <a:srgbClr val="1B2A3A"/>
                </a:solidFill>
                <a:latin typeface="Arial" pitchFamily="34" charset="0"/>
                <a:ea typeface="Arial" pitchFamily="34" charset="-122"/>
                <a:cs typeface="Arial" pitchFamily="34" charset="-120"/>
              </a:rPr>
              <a:t>Attachment:</a:t>
            </a:r>
            <a:endParaRPr lang="en-US" sz="1200" dirty="0"/>
          </a:p>
        </p:txBody>
      </p:sp>
      <p:sp>
        <p:nvSpPr>
          <p:cNvPr id="15" name="Text 13"/>
          <p:cNvSpPr txBox="1"/>
          <p:nvPr/>
        </p:nvSpPr>
        <p:spPr>
          <a:xfrm>
            <a:off x="1874520" y="2834640"/>
            <a:ext cx="4343400" cy="320040"/>
          </a:xfrm>
          <a:prstGeom prst="rect">
            <a:avLst/>
          </a:prstGeom>
          <a:noFill/>
          <a:ln/>
        </p:spPr>
        <p:txBody>
          <a:bodyPr wrap="square" lIns="0" tIns="0" rIns="0" bIns="0" rtlCol="0" anchor="t"/>
          <a:lstStyle/>
          <a:p>
            <a:pPr indent="0" marL="0">
              <a:buNone/>
            </a:pPr>
            <a:r>
              <a:rPr lang="en-US" sz="1200" dirty="0">
                <a:solidFill>
                  <a:srgbClr val="1B2A3A"/>
                </a:solidFill>
                <a:latin typeface="Arial" pitchFamily="34" charset="0"/>
                <a:ea typeface="Arial" pitchFamily="34" charset="-122"/>
                <a:cs typeface="Arial" pitchFamily="34" charset="-120"/>
              </a:rPr>
              <a:t>QC-0847_invoice.pdf</a:t>
            </a:r>
            <a:endParaRPr lang="en-US" sz="1200" dirty="0"/>
          </a:p>
        </p:txBody>
      </p:sp>
      <p:sp>
        <p:nvSpPr>
          <p:cNvPr id="16" name="Shape 14"/>
          <p:cNvSpPr/>
          <p:nvPr/>
        </p:nvSpPr>
        <p:spPr>
          <a:xfrm>
            <a:off x="6355080" y="2852928"/>
            <a:ext cx="274320" cy="274320"/>
          </a:xfrm>
          <a:prstGeom prst="ellipse">
            <a:avLst/>
          </a:prstGeom>
          <a:solidFill>
            <a:srgbClr val="B5452F"/>
          </a:solidFill>
          <a:ln w="12700">
            <a:solidFill>
              <a:srgbClr val="B5452F"/>
            </a:solidFill>
            <a:prstDash val="solid"/>
          </a:ln>
        </p:spPr>
      </p:sp>
      <p:sp>
        <p:nvSpPr>
          <p:cNvPr id="17" name="Text 15"/>
          <p:cNvSpPr txBox="1"/>
          <p:nvPr/>
        </p:nvSpPr>
        <p:spPr>
          <a:xfrm>
            <a:off x="6355080" y="285292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8" name="Shape 16"/>
          <p:cNvSpPr/>
          <p:nvPr/>
        </p:nvSpPr>
        <p:spPr>
          <a:xfrm>
            <a:off x="822960" y="3246120"/>
            <a:ext cx="5760720" cy="0"/>
          </a:xfrm>
          <a:prstGeom prst="line">
            <a:avLst/>
          </a:prstGeom>
          <a:noFill/>
          <a:ln w="9525">
            <a:solidFill>
              <a:srgbClr val="D8D2C4"/>
            </a:solidFill>
            <a:prstDash val="solid"/>
          </a:ln>
        </p:spPr>
      </p:sp>
      <p:sp>
        <p:nvSpPr>
          <p:cNvPr id="19" name="Text 17"/>
          <p:cNvSpPr txBox="1"/>
          <p:nvPr/>
        </p:nvSpPr>
        <p:spPr>
          <a:xfrm>
            <a:off x="822960" y="3383280"/>
            <a:ext cx="5394960" cy="54864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Dear Accounts Payable team,</a:t>
            </a:r>
            <a:endParaRPr lang="en-US" sz="1300" dirty="0"/>
          </a:p>
        </p:txBody>
      </p:sp>
      <p:sp>
        <p:nvSpPr>
          <p:cNvPr id="20" name="Text 18"/>
          <p:cNvSpPr txBox="1"/>
          <p:nvPr/>
        </p:nvSpPr>
        <p:spPr>
          <a:xfrm>
            <a:off x="822960" y="3749040"/>
            <a:ext cx="5394960" cy="54864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Please find attached invoice QC-0847 for the Q3 server components shipment, as per our purchase agreement.</a:t>
            </a:r>
            <a:endParaRPr lang="en-US" sz="1300" dirty="0"/>
          </a:p>
        </p:txBody>
      </p:sp>
      <p:sp>
        <p:nvSpPr>
          <p:cNvPr id="21" name="Text 19"/>
          <p:cNvSpPr txBox="1"/>
          <p:nvPr/>
        </p:nvSpPr>
        <p:spPr>
          <a:xfrm>
            <a:off x="822960" y="4343400"/>
            <a:ext cx="5394960" cy="54864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Kindly note our banking details have been updated. Please remit to our new account in Riga, Latvia.</a:t>
            </a:r>
            <a:endParaRPr lang="en-US" sz="1300" dirty="0"/>
          </a:p>
        </p:txBody>
      </p:sp>
      <p:sp>
        <p:nvSpPr>
          <p:cNvPr id="22" name="Shape 20"/>
          <p:cNvSpPr/>
          <p:nvPr/>
        </p:nvSpPr>
        <p:spPr>
          <a:xfrm>
            <a:off x="6355080" y="4361688"/>
            <a:ext cx="274320" cy="274320"/>
          </a:xfrm>
          <a:prstGeom prst="ellipse">
            <a:avLst/>
          </a:prstGeom>
          <a:solidFill>
            <a:srgbClr val="B5452F"/>
          </a:solidFill>
          <a:ln w="12700">
            <a:solidFill>
              <a:srgbClr val="B5452F"/>
            </a:solidFill>
            <a:prstDash val="solid"/>
          </a:ln>
        </p:spPr>
      </p:sp>
      <p:sp>
        <p:nvSpPr>
          <p:cNvPr id="23" name="Text 21"/>
          <p:cNvSpPr txBox="1"/>
          <p:nvPr/>
        </p:nvSpPr>
        <p:spPr>
          <a:xfrm>
            <a:off x="6355080" y="43616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4" name="Text 22"/>
          <p:cNvSpPr txBox="1"/>
          <p:nvPr/>
        </p:nvSpPr>
        <p:spPr>
          <a:xfrm>
            <a:off x="822960" y="4937760"/>
            <a:ext cx="5394960" cy="54864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Payment is required within 3 business days to avoid delay of the next shipment.</a:t>
            </a:r>
            <a:endParaRPr lang="en-US" sz="1300" dirty="0"/>
          </a:p>
        </p:txBody>
      </p:sp>
      <p:sp>
        <p:nvSpPr>
          <p:cNvPr id="25" name="Shape 23"/>
          <p:cNvSpPr/>
          <p:nvPr/>
        </p:nvSpPr>
        <p:spPr>
          <a:xfrm>
            <a:off x="6355080" y="4956048"/>
            <a:ext cx="274320" cy="274320"/>
          </a:xfrm>
          <a:prstGeom prst="ellipse">
            <a:avLst/>
          </a:prstGeom>
          <a:solidFill>
            <a:srgbClr val="B5452F"/>
          </a:solidFill>
          <a:ln w="12700">
            <a:solidFill>
              <a:srgbClr val="B5452F"/>
            </a:solidFill>
            <a:prstDash val="solid"/>
          </a:ln>
        </p:spPr>
      </p:sp>
      <p:sp>
        <p:nvSpPr>
          <p:cNvPr id="26" name="Text 24"/>
          <p:cNvSpPr txBox="1"/>
          <p:nvPr/>
        </p:nvSpPr>
        <p:spPr>
          <a:xfrm>
            <a:off x="6355080" y="49560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7" name="Text 25"/>
          <p:cNvSpPr txBox="1"/>
          <p:nvPr/>
        </p:nvSpPr>
        <p:spPr>
          <a:xfrm>
            <a:off x="822960" y="5440680"/>
            <a:ext cx="5394960" cy="54864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Regards, Finance Manager, Quanta Computer</a:t>
            </a:r>
            <a:endParaRPr lang="en-US" sz="1300" dirty="0"/>
          </a:p>
        </p:txBody>
      </p:sp>
      <p:sp>
        <p:nvSpPr>
          <p:cNvPr id="28" name="Text 26"/>
          <p:cNvSpPr txBox="1"/>
          <p:nvPr/>
        </p:nvSpPr>
        <p:spPr>
          <a:xfrm>
            <a:off x="822960" y="5870448"/>
            <a:ext cx="5760720" cy="274320"/>
          </a:xfrm>
          <a:prstGeom prst="rect">
            <a:avLst/>
          </a:prstGeom>
          <a:noFill/>
          <a:ln/>
        </p:spPr>
        <p:txBody>
          <a:bodyPr wrap="square" lIns="0" tIns="0" rIns="0" bIns="0" rtlCol="0" anchor="t"/>
          <a:lstStyle/>
          <a:p>
            <a:pPr indent="0" marL="0">
              <a:buNone/>
            </a:pPr>
            <a:r>
              <a:rPr lang="en-US" sz="1000" i="1" dirty="0">
                <a:solidFill>
                  <a:srgbClr val="4F5E6B"/>
                </a:solidFill>
                <a:latin typeface="Arial" pitchFamily="34" charset="0"/>
                <a:ea typeface="Arial" pitchFamily="34" charset="-122"/>
                <a:cs typeface="Arial" pitchFamily="34" charset="-120"/>
              </a:rPr>
              <a:t>Illustrative reconstruction based on court filings, not an actual email from the case</a:t>
            </a:r>
            <a:endParaRPr lang="en-US" sz="1000" dirty="0"/>
          </a:p>
        </p:txBody>
      </p:sp>
      <p:sp>
        <p:nvSpPr>
          <p:cNvPr id="29" name="Shape 27"/>
          <p:cNvSpPr/>
          <p:nvPr/>
        </p:nvSpPr>
        <p:spPr>
          <a:xfrm>
            <a:off x="7178040" y="1463040"/>
            <a:ext cx="4462272" cy="1051560"/>
          </a:xfrm>
          <a:prstGeom prst="roundRect">
            <a:avLst>
              <a:gd name="adj" fmla="val 8696"/>
            </a:avLst>
          </a:prstGeom>
          <a:solidFill>
            <a:srgbClr val="FFFFFF"/>
          </a:solidFill>
          <a:ln w="9525">
            <a:solidFill>
              <a:srgbClr val="D8D2C4"/>
            </a:solidFill>
            <a:prstDash val="solid"/>
          </a:ln>
        </p:spPr>
      </p:sp>
      <p:sp>
        <p:nvSpPr>
          <p:cNvPr id="30" name="Shape 28"/>
          <p:cNvSpPr/>
          <p:nvPr/>
        </p:nvSpPr>
        <p:spPr>
          <a:xfrm>
            <a:off x="7388352" y="1645920"/>
            <a:ext cx="329184" cy="329184"/>
          </a:xfrm>
          <a:prstGeom prst="ellipse">
            <a:avLst/>
          </a:prstGeom>
          <a:solidFill>
            <a:srgbClr val="B5452F"/>
          </a:solidFill>
          <a:ln w="12700">
            <a:solidFill>
              <a:srgbClr val="B5452F"/>
            </a:solidFill>
            <a:prstDash val="solid"/>
          </a:ln>
        </p:spPr>
      </p:sp>
      <p:sp>
        <p:nvSpPr>
          <p:cNvPr id="31" name="Text 29"/>
          <p:cNvSpPr txBox="1"/>
          <p:nvPr/>
        </p:nvSpPr>
        <p:spPr>
          <a:xfrm>
            <a:off x="7388352" y="1645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2" name="Text 30"/>
          <p:cNvSpPr txBox="1"/>
          <p:nvPr/>
        </p:nvSpPr>
        <p:spPr>
          <a:xfrm>
            <a:off x="7863840" y="1627632"/>
            <a:ext cx="3611880" cy="365760"/>
          </a:xfrm>
          <a:prstGeom prst="rect">
            <a:avLst/>
          </a:prstGeom>
          <a:noFill/>
          <a:ln/>
        </p:spPr>
        <p:txBody>
          <a:bodyPr wrap="square" lIns="0" tIns="0" rIns="0" bIns="0" rtlCol="0" anchor="t"/>
          <a:lstStyle/>
          <a:p>
            <a:pPr indent="0" marL="0">
              <a:buNone/>
            </a:pPr>
            <a:r>
              <a:rPr lang="en-US" sz="1600" b="1" dirty="0">
                <a:solidFill>
                  <a:srgbClr val="B5452F"/>
                </a:solidFill>
                <a:latin typeface="Arial" pitchFamily="34" charset="0"/>
                <a:ea typeface="Arial" pitchFamily="34" charset="-122"/>
                <a:cs typeface="Arial" pitchFamily="34" charset="-120"/>
              </a:rPr>
              <a:t>Look-alike sender</a:t>
            </a:r>
            <a:endParaRPr lang="en-US" sz="1600" dirty="0"/>
          </a:p>
        </p:txBody>
      </p:sp>
      <p:sp>
        <p:nvSpPr>
          <p:cNvPr id="33" name="Text 31"/>
          <p:cNvSpPr txBox="1"/>
          <p:nvPr/>
        </p:nvSpPr>
        <p:spPr>
          <a:xfrm>
            <a:off x="7863840" y="1993392"/>
            <a:ext cx="3611880" cy="45720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“rn” mimics “m”; the display name copies the real supplier</a:t>
            </a:r>
            <a:endParaRPr lang="en-US" sz="1300" dirty="0"/>
          </a:p>
        </p:txBody>
      </p:sp>
      <p:sp>
        <p:nvSpPr>
          <p:cNvPr id="34" name="Shape 32"/>
          <p:cNvSpPr/>
          <p:nvPr/>
        </p:nvSpPr>
        <p:spPr>
          <a:xfrm>
            <a:off x="7178040" y="2679192"/>
            <a:ext cx="4462272" cy="1051560"/>
          </a:xfrm>
          <a:prstGeom prst="roundRect">
            <a:avLst>
              <a:gd name="adj" fmla="val 8696"/>
            </a:avLst>
          </a:prstGeom>
          <a:solidFill>
            <a:srgbClr val="FFFFFF"/>
          </a:solidFill>
          <a:ln w="9525">
            <a:solidFill>
              <a:srgbClr val="D8D2C4"/>
            </a:solidFill>
            <a:prstDash val="solid"/>
          </a:ln>
        </p:spPr>
      </p:sp>
      <p:sp>
        <p:nvSpPr>
          <p:cNvPr id="35" name="Shape 33"/>
          <p:cNvSpPr/>
          <p:nvPr/>
        </p:nvSpPr>
        <p:spPr>
          <a:xfrm>
            <a:off x="7388352" y="2862072"/>
            <a:ext cx="329184" cy="329184"/>
          </a:xfrm>
          <a:prstGeom prst="ellipse">
            <a:avLst/>
          </a:prstGeom>
          <a:solidFill>
            <a:srgbClr val="B5452F"/>
          </a:solidFill>
          <a:ln w="12700">
            <a:solidFill>
              <a:srgbClr val="B5452F"/>
            </a:solidFill>
            <a:prstDash val="solid"/>
          </a:ln>
        </p:spPr>
      </p:sp>
      <p:sp>
        <p:nvSpPr>
          <p:cNvPr id="36" name="Text 34"/>
          <p:cNvSpPr txBox="1"/>
          <p:nvPr/>
        </p:nvSpPr>
        <p:spPr>
          <a:xfrm>
            <a:off x="7388352" y="28620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7" name="Text 35"/>
          <p:cNvSpPr txBox="1"/>
          <p:nvPr/>
        </p:nvSpPr>
        <p:spPr>
          <a:xfrm>
            <a:off x="7863840" y="2843784"/>
            <a:ext cx="3611880" cy="365760"/>
          </a:xfrm>
          <a:prstGeom prst="rect">
            <a:avLst/>
          </a:prstGeom>
          <a:noFill/>
          <a:ln/>
        </p:spPr>
        <p:txBody>
          <a:bodyPr wrap="square" lIns="0" tIns="0" rIns="0" bIns="0" rtlCol="0" anchor="t"/>
          <a:lstStyle/>
          <a:p>
            <a:pPr indent="0" marL="0">
              <a:buNone/>
            </a:pPr>
            <a:r>
              <a:rPr lang="en-US" sz="1600" b="1" dirty="0">
                <a:solidFill>
                  <a:srgbClr val="B5452F"/>
                </a:solidFill>
                <a:latin typeface="Arial" pitchFamily="34" charset="0"/>
                <a:ea typeface="Arial" pitchFamily="34" charset="-122"/>
                <a:cs typeface="Arial" pitchFamily="34" charset="-120"/>
              </a:rPr>
              <a:t>Changed bank details</a:t>
            </a:r>
            <a:endParaRPr lang="en-US" sz="1600" dirty="0"/>
          </a:p>
        </p:txBody>
      </p:sp>
      <p:sp>
        <p:nvSpPr>
          <p:cNvPr id="38" name="Text 36"/>
          <p:cNvSpPr txBox="1"/>
          <p:nvPr/>
        </p:nvSpPr>
        <p:spPr>
          <a:xfrm>
            <a:off x="7863840" y="3209544"/>
            <a:ext cx="3611880" cy="45720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New account in a country unrelated to a Taiwanese supplier</a:t>
            </a:r>
            <a:endParaRPr lang="en-US" sz="1300" dirty="0"/>
          </a:p>
        </p:txBody>
      </p:sp>
      <p:sp>
        <p:nvSpPr>
          <p:cNvPr id="39" name="Shape 37"/>
          <p:cNvSpPr/>
          <p:nvPr/>
        </p:nvSpPr>
        <p:spPr>
          <a:xfrm>
            <a:off x="7178040" y="3895344"/>
            <a:ext cx="4462272" cy="1051560"/>
          </a:xfrm>
          <a:prstGeom prst="roundRect">
            <a:avLst>
              <a:gd name="adj" fmla="val 8696"/>
            </a:avLst>
          </a:prstGeom>
          <a:solidFill>
            <a:srgbClr val="FFFFFF"/>
          </a:solidFill>
          <a:ln w="9525">
            <a:solidFill>
              <a:srgbClr val="D8D2C4"/>
            </a:solidFill>
            <a:prstDash val="solid"/>
          </a:ln>
        </p:spPr>
      </p:sp>
      <p:sp>
        <p:nvSpPr>
          <p:cNvPr id="40" name="Shape 38"/>
          <p:cNvSpPr/>
          <p:nvPr/>
        </p:nvSpPr>
        <p:spPr>
          <a:xfrm>
            <a:off x="7388352" y="4078224"/>
            <a:ext cx="329184" cy="329184"/>
          </a:xfrm>
          <a:prstGeom prst="ellipse">
            <a:avLst/>
          </a:prstGeom>
          <a:solidFill>
            <a:srgbClr val="B5452F"/>
          </a:solidFill>
          <a:ln w="12700">
            <a:solidFill>
              <a:srgbClr val="B5452F"/>
            </a:solidFill>
            <a:prstDash val="solid"/>
          </a:ln>
        </p:spPr>
      </p:sp>
      <p:sp>
        <p:nvSpPr>
          <p:cNvPr id="41" name="Text 39"/>
          <p:cNvSpPr txBox="1"/>
          <p:nvPr/>
        </p:nvSpPr>
        <p:spPr>
          <a:xfrm>
            <a:off x="7388352" y="40782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2" name="Text 40"/>
          <p:cNvSpPr txBox="1"/>
          <p:nvPr/>
        </p:nvSpPr>
        <p:spPr>
          <a:xfrm>
            <a:off x="7863840" y="4059936"/>
            <a:ext cx="3611880" cy="365760"/>
          </a:xfrm>
          <a:prstGeom prst="rect">
            <a:avLst/>
          </a:prstGeom>
          <a:noFill/>
          <a:ln/>
        </p:spPr>
        <p:txBody>
          <a:bodyPr wrap="square" lIns="0" tIns="0" rIns="0" bIns="0" rtlCol="0" anchor="t"/>
          <a:lstStyle/>
          <a:p>
            <a:pPr indent="0" marL="0">
              <a:buNone/>
            </a:pPr>
            <a:r>
              <a:rPr lang="en-US" sz="1600" b="1" dirty="0">
                <a:solidFill>
                  <a:srgbClr val="B5452F"/>
                </a:solidFill>
                <a:latin typeface="Arial" pitchFamily="34" charset="0"/>
                <a:ea typeface="Arial" pitchFamily="34" charset="-122"/>
                <a:cs typeface="Arial" pitchFamily="34" charset="-120"/>
              </a:rPr>
              <a:t>Manufactured urgency</a:t>
            </a:r>
            <a:endParaRPr lang="en-US" sz="1600" dirty="0"/>
          </a:p>
        </p:txBody>
      </p:sp>
      <p:sp>
        <p:nvSpPr>
          <p:cNvPr id="43" name="Text 41"/>
          <p:cNvSpPr txBox="1"/>
          <p:nvPr/>
        </p:nvSpPr>
        <p:spPr>
          <a:xfrm>
            <a:off x="7863840" y="4425696"/>
            <a:ext cx="3611880" cy="45720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Deadline pressure discourages verification</a:t>
            </a:r>
            <a:endParaRPr lang="en-US" sz="1300" dirty="0"/>
          </a:p>
        </p:txBody>
      </p:sp>
      <p:sp>
        <p:nvSpPr>
          <p:cNvPr id="44" name="Shape 42"/>
          <p:cNvSpPr/>
          <p:nvPr/>
        </p:nvSpPr>
        <p:spPr>
          <a:xfrm>
            <a:off x="7178040" y="5111496"/>
            <a:ext cx="4462272" cy="1051560"/>
          </a:xfrm>
          <a:prstGeom prst="roundRect">
            <a:avLst>
              <a:gd name="adj" fmla="val 8696"/>
            </a:avLst>
          </a:prstGeom>
          <a:solidFill>
            <a:srgbClr val="E6EDE8"/>
          </a:solidFill>
          <a:ln w="12700">
            <a:solidFill>
              <a:srgbClr val="E6EDE8"/>
            </a:solidFill>
            <a:prstDash val="solid"/>
          </a:ln>
        </p:spPr>
      </p:sp>
      <p:sp>
        <p:nvSpPr>
          <p:cNvPr id="45" name="Shape 43"/>
          <p:cNvSpPr/>
          <p:nvPr/>
        </p:nvSpPr>
        <p:spPr>
          <a:xfrm>
            <a:off x="7388352" y="5294376"/>
            <a:ext cx="329184" cy="329184"/>
          </a:xfrm>
          <a:prstGeom prst="ellipse">
            <a:avLst/>
          </a:prstGeom>
          <a:solidFill>
            <a:srgbClr val="1F6F6B"/>
          </a:solidFill>
          <a:ln w="12700">
            <a:solidFill>
              <a:srgbClr val="1F6F6B"/>
            </a:solidFill>
            <a:prstDash val="solid"/>
          </a:ln>
        </p:spPr>
      </p:sp>
      <p:sp>
        <p:nvSpPr>
          <p:cNvPr id="46" name="Text 44"/>
          <p:cNvSpPr txBox="1"/>
          <p:nvPr/>
        </p:nvSpPr>
        <p:spPr>
          <a:xfrm>
            <a:off x="7388352" y="52943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7" name="Text 45"/>
          <p:cNvSpPr txBox="1"/>
          <p:nvPr/>
        </p:nvSpPr>
        <p:spPr>
          <a:xfrm>
            <a:off x="7863840" y="5276088"/>
            <a:ext cx="3611880" cy="365760"/>
          </a:xfrm>
          <a:prstGeom prst="rect">
            <a:avLst/>
          </a:prstGeom>
          <a:noFill/>
          <a:ln/>
        </p:spPr>
        <p:txBody>
          <a:bodyPr wrap="square" lIns="0" tIns="0" rIns="0" bIns="0" rtlCol="0" anchor="t"/>
          <a:lstStyle/>
          <a:p>
            <a:pPr indent="0" marL="0">
              <a:buNone/>
            </a:pPr>
            <a:r>
              <a:rPr lang="en-US" sz="1600" b="1" dirty="0">
                <a:solidFill>
                  <a:srgbClr val="1F6F6B"/>
                </a:solidFill>
                <a:latin typeface="Arial" pitchFamily="34" charset="0"/>
                <a:ea typeface="Arial" pitchFamily="34" charset="-122"/>
                <a:cs typeface="Arial" pitchFamily="34" charset="-120"/>
              </a:rPr>
              <a:t>Nothing technically malicious</a:t>
            </a:r>
            <a:endParaRPr lang="en-US" sz="1600" dirty="0"/>
          </a:p>
        </p:txBody>
      </p:sp>
      <p:sp>
        <p:nvSpPr>
          <p:cNvPr id="48" name="Text 46"/>
          <p:cNvSpPr txBox="1"/>
          <p:nvPr/>
        </p:nvSpPr>
        <p:spPr>
          <a:xfrm>
            <a:off x="7863840" y="5641848"/>
            <a:ext cx="3611880" cy="45720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Clean PDF, no links, so spam and antivirus filters pass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Why it worked: trust, not technology</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VIVAAN</a:t>
            </a:r>
            <a:endParaRPr lang="en-US" sz="1000" dirty="0"/>
          </a:p>
        </p:txBody>
      </p:sp>
      <p:sp>
        <p:nvSpPr>
          <p:cNvPr id="5" name="Shape 3"/>
          <p:cNvSpPr/>
          <p:nvPr/>
        </p:nvSpPr>
        <p:spPr>
          <a:xfrm>
            <a:off x="548640" y="1463040"/>
            <a:ext cx="5449824" cy="1874520"/>
          </a:xfrm>
          <a:prstGeom prst="roundRect">
            <a:avLst>
              <a:gd name="adj" fmla="val 4878"/>
            </a:avLst>
          </a:prstGeom>
          <a:solidFill>
            <a:srgbClr val="FFFFFF"/>
          </a:solidFill>
          <a:ln w="9525">
            <a:solidFill>
              <a:srgbClr val="D8D2C4"/>
            </a:solidFill>
            <a:prstDash val="solid"/>
          </a:ln>
        </p:spPr>
      </p:sp>
      <p:sp>
        <p:nvSpPr>
          <p:cNvPr id="6" name="Shape 4"/>
          <p:cNvSpPr/>
          <p:nvPr/>
        </p:nvSpPr>
        <p:spPr>
          <a:xfrm>
            <a:off x="868680" y="1965960"/>
            <a:ext cx="868680" cy="868680"/>
          </a:xfrm>
          <a:prstGeom prst="ellipse">
            <a:avLst/>
          </a:prstGeom>
          <a:solidFill>
            <a:srgbClr val="1F6F6B"/>
          </a:solidFill>
          <a:ln w="12700">
            <a:solidFill>
              <a:srgbClr val="1F6F6B"/>
            </a:solidFill>
            <a:prstDash val="solid"/>
          </a:ln>
        </p:spPr>
      </p:sp>
      <p:pic>
        <p:nvPicPr>
          <p:cNvPr id="7" name="Image 0" descr="preencoded.png">    </p:cNvPr>
          <p:cNvPicPr>
            <a:picLocks noChangeAspect="1"/>
          </p:cNvPicPr>
          <p:nvPr/>
        </p:nvPicPr>
        <p:blipFill>
          <a:blip r:embed="rId1"/>
          <a:stretch>
            <a:fillRect/>
          </a:stretch>
        </p:blipFill>
        <p:spPr>
          <a:xfrm>
            <a:off x="1103224" y="2200504"/>
            <a:ext cx="399593" cy="399593"/>
          </a:xfrm>
          <a:prstGeom prst="rect">
            <a:avLst/>
          </a:prstGeom>
        </p:spPr>
      </p:pic>
      <p:sp>
        <p:nvSpPr>
          <p:cNvPr id="8" name="Text 5"/>
          <p:cNvSpPr txBox="1"/>
          <p:nvPr/>
        </p:nvSpPr>
        <p:spPr>
          <a:xfrm>
            <a:off x="2011680" y="1874520"/>
            <a:ext cx="3749040" cy="411480"/>
          </a:xfrm>
          <a:prstGeom prst="rect">
            <a:avLst/>
          </a:prstGeom>
          <a:noFill/>
          <a:ln/>
        </p:spPr>
        <p:txBody>
          <a:bodyPr wrap="square" lIns="0" tIns="0" rIns="0" bIns="0" rtlCol="0" anchor="t"/>
          <a:lstStyle/>
          <a:p>
            <a:pPr indent="0" marL="0">
              <a:buNone/>
            </a:pPr>
            <a:r>
              <a:rPr lang="en-US" sz="1800" b="1" dirty="0">
                <a:solidFill>
                  <a:srgbClr val="1B2A3A"/>
                </a:solidFill>
                <a:latin typeface="Arial" pitchFamily="34" charset="0"/>
                <a:ea typeface="Arial" pitchFamily="34" charset="-122"/>
                <a:cs typeface="Arial" pitchFamily="34" charset="-120"/>
              </a:rPr>
              <a:t>Exploited a real relationship</a:t>
            </a:r>
            <a:endParaRPr lang="en-US" sz="1800" dirty="0"/>
          </a:p>
        </p:txBody>
      </p:sp>
      <p:sp>
        <p:nvSpPr>
          <p:cNvPr id="9" name="Text 6"/>
          <p:cNvSpPr txBox="1"/>
          <p:nvPr/>
        </p:nvSpPr>
        <p:spPr>
          <a:xfrm>
            <a:off x="2011680" y="2331720"/>
            <a:ext cx="3749040" cy="822960"/>
          </a:xfrm>
          <a:prstGeom prst="rect">
            <a:avLst/>
          </a:prstGeom>
          <a:noFill/>
          <a:ln/>
        </p:spPr>
        <p:txBody>
          <a:bodyPr wrap="square" lIns="0" tIns="0" rIns="0" bIns="0" rtlCol="0" anchor="t"/>
          <a:lstStyle/>
          <a:p>
            <a:pPr indent="0" marL="0">
              <a:buNone/>
            </a:pPr>
            <a:r>
              <a:rPr lang="en-US" sz="1500" dirty="0">
                <a:solidFill>
                  <a:srgbClr val="4F5E6B"/>
                </a:solidFill>
                <a:latin typeface="Arial" pitchFamily="34" charset="0"/>
                <a:ea typeface="Arial" pitchFamily="34" charset="-122"/>
                <a:cs typeface="Arial" pitchFamily="34" charset="-120"/>
              </a:rPr>
              <a:t>Quanta genuinely billed both firms, so multi-million-dollar invoices looked routine.</a:t>
            </a:r>
            <a:endParaRPr lang="en-US" sz="1500" dirty="0"/>
          </a:p>
        </p:txBody>
      </p:sp>
      <p:sp>
        <p:nvSpPr>
          <p:cNvPr id="10" name="Shape 7"/>
          <p:cNvSpPr/>
          <p:nvPr/>
        </p:nvSpPr>
        <p:spPr>
          <a:xfrm>
            <a:off x="6190488" y="1463040"/>
            <a:ext cx="5449824" cy="1874520"/>
          </a:xfrm>
          <a:prstGeom prst="roundRect">
            <a:avLst>
              <a:gd name="adj" fmla="val 4878"/>
            </a:avLst>
          </a:prstGeom>
          <a:solidFill>
            <a:srgbClr val="FFFFFF"/>
          </a:solidFill>
          <a:ln w="9525">
            <a:solidFill>
              <a:srgbClr val="D8D2C4"/>
            </a:solidFill>
            <a:prstDash val="solid"/>
          </a:ln>
        </p:spPr>
      </p:sp>
      <p:sp>
        <p:nvSpPr>
          <p:cNvPr id="11" name="Shape 8"/>
          <p:cNvSpPr/>
          <p:nvPr/>
        </p:nvSpPr>
        <p:spPr>
          <a:xfrm>
            <a:off x="6510528" y="1965960"/>
            <a:ext cx="868680" cy="868680"/>
          </a:xfrm>
          <a:prstGeom prst="ellipse">
            <a:avLst/>
          </a:prstGeom>
          <a:solidFill>
            <a:srgbClr val="1F6F6B"/>
          </a:solidFill>
          <a:ln w="12700">
            <a:solidFill>
              <a:srgbClr val="1F6F6B"/>
            </a:solidFill>
            <a:prstDash val="solid"/>
          </a:ln>
        </p:spPr>
      </p:sp>
      <p:pic>
        <p:nvPicPr>
          <p:cNvPr id="12" name="Image 1" descr="preencoded.png">    </p:cNvPr>
          <p:cNvPicPr>
            <a:picLocks noChangeAspect="1"/>
          </p:cNvPicPr>
          <p:nvPr/>
        </p:nvPicPr>
        <p:blipFill>
          <a:blip r:embed="rId2"/>
          <a:stretch>
            <a:fillRect/>
          </a:stretch>
        </p:blipFill>
        <p:spPr>
          <a:xfrm>
            <a:off x="6745072" y="2200504"/>
            <a:ext cx="399593" cy="399593"/>
          </a:xfrm>
          <a:prstGeom prst="rect">
            <a:avLst/>
          </a:prstGeom>
        </p:spPr>
      </p:pic>
      <p:sp>
        <p:nvSpPr>
          <p:cNvPr id="13" name="Text 9"/>
          <p:cNvSpPr txBox="1"/>
          <p:nvPr/>
        </p:nvSpPr>
        <p:spPr>
          <a:xfrm>
            <a:off x="7653528" y="1874520"/>
            <a:ext cx="3749040" cy="411480"/>
          </a:xfrm>
          <a:prstGeom prst="rect">
            <a:avLst/>
          </a:prstGeom>
          <a:noFill/>
          <a:ln/>
        </p:spPr>
        <p:txBody>
          <a:bodyPr wrap="square" lIns="0" tIns="0" rIns="0" bIns="0" rtlCol="0" anchor="t"/>
          <a:lstStyle/>
          <a:p>
            <a:pPr indent="0" marL="0">
              <a:buNone/>
            </a:pPr>
            <a:r>
              <a:rPr lang="en-US" sz="1800" b="1" dirty="0">
                <a:solidFill>
                  <a:srgbClr val="1B2A3A"/>
                </a:solidFill>
                <a:latin typeface="Arial" pitchFamily="34" charset="0"/>
                <a:ea typeface="Arial" pitchFamily="34" charset="-122"/>
                <a:cs typeface="Arial" pitchFamily="34" charset="-120"/>
              </a:rPr>
              <a:t>Nothing for filters to catch</a:t>
            </a:r>
            <a:endParaRPr lang="en-US" sz="1800" dirty="0"/>
          </a:p>
        </p:txBody>
      </p:sp>
      <p:sp>
        <p:nvSpPr>
          <p:cNvPr id="14" name="Text 10"/>
          <p:cNvSpPr txBox="1"/>
          <p:nvPr/>
        </p:nvSpPr>
        <p:spPr>
          <a:xfrm>
            <a:off x="7653528" y="2331720"/>
            <a:ext cx="3749040" cy="822960"/>
          </a:xfrm>
          <a:prstGeom prst="rect">
            <a:avLst/>
          </a:prstGeom>
          <a:noFill/>
          <a:ln/>
        </p:spPr>
        <p:txBody>
          <a:bodyPr wrap="square" lIns="0" tIns="0" rIns="0" bIns="0" rtlCol="0" anchor="t"/>
          <a:lstStyle/>
          <a:p>
            <a:pPr indent="0" marL="0">
              <a:buNone/>
            </a:pPr>
            <a:r>
              <a:rPr lang="en-US" sz="1500" dirty="0">
                <a:solidFill>
                  <a:srgbClr val="4F5E6B"/>
                </a:solidFill>
                <a:latin typeface="Arial" pitchFamily="34" charset="0"/>
                <a:ea typeface="Arial" pitchFamily="34" charset="-122"/>
                <a:cs typeface="Arial" pitchFamily="34" charset="-120"/>
              </a:rPr>
              <a:t>No malware and no phishing links. Security tools had no payload to block.</a:t>
            </a:r>
            <a:endParaRPr lang="en-US" sz="1500" dirty="0"/>
          </a:p>
        </p:txBody>
      </p:sp>
      <p:sp>
        <p:nvSpPr>
          <p:cNvPr id="15" name="Shape 11"/>
          <p:cNvSpPr/>
          <p:nvPr/>
        </p:nvSpPr>
        <p:spPr>
          <a:xfrm>
            <a:off x="548640" y="3566160"/>
            <a:ext cx="5449824" cy="1874520"/>
          </a:xfrm>
          <a:prstGeom prst="roundRect">
            <a:avLst>
              <a:gd name="adj" fmla="val 4878"/>
            </a:avLst>
          </a:prstGeom>
          <a:solidFill>
            <a:srgbClr val="FFFFFF"/>
          </a:solidFill>
          <a:ln w="9525">
            <a:solidFill>
              <a:srgbClr val="D8D2C4"/>
            </a:solidFill>
            <a:prstDash val="solid"/>
          </a:ln>
        </p:spPr>
      </p:sp>
      <p:sp>
        <p:nvSpPr>
          <p:cNvPr id="16" name="Shape 12"/>
          <p:cNvSpPr/>
          <p:nvPr/>
        </p:nvSpPr>
        <p:spPr>
          <a:xfrm>
            <a:off x="868680" y="4069080"/>
            <a:ext cx="868680" cy="868680"/>
          </a:xfrm>
          <a:prstGeom prst="ellipse">
            <a:avLst/>
          </a:prstGeom>
          <a:solidFill>
            <a:srgbClr val="1F6F6B"/>
          </a:solidFill>
          <a:ln w="12700">
            <a:solidFill>
              <a:srgbClr val="1F6F6B"/>
            </a:solidFill>
            <a:prstDash val="solid"/>
          </a:ln>
        </p:spPr>
      </p:sp>
      <p:pic>
        <p:nvPicPr>
          <p:cNvPr id="17" name="Image 2" descr="preencoded.png">    </p:cNvPr>
          <p:cNvPicPr>
            <a:picLocks noChangeAspect="1"/>
          </p:cNvPicPr>
          <p:nvPr/>
        </p:nvPicPr>
        <p:blipFill>
          <a:blip r:embed="rId3"/>
          <a:stretch>
            <a:fillRect/>
          </a:stretch>
        </p:blipFill>
        <p:spPr>
          <a:xfrm>
            <a:off x="1103224" y="4303624"/>
            <a:ext cx="399593" cy="399593"/>
          </a:xfrm>
          <a:prstGeom prst="rect">
            <a:avLst/>
          </a:prstGeom>
        </p:spPr>
      </p:pic>
      <p:sp>
        <p:nvSpPr>
          <p:cNvPr id="18" name="Text 13"/>
          <p:cNvSpPr txBox="1"/>
          <p:nvPr/>
        </p:nvSpPr>
        <p:spPr>
          <a:xfrm>
            <a:off x="2011680" y="3977640"/>
            <a:ext cx="3749040" cy="411480"/>
          </a:xfrm>
          <a:prstGeom prst="rect">
            <a:avLst/>
          </a:prstGeom>
          <a:noFill/>
          <a:ln/>
        </p:spPr>
        <p:txBody>
          <a:bodyPr wrap="square" lIns="0" tIns="0" rIns="0" bIns="0" rtlCol="0" anchor="t"/>
          <a:lstStyle/>
          <a:p>
            <a:pPr indent="0" marL="0">
              <a:buNone/>
            </a:pPr>
            <a:r>
              <a:rPr lang="en-US" sz="1800" b="1" dirty="0">
                <a:solidFill>
                  <a:srgbClr val="1B2A3A"/>
                </a:solidFill>
                <a:latin typeface="Arial" pitchFamily="34" charset="0"/>
                <a:ea typeface="Arial" pitchFamily="34" charset="-122"/>
                <a:cs typeface="Arial" pitchFamily="34" charset="-120"/>
              </a:rPr>
              <a:t>Forged paper trail</a:t>
            </a:r>
            <a:endParaRPr lang="en-US" sz="1800" dirty="0"/>
          </a:p>
        </p:txBody>
      </p:sp>
      <p:sp>
        <p:nvSpPr>
          <p:cNvPr id="19" name="Text 14"/>
          <p:cNvSpPr txBox="1"/>
          <p:nvPr/>
        </p:nvSpPr>
        <p:spPr>
          <a:xfrm>
            <a:off x="2011680" y="4434840"/>
            <a:ext cx="3749040" cy="822960"/>
          </a:xfrm>
          <a:prstGeom prst="rect">
            <a:avLst/>
          </a:prstGeom>
          <a:noFill/>
          <a:ln/>
        </p:spPr>
        <p:txBody>
          <a:bodyPr wrap="square" lIns="0" tIns="0" rIns="0" bIns="0" rtlCol="0" anchor="t"/>
          <a:lstStyle/>
          <a:p>
            <a:pPr indent="0" marL="0">
              <a:buNone/>
            </a:pPr>
            <a:r>
              <a:rPr lang="en-US" sz="1500" dirty="0">
                <a:solidFill>
                  <a:srgbClr val="4F5E6B"/>
                </a:solidFill>
                <a:latin typeface="Arial" pitchFamily="34" charset="0"/>
                <a:ea typeface="Arial" pitchFamily="34" charset="-122"/>
                <a:cs typeface="Arial" pitchFamily="34" charset="-120"/>
              </a:rPr>
              <a:t>Contracts, letters and invoices with forged signatures and stamps reassured the banks.</a:t>
            </a:r>
            <a:endParaRPr lang="en-US" sz="1500" dirty="0"/>
          </a:p>
        </p:txBody>
      </p:sp>
      <p:sp>
        <p:nvSpPr>
          <p:cNvPr id="20" name="Shape 15"/>
          <p:cNvSpPr/>
          <p:nvPr/>
        </p:nvSpPr>
        <p:spPr>
          <a:xfrm>
            <a:off x="6190488" y="3566160"/>
            <a:ext cx="5449824" cy="1874520"/>
          </a:xfrm>
          <a:prstGeom prst="roundRect">
            <a:avLst>
              <a:gd name="adj" fmla="val 4878"/>
            </a:avLst>
          </a:prstGeom>
          <a:solidFill>
            <a:srgbClr val="FFFFFF"/>
          </a:solidFill>
          <a:ln w="9525">
            <a:solidFill>
              <a:srgbClr val="D8D2C4"/>
            </a:solidFill>
            <a:prstDash val="solid"/>
          </a:ln>
        </p:spPr>
      </p:sp>
      <p:sp>
        <p:nvSpPr>
          <p:cNvPr id="21" name="Shape 16"/>
          <p:cNvSpPr/>
          <p:nvPr/>
        </p:nvSpPr>
        <p:spPr>
          <a:xfrm>
            <a:off x="6510528" y="4069080"/>
            <a:ext cx="868680" cy="868680"/>
          </a:xfrm>
          <a:prstGeom prst="ellipse">
            <a:avLst/>
          </a:prstGeom>
          <a:solidFill>
            <a:srgbClr val="B5452F"/>
          </a:solidFill>
          <a:ln w="12700">
            <a:solidFill>
              <a:srgbClr val="B5452F"/>
            </a:solidFill>
            <a:prstDash val="solid"/>
          </a:ln>
        </p:spPr>
      </p:sp>
      <p:pic>
        <p:nvPicPr>
          <p:cNvPr id="22" name="Image 3" descr="preencoded.png">    </p:cNvPr>
          <p:cNvPicPr>
            <a:picLocks noChangeAspect="1"/>
          </p:cNvPicPr>
          <p:nvPr/>
        </p:nvPicPr>
        <p:blipFill>
          <a:blip r:embed="rId4"/>
          <a:stretch>
            <a:fillRect/>
          </a:stretch>
        </p:blipFill>
        <p:spPr>
          <a:xfrm>
            <a:off x="6745072" y="4303624"/>
            <a:ext cx="399593" cy="399593"/>
          </a:xfrm>
          <a:prstGeom prst="rect">
            <a:avLst/>
          </a:prstGeom>
        </p:spPr>
      </p:pic>
      <p:sp>
        <p:nvSpPr>
          <p:cNvPr id="23" name="Text 17"/>
          <p:cNvSpPr txBox="1"/>
          <p:nvPr/>
        </p:nvSpPr>
        <p:spPr>
          <a:xfrm>
            <a:off x="7653528" y="3977640"/>
            <a:ext cx="3749040" cy="411480"/>
          </a:xfrm>
          <a:prstGeom prst="rect">
            <a:avLst/>
          </a:prstGeom>
          <a:noFill/>
          <a:ln/>
        </p:spPr>
        <p:txBody>
          <a:bodyPr wrap="square" lIns="0" tIns="0" rIns="0" bIns="0" rtlCol="0" anchor="t"/>
          <a:lstStyle/>
          <a:p>
            <a:pPr indent="0" marL="0">
              <a:buNone/>
            </a:pPr>
            <a:r>
              <a:rPr lang="en-US" sz="1800" b="1" dirty="0">
                <a:solidFill>
                  <a:srgbClr val="1B2A3A"/>
                </a:solidFill>
                <a:latin typeface="Arial" pitchFamily="34" charset="0"/>
                <a:ea typeface="Arial" pitchFamily="34" charset="-122"/>
                <a:cs typeface="Arial" pitchFamily="34" charset="-120"/>
              </a:rPr>
              <a:t>Process gaps</a:t>
            </a:r>
            <a:endParaRPr lang="en-US" sz="1800" dirty="0"/>
          </a:p>
        </p:txBody>
      </p:sp>
      <p:sp>
        <p:nvSpPr>
          <p:cNvPr id="24" name="Text 18"/>
          <p:cNvSpPr txBox="1"/>
          <p:nvPr/>
        </p:nvSpPr>
        <p:spPr>
          <a:xfrm>
            <a:off x="7653528" y="4434840"/>
            <a:ext cx="3749040" cy="822960"/>
          </a:xfrm>
          <a:prstGeom prst="rect">
            <a:avLst/>
          </a:prstGeom>
          <a:noFill/>
          <a:ln/>
        </p:spPr>
        <p:txBody>
          <a:bodyPr wrap="square" lIns="0" tIns="0" rIns="0" bIns="0" rtlCol="0" anchor="t"/>
          <a:lstStyle/>
          <a:p>
            <a:pPr indent="0" marL="0">
              <a:buNone/>
            </a:pPr>
            <a:r>
              <a:rPr lang="en-US" sz="1500" dirty="0">
                <a:solidFill>
                  <a:srgbClr val="4F5E6B"/>
                </a:solidFill>
                <a:latin typeface="Arial" pitchFamily="34" charset="0"/>
                <a:ea typeface="Arial" pitchFamily="34" charset="-122"/>
                <a:cs typeface="Arial" pitchFamily="34" charset="-120"/>
              </a:rPr>
              <a:t>No mandatory call-back to confirm bank changes, and the payee name matched.</a:t>
            </a:r>
            <a:endParaRPr lang="en-US" sz="1500" dirty="0"/>
          </a:p>
        </p:txBody>
      </p:sp>
      <p:sp>
        <p:nvSpPr>
          <p:cNvPr id="25" name="Shape 19"/>
          <p:cNvSpPr/>
          <p:nvPr/>
        </p:nvSpPr>
        <p:spPr>
          <a:xfrm>
            <a:off x="548640" y="5715000"/>
            <a:ext cx="11091672" cy="548640"/>
          </a:xfrm>
          <a:prstGeom prst="roundRect">
            <a:avLst>
              <a:gd name="adj" fmla="val 16667"/>
            </a:avLst>
          </a:prstGeom>
          <a:solidFill>
            <a:srgbClr val="E6EDE8"/>
          </a:solidFill>
          <a:ln w="12700">
            <a:solidFill>
              <a:srgbClr val="E6EDE8"/>
            </a:solidFill>
            <a:prstDash val="solid"/>
          </a:ln>
        </p:spPr>
      </p:sp>
      <p:sp>
        <p:nvSpPr>
          <p:cNvPr id="26" name="Text 20"/>
          <p:cNvSpPr txBox="1"/>
          <p:nvPr/>
        </p:nvSpPr>
        <p:spPr>
          <a:xfrm>
            <a:off x="822960" y="5715000"/>
            <a:ext cx="10607040" cy="548640"/>
          </a:xfrm>
          <a:prstGeom prst="rect">
            <a:avLst/>
          </a:prstGeom>
          <a:noFill/>
          <a:ln/>
        </p:spPr>
        <p:txBody>
          <a:bodyPr wrap="square" lIns="0" tIns="0" rIns="0" bIns="0" rtlCol="0" anchor="ctr"/>
          <a:lstStyle/>
          <a:p>
            <a:pPr indent="0" marL="0">
              <a:buNone/>
            </a:pPr>
            <a:r>
              <a:rPr lang="en-US" sz="1500" b="1" i="1" dirty="0">
                <a:solidFill>
                  <a:srgbClr val="1F6F6B"/>
                </a:solidFill>
                <a:latin typeface="Arial" pitchFamily="34" charset="0"/>
                <a:ea typeface="Arial" pitchFamily="34" charset="-122"/>
                <a:cs typeface="Arial" pitchFamily="34" charset="-120"/>
              </a:rPr>
              <a:t>The weakest point wasn't the firewall. It was trust.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Following the money, then the man</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VIVAAN</a:t>
            </a:r>
            <a:endParaRPr lang="en-US" sz="1000" dirty="0"/>
          </a:p>
        </p:txBody>
      </p:sp>
      <p:sp>
        <p:nvSpPr>
          <p:cNvPr id="5" name="Shape 3"/>
          <p:cNvSpPr/>
          <p:nvPr/>
        </p:nvSpPr>
        <p:spPr>
          <a:xfrm>
            <a:off x="548640" y="1463040"/>
            <a:ext cx="5760720" cy="4754880"/>
          </a:xfrm>
          <a:prstGeom prst="roundRect">
            <a:avLst>
              <a:gd name="adj" fmla="val 1923"/>
            </a:avLst>
          </a:prstGeom>
          <a:solidFill>
            <a:srgbClr val="FFFFFF"/>
          </a:solidFill>
          <a:ln w="9525">
            <a:solidFill>
              <a:srgbClr val="D8D2C4"/>
            </a:solidFill>
            <a:prstDash val="solid"/>
          </a:ln>
        </p:spPr>
      </p:sp>
      <p:sp>
        <p:nvSpPr>
          <p:cNvPr id="6" name="Text 4"/>
          <p:cNvSpPr txBox="1"/>
          <p:nvPr/>
        </p:nvSpPr>
        <p:spPr>
          <a:xfrm>
            <a:off x="822960" y="1645920"/>
            <a:ext cx="5212080" cy="320040"/>
          </a:xfrm>
          <a:prstGeom prst="rect">
            <a:avLst/>
          </a:prstGeom>
          <a:noFill/>
          <a:ln/>
        </p:spPr>
        <p:txBody>
          <a:bodyPr wrap="square" lIns="0" tIns="0" rIns="0" bIns="0" rtlCol="0" anchor="t"/>
          <a:lstStyle/>
          <a:p>
            <a:pPr indent="0" marL="0">
              <a:buNone/>
            </a:pPr>
            <a:r>
              <a:rPr lang="en-US" sz="1200" b="1" spc="200" kern="0" dirty="0">
                <a:solidFill>
                  <a:srgbClr val="1F6F6B"/>
                </a:solidFill>
                <a:latin typeface="Arial" pitchFamily="34" charset="0"/>
                <a:ea typeface="Arial" pitchFamily="34" charset="-122"/>
                <a:cs typeface="Arial" pitchFamily="34" charset="-120"/>
              </a:rPr>
              <a:t>THE MONEY TRAIL</a:t>
            </a:r>
            <a:endParaRPr lang="en-US" sz="1200" dirty="0"/>
          </a:p>
        </p:txBody>
      </p:sp>
      <p:sp>
        <p:nvSpPr>
          <p:cNvPr id="7" name="Shape 5"/>
          <p:cNvSpPr/>
          <p:nvPr/>
        </p:nvSpPr>
        <p:spPr>
          <a:xfrm>
            <a:off x="822960" y="2103120"/>
            <a:ext cx="5212080" cy="914400"/>
          </a:xfrm>
          <a:prstGeom prst="roundRect">
            <a:avLst>
              <a:gd name="adj" fmla="val 10000"/>
            </a:avLst>
          </a:prstGeom>
          <a:solidFill>
            <a:srgbClr val="1F6F6B"/>
          </a:solidFill>
          <a:ln w="12700">
            <a:solidFill>
              <a:srgbClr val="1F6F6B"/>
            </a:solidFill>
            <a:prstDash val="solid"/>
          </a:ln>
        </p:spPr>
      </p:sp>
      <p:sp>
        <p:nvSpPr>
          <p:cNvPr id="8" name="Text 6"/>
          <p:cNvSpPr txBox="1"/>
          <p:nvPr/>
        </p:nvSpPr>
        <p:spPr>
          <a:xfrm>
            <a:off x="1051560" y="2221992"/>
            <a:ext cx="484632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Google &amp; Facebook (USA)</a:t>
            </a:r>
            <a:endParaRPr lang="en-US" sz="1600" dirty="0"/>
          </a:p>
        </p:txBody>
      </p:sp>
      <p:sp>
        <p:nvSpPr>
          <p:cNvPr id="9" name="Text 7"/>
          <p:cNvSpPr txBox="1"/>
          <p:nvPr/>
        </p:nvSpPr>
        <p:spPr>
          <a:xfrm>
            <a:off x="1051560" y="2606040"/>
            <a:ext cx="4846320" cy="320040"/>
          </a:xfrm>
          <a:prstGeom prst="rect">
            <a:avLst/>
          </a:prstGeom>
          <a:noFill/>
          <a:ln/>
        </p:spPr>
        <p:txBody>
          <a:bodyPr wrap="square" lIns="0" tIns="0" rIns="0" bIns="0" rtlCol="0" anchor="t"/>
          <a:lstStyle/>
          <a:p>
            <a:pPr indent="0" marL="0">
              <a:buNone/>
            </a:pPr>
            <a:r>
              <a:rPr lang="en-US" sz="1300" dirty="0">
                <a:solidFill>
                  <a:srgbClr val="E8EFEA"/>
                </a:solidFill>
                <a:latin typeface="Arial" pitchFamily="34" charset="0"/>
                <a:ea typeface="Arial" pitchFamily="34" charset="-122"/>
                <a:cs typeface="Arial" pitchFamily="34" charset="-120"/>
              </a:rPr>
              <a:t>~$121M in wire transfers</a:t>
            </a:r>
            <a:endParaRPr lang="en-US" sz="1300" dirty="0"/>
          </a:p>
        </p:txBody>
      </p:sp>
      <p:sp>
        <p:nvSpPr>
          <p:cNvPr id="10" name="Shape 8"/>
          <p:cNvSpPr/>
          <p:nvPr/>
        </p:nvSpPr>
        <p:spPr>
          <a:xfrm>
            <a:off x="3429000" y="3044952"/>
            <a:ext cx="0" cy="356616"/>
          </a:xfrm>
          <a:prstGeom prst="line">
            <a:avLst/>
          </a:prstGeom>
          <a:noFill/>
          <a:ln w="19050">
            <a:solidFill>
              <a:srgbClr val="4F5E6B"/>
            </a:solidFill>
            <a:prstDash val="solid"/>
            <a:tailEnd type="triangle"/>
          </a:ln>
        </p:spPr>
      </p:sp>
      <p:sp>
        <p:nvSpPr>
          <p:cNvPr id="11" name="Shape 9"/>
          <p:cNvSpPr/>
          <p:nvPr/>
        </p:nvSpPr>
        <p:spPr>
          <a:xfrm>
            <a:off x="822960" y="3429000"/>
            <a:ext cx="5212080" cy="914400"/>
          </a:xfrm>
          <a:prstGeom prst="roundRect">
            <a:avLst>
              <a:gd name="adj" fmla="val 10000"/>
            </a:avLst>
          </a:prstGeom>
          <a:solidFill>
            <a:srgbClr val="B5452F"/>
          </a:solidFill>
          <a:ln w="12700">
            <a:solidFill>
              <a:srgbClr val="B5452F"/>
            </a:solidFill>
            <a:prstDash val="solid"/>
          </a:ln>
        </p:spPr>
      </p:sp>
      <p:sp>
        <p:nvSpPr>
          <p:cNvPr id="12" name="Text 10"/>
          <p:cNvSpPr txBox="1"/>
          <p:nvPr/>
        </p:nvSpPr>
        <p:spPr>
          <a:xfrm>
            <a:off x="1051560" y="3547872"/>
            <a:ext cx="484632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Attacker accounts: Latvia &amp; Cyprus</a:t>
            </a:r>
            <a:endParaRPr lang="en-US" sz="1600" dirty="0"/>
          </a:p>
        </p:txBody>
      </p:sp>
      <p:sp>
        <p:nvSpPr>
          <p:cNvPr id="13" name="Text 11"/>
          <p:cNvSpPr txBox="1"/>
          <p:nvPr/>
        </p:nvSpPr>
        <p:spPr>
          <a:xfrm>
            <a:off x="1051560" y="3931920"/>
            <a:ext cx="4846320" cy="320040"/>
          </a:xfrm>
          <a:prstGeom prst="rect">
            <a:avLst/>
          </a:prstGeom>
          <a:noFill/>
          <a:ln/>
        </p:spPr>
        <p:txBody>
          <a:bodyPr wrap="square" lIns="0" tIns="0" rIns="0" bIns="0" rtlCol="0" anchor="t"/>
          <a:lstStyle/>
          <a:p>
            <a:pPr indent="0" marL="0">
              <a:buNone/>
            </a:pPr>
            <a:r>
              <a:rPr lang="en-US" sz="1300" dirty="0">
                <a:solidFill>
                  <a:srgbClr val="E8EFEA"/>
                </a:solidFill>
                <a:latin typeface="Arial" pitchFamily="34" charset="0"/>
                <a:ea typeface="Arial" pitchFamily="34" charset="-122"/>
                <a:cs typeface="Arial" pitchFamily="34" charset="-120"/>
              </a:rPr>
              <a:t>Held under the fake “Quanta Computer” name</a:t>
            </a:r>
            <a:endParaRPr lang="en-US" sz="1300" dirty="0"/>
          </a:p>
        </p:txBody>
      </p:sp>
      <p:sp>
        <p:nvSpPr>
          <p:cNvPr id="14" name="Shape 12"/>
          <p:cNvSpPr/>
          <p:nvPr/>
        </p:nvSpPr>
        <p:spPr>
          <a:xfrm>
            <a:off x="3429000" y="4370832"/>
            <a:ext cx="0" cy="356616"/>
          </a:xfrm>
          <a:prstGeom prst="line">
            <a:avLst/>
          </a:prstGeom>
          <a:noFill/>
          <a:ln w="19050">
            <a:solidFill>
              <a:srgbClr val="4F5E6B"/>
            </a:solidFill>
            <a:prstDash val="solid"/>
            <a:tailEnd type="triangle"/>
          </a:ln>
        </p:spPr>
      </p:sp>
      <p:sp>
        <p:nvSpPr>
          <p:cNvPr id="15" name="Shape 13"/>
          <p:cNvSpPr/>
          <p:nvPr/>
        </p:nvSpPr>
        <p:spPr>
          <a:xfrm>
            <a:off x="822960" y="4754880"/>
            <a:ext cx="5212080" cy="914400"/>
          </a:xfrm>
          <a:prstGeom prst="roundRect">
            <a:avLst>
              <a:gd name="adj" fmla="val 10000"/>
            </a:avLst>
          </a:prstGeom>
          <a:solidFill>
            <a:srgbClr val="1E4A6B"/>
          </a:solidFill>
          <a:ln w="12700">
            <a:solidFill>
              <a:srgbClr val="1E4A6B"/>
            </a:solidFill>
            <a:prstDash val="solid"/>
          </a:ln>
        </p:spPr>
      </p:sp>
      <p:sp>
        <p:nvSpPr>
          <p:cNvPr id="16" name="Text 14"/>
          <p:cNvSpPr txBox="1"/>
          <p:nvPr/>
        </p:nvSpPr>
        <p:spPr>
          <a:xfrm>
            <a:off x="1051560" y="4873752"/>
            <a:ext cx="4846320"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Onward transfers</a:t>
            </a:r>
            <a:endParaRPr lang="en-US" sz="1600" dirty="0"/>
          </a:p>
        </p:txBody>
      </p:sp>
      <p:sp>
        <p:nvSpPr>
          <p:cNvPr id="17" name="Text 15"/>
          <p:cNvSpPr txBox="1"/>
          <p:nvPr/>
        </p:nvSpPr>
        <p:spPr>
          <a:xfrm>
            <a:off x="1051560" y="5257800"/>
            <a:ext cx="4846320" cy="320040"/>
          </a:xfrm>
          <a:prstGeom prst="rect">
            <a:avLst/>
          </a:prstGeom>
          <a:noFill/>
          <a:ln/>
        </p:spPr>
        <p:txBody>
          <a:bodyPr wrap="square" lIns="0" tIns="0" rIns="0" bIns="0" rtlCol="0" anchor="t"/>
          <a:lstStyle/>
          <a:p>
            <a:pPr indent="0" marL="0">
              <a:buNone/>
            </a:pPr>
            <a:r>
              <a:rPr lang="en-US" sz="1300" dirty="0">
                <a:solidFill>
                  <a:srgbClr val="E8EFEA"/>
                </a:solidFill>
                <a:latin typeface="Arial" pitchFamily="34" charset="0"/>
                <a:ea typeface="Arial" pitchFamily="34" charset="-122"/>
                <a:cs typeface="Arial" pitchFamily="34" charset="-120"/>
              </a:rPr>
              <a:t>Slovakia · Lithuania · Hungary · Hong Kong, and others</a:t>
            </a:r>
            <a:endParaRPr lang="en-US" sz="1300" dirty="0"/>
          </a:p>
        </p:txBody>
      </p:sp>
      <p:sp>
        <p:nvSpPr>
          <p:cNvPr id="18" name="Shape 16"/>
          <p:cNvSpPr/>
          <p:nvPr/>
        </p:nvSpPr>
        <p:spPr>
          <a:xfrm>
            <a:off x="6675120" y="1508760"/>
            <a:ext cx="731520" cy="731520"/>
          </a:xfrm>
          <a:prstGeom prst="ellipse">
            <a:avLst/>
          </a:prstGeom>
          <a:solidFill>
            <a:srgbClr val="1F6F6B"/>
          </a:solidFill>
          <a:ln w="12700">
            <a:solidFill>
              <a:srgbClr val="1F6F6B"/>
            </a:solidFill>
            <a:prstDash val="solid"/>
          </a:ln>
        </p:spPr>
      </p:sp>
      <p:pic>
        <p:nvPicPr>
          <p:cNvPr id="19" name="Image 0" descr="preencoded.png">    </p:cNvPr>
          <p:cNvPicPr>
            <a:picLocks noChangeAspect="1"/>
          </p:cNvPicPr>
          <p:nvPr/>
        </p:nvPicPr>
        <p:blipFill>
          <a:blip r:embed="rId1"/>
          <a:stretch>
            <a:fillRect/>
          </a:stretch>
        </p:blipFill>
        <p:spPr>
          <a:xfrm>
            <a:off x="6872630" y="1706270"/>
            <a:ext cx="336499" cy="336499"/>
          </a:xfrm>
          <a:prstGeom prst="rect">
            <a:avLst/>
          </a:prstGeom>
        </p:spPr>
      </p:pic>
      <p:sp>
        <p:nvSpPr>
          <p:cNvPr id="20" name="Text 17"/>
          <p:cNvSpPr txBox="1"/>
          <p:nvPr/>
        </p:nvSpPr>
        <p:spPr>
          <a:xfrm>
            <a:off x="7589520" y="1463040"/>
            <a:ext cx="4023360" cy="365760"/>
          </a:xfrm>
          <a:prstGeom prst="rect">
            <a:avLst/>
          </a:prstGeom>
          <a:noFill/>
          <a:ln/>
        </p:spPr>
        <p:txBody>
          <a:bodyPr wrap="square" lIns="0" tIns="0" rIns="0" bIns="0" rtlCol="0" anchor="t"/>
          <a:lstStyle/>
          <a:p>
            <a:pPr indent="0" marL="0">
              <a:buNone/>
            </a:pPr>
            <a:r>
              <a:rPr lang="en-US" sz="1600" b="1" dirty="0">
                <a:solidFill>
                  <a:srgbClr val="1B2A3A"/>
                </a:solidFill>
                <a:latin typeface="Arial" pitchFamily="34" charset="0"/>
                <a:ea typeface="Arial" pitchFamily="34" charset="-122"/>
                <a:cs typeface="Arial" pitchFamily="34" charset="-120"/>
              </a:rPr>
              <a:t>Charged · Mar 2017</a:t>
            </a:r>
            <a:endParaRPr lang="en-US" sz="1600" dirty="0"/>
          </a:p>
        </p:txBody>
      </p:sp>
      <p:sp>
        <p:nvSpPr>
          <p:cNvPr id="21" name="Text 18"/>
          <p:cNvSpPr txBox="1"/>
          <p:nvPr/>
        </p:nvSpPr>
        <p:spPr>
          <a:xfrm>
            <a:off x="7589520" y="1847088"/>
            <a:ext cx="402336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Wire fraud, 3 counts of money laundering, aggravated identity theft</a:t>
            </a:r>
            <a:endParaRPr lang="en-US" sz="1400" dirty="0"/>
          </a:p>
        </p:txBody>
      </p:sp>
      <p:sp>
        <p:nvSpPr>
          <p:cNvPr id="22" name="Shape 19"/>
          <p:cNvSpPr/>
          <p:nvPr/>
        </p:nvSpPr>
        <p:spPr>
          <a:xfrm>
            <a:off x="6675120" y="2715768"/>
            <a:ext cx="731520" cy="731520"/>
          </a:xfrm>
          <a:prstGeom prst="ellipse">
            <a:avLst/>
          </a:prstGeom>
          <a:solidFill>
            <a:srgbClr val="1F6F6B"/>
          </a:solidFill>
          <a:ln w="12700">
            <a:solidFill>
              <a:srgbClr val="1F6F6B"/>
            </a:solidFill>
            <a:prstDash val="solid"/>
          </a:ln>
        </p:spPr>
      </p:sp>
      <p:pic>
        <p:nvPicPr>
          <p:cNvPr id="23" name="Image 1" descr="preencoded.png">    </p:cNvPr>
          <p:cNvPicPr>
            <a:picLocks noChangeAspect="1"/>
          </p:cNvPicPr>
          <p:nvPr/>
        </p:nvPicPr>
        <p:blipFill>
          <a:blip r:embed="rId2"/>
          <a:stretch>
            <a:fillRect/>
          </a:stretch>
        </p:blipFill>
        <p:spPr>
          <a:xfrm>
            <a:off x="6872630" y="2913278"/>
            <a:ext cx="336499" cy="336499"/>
          </a:xfrm>
          <a:prstGeom prst="rect">
            <a:avLst/>
          </a:prstGeom>
        </p:spPr>
      </p:pic>
      <p:sp>
        <p:nvSpPr>
          <p:cNvPr id="24" name="Text 20"/>
          <p:cNvSpPr txBox="1"/>
          <p:nvPr/>
        </p:nvSpPr>
        <p:spPr>
          <a:xfrm>
            <a:off x="7589520" y="2670048"/>
            <a:ext cx="4023360" cy="365760"/>
          </a:xfrm>
          <a:prstGeom prst="rect">
            <a:avLst/>
          </a:prstGeom>
          <a:noFill/>
          <a:ln/>
        </p:spPr>
        <p:txBody>
          <a:bodyPr wrap="square" lIns="0" tIns="0" rIns="0" bIns="0" rtlCol="0" anchor="t"/>
          <a:lstStyle/>
          <a:p>
            <a:pPr indent="0" marL="0">
              <a:buNone/>
            </a:pPr>
            <a:r>
              <a:rPr lang="en-US" sz="1600" b="1" dirty="0">
                <a:solidFill>
                  <a:srgbClr val="1B2A3A"/>
                </a:solidFill>
                <a:latin typeface="Arial" pitchFamily="34" charset="0"/>
                <a:ea typeface="Arial" pitchFamily="34" charset="-122"/>
                <a:cs typeface="Arial" pitchFamily="34" charset="-120"/>
              </a:rPr>
              <a:t>Pleaded guilty · Mar 2019</a:t>
            </a:r>
            <a:endParaRPr lang="en-US" sz="1600" dirty="0"/>
          </a:p>
        </p:txBody>
      </p:sp>
      <p:sp>
        <p:nvSpPr>
          <p:cNvPr id="25" name="Text 21"/>
          <p:cNvSpPr txBox="1"/>
          <p:nvPr/>
        </p:nvSpPr>
        <p:spPr>
          <a:xfrm>
            <a:off x="7589520" y="3054096"/>
            <a:ext cx="402336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One count of wire fraud; agreed to forfeit $49.7M</a:t>
            </a:r>
            <a:endParaRPr lang="en-US" sz="1400" dirty="0"/>
          </a:p>
        </p:txBody>
      </p:sp>
      <p:sp>
        <p:nvSpPr>
          <p:cNvPr id="26" name="Shape 22"/>
          <p:cNvSpPr/>
          <p:nvPr/>
        </p:nvSpPr>
        <p:spPr>
          <a:xfrm>
            <a:off x="6675120" y="3922776"/>
            <a:ext cx="731520" cy="731520"/>
          </a:xfrm>
          <a:prstGeom prst="ellipse">
            <a:avLst/>
          </a:prstGeom>
          <a:solidFill>
            <a:srgbClr val="1E4A6B"/>
          </a:solidFill>
          <a:ln w="12700">
            <a:solidFill>
              <a:srgbClr val="1E4A6B"/>
            </a:solidFill>
            <a:prstDash val="solid"/>
          </a:ln>
        </p:spPr>
      </p:sp>
      <p:pic>
        <p:nvPicPr>
          <p:cNvPr id="27" name="Image 2" descr="preencoded.png">    </p:cNvPr>
          <p:cNvPicPr>
            <a:picLocks noChangeAspect="1"/>
          </p:cNvPicPr>
          <p:nvPr/>
        </p:nvPicPr>
        <p:blipFill>
          <a:blip r:embed="rId3"/>
          <a:stretch>
            <a:fillRect/>
          </a:stretch>
        </p:blipFill>
        <p:spPr>
          <a:xfrm>
            <a:off x="6872630" y="4120286"/>
            <a:ext cx="336499" cy="336499"/>
          </a:xfrm>
          <a:prstGeom prst="rect">
            <a:avLst/>
          </a:prstGeom>
        </p:spPr>
      </p:pic>
      <p:sp>
        <p:nvSpPr>
          <p:cNvPr id="28" name="Text 23"/>
          <p:cNvSpPr txBox="1"/>
          <p:nvPr/>
        </p:nvSpPr>
        <p:spPr>
          <a:xfrm>
            <a:off x="7589520" y="3877056"/>
            <a:ext cx="4023360" cy="365760"/>
          </a:xfrm>
          <a:prstGeom prst="rect">
            <a:avLst/>
          </a:prstGeom>
          <a:noFill/>
          <a:ln/>
        </p:spPr>
        <p:txBody>
          <a:bodyPr wrap="square" lIns="0" tIns="0" rIns="0" bIns="0" rtlCol="0" anchor="t"/>
          <a:lstStyle/>
          <a:p>
            <a:pPr indent="0" marL="0">
              <a:buNone/>
            </a:pPr>
            <a:r>
              <a:rPr lang="en-US" sz="1600" b="1" dirty="0">
                <a:solidFill>
                  <a:srgbClr val="1B2A3A"/>
                </a:solidFill>
                <a:latin typeface="Arial" pitchFamily="34" charset="0"/>
                <a:ea typeface="Arial" pitchFamily="34" charset="-122"/>
                <a:cs typeface="Arial" pitchFamily="34" charset="-120"/>
              </a:rPr>
              <a:t>Sentenced · Dec 2019</a:t>
            </a:r>
            <a:endParaRPr lang="en-US" sz="1600" dirty="0"/>
          </a:p>
        </p:txBody>
      </p:sp>
      <p:sp>
        <p:nvSpPr>
          <p:cNvPr id="29" name="Text 24"/>
          <p:cNvSpPr txBox="1"/>
          <p:nvPr/>
        </p:nvSpPr>
        <p:spPr>
          <a:xfrm>
            <a:off x="7589520" y="4261104"/>
            <a:ext cx="402336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5 years in U.S. federal prison (SDNY)</a:t>
            </a:r>
            <a:endParaRPr lang="en-US" sz="1400" dirty="0"/>
          </a:p>
        </p:txBody>
      </p:sp>
      <p:sp>
        <p:nvSpPr>
          <p:cNvPr id="30" name="Shape 25"/>
          <p:cNvSpPr/>
          <p:nvPr/>
        </p:nvSpPr>
        <p:spPr>
          <a:xfrm>
            <a:off x="6675120" y="5129784"/>
            <a:ext cx="731520" cy="731520"/>
          </a:xfrm>
          <a:prstGeom prst="ellipse">
            <a:avLst/>
          </a:prstGeom>
          <a:solidFill>
            <a:srgbClr val="1F6F6B"/>
          </a:solidFill>
          <a:ln w="12700">
            <a:solidFill>
              <a:srgbClr val="1F6F6B"/>
            </a:solidFill>
            <a:prstDash val="solid"/>
          </a:ln>
        </p:spPr>
      </p:sp>
      <p:pic>
        <p:nvPicPr>
          <p:cNvPr id="31" name="Image 3" descr="preencoded.png">    </p:cNvPr>
          <p:cNvPicPr>
            <a:picLocks noChangeAspect="1"/>
          </p:cNvPicPr>
          <p:nvPr/>
        </p:nvPicPr>
        <p:blipFill>
          <a:blip r:embed="rId4"/>
          <a:stretch>
            <a:fillRect/>
          </a:stretch>
        </p:blipFill>
        <p:spPr>
          <a:xfrm>
            <a:off x="6872630" y="5327294"/>
            <a:ext cx="336499" cy="336499"/>
          </a:xfrm>
          <a:prstGeom prst="rect">
            <a:avLst/>
          </a:prstGeom>
        </p:spPr>
      </p:pic>
      <p:sp>
        <p:nvSpPr>
          <p:cNvPr id="32" name="Text 26"/>
          <p:cNvSpPr txBox="1"/>
          <p:nvPr/>
        </p:nvSpPr>
        <p:spPr>
          <a:xfrm>
            <a:off x="7589520" y="5084064"/>
            <a:ext cx="4023360" cy="365760"/>
          </a:xfrm>
          <a:prstGeom prst="rect">
            <a:avLst/>
          </a:prstGeom>
          <a:noFill/>
          <a:ln/>
        </p:spPr>
        <p:txBody>
          <a:bodyPr wrap="square" lIns="0" tIns="0" rIns="0" bIns="0" rtlCol="0" anchor="t"/>
          <a:lstStyle/>
          <a:p>
            <a:pPr indent="0" marL="0">
              <a:buNone/>
            </a:pPr>
            <a:r>
              <a:rPr lang="en-US" sz="1600" b="1" dirty="0">
                <a:solidFill>
                  <a:srgbClr val="1B2A3A"/>
                </a:solidFill>
                <a:latin typeface="Arial" pitchFamily="34" charset="0"/>
                <a:ea typeface="Arial" pitchFamily="34" charset="-122"/>
                <a:cs typeface="Arial" pitchFamily="34" charset="-120"/>
              </a:rPr>
              <a:t>Recovery</a:t>
            </a:r>
            <a:endParaRPr lang="en-US" sz="1600" dirty="0"/>
          </a:p>
        </p:txBody>
      </p:sp>
      <p:sp>
        <p:nvSpPr>
          <p:cNvPr id="33" name="Text 27"/>
          <p:cNvSpPr txBox="1"/>
          <p:nvPr/>
        </p:nvSpPr>
        <p:spPr>
          <a:xfrm>
            <a:off x="7589520" y="5468112"/>
            <a:ext cx="4023360" cy="685800"/>
          </a:xfrm>
          <a:prstGeom prst="rect">
            <a:avLst/>
          </a:prstGeom>
          <a:noFill/>
          <a:ln/>
        </p:spPr>
        <p:txBody>
          <a:bodyPr wrap="square" lIns="0" tIns="0" rIns="0" bIns="0" rtlCol="0" anchor="t"/>
          <a:lstStyle/>
          <a:p>
            <a:pPr indent="0" marL="0">
              <a:buNone/>
            </a:pPr>
            <a:r>
              <a:rPr lang="en-US" sz="1400" dirty="0">
                <a:solidFill>
                  <a:srgbClr val="4F5E6B"/>
                </a:solidFill>
                <a:latin typeface="Arial" pitchFamily="34" charset="0"/>
                <a:ea typeface="Arial" pitchFamily="34" charset="-122"/>
                <a:cs typeface="Arial" pitchFamily="34" charset="-120"/>
              </a:rPr>
              <a:t>Both companies said they recovered most or all of the funds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A hybrid ML/NLP detection pipeline</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YAMAN</a:t>
            </a:r>
            <a:endParaRPr lang="en-US" sz="1000" dirty="0"/>
          </a:p>
        </p:txBody>
      </p:sp>
      <p:sp>
        <p:nvSpPr>
          <p:cNvPr id="5" name="Shape 3"/>
          <p:cNvSpPr/>
          <p:nvPr/>
        </p:nvSpPr>
        <p:spPr>
          <a:xfrm>
            <a:off x="548640" y="1463040"/>
            <a:ext cx="2039112" cy="3291840"/>
          </a:xfrm>
          <a:prstGeom prst="roundRect">
            <a:avLst>
              <a:gd name="adj" fmla="val 4484"/>
            </a:avLst>
          </a:prstGeom>
          <a:solidFill>
            <a:srgbClr val="FFFFFF"/>
          </a:solidFill>
          <a:ln w="9525">
            <a:solidFill>
              <a:srgbClr val="D8D2C4"/>
            </a:solidFill>
            <a:prstDash val="solid"/>
          </a:ln>
        </p:spPr>
      </p:sp>
      <p:sp>
        <p:nvSpPr>
          <p:cNvPr id="6" name="Shape 4"/>
          <p:cNvSpPr/>
          <p:nvPr/>
        </p:nvSpPr>
        <p:spPr>
          <a:xfrm>
            <a:off x="1161288" y="1691640"/>
            <a:ext cx="822960" cy="822960"/>
          </a:xfrm>
          <a:prstGeom prst="ellipse">
            <a:avLst/>
          </a:prstGeom>
          <a:solidFill>
            <a:srgbClr val="1F6F6B"/>
          </a:solidFill>
          <a:ln w="12700">
            <a:solidFill>
              <a:srgbClr val="1F6F6B"/>
            </a:solidFill>
            <a:prstDash val="solid"/>
          </a:ln>
        </p:spPr>
      </p:sp>
      <p:pic>
        <p:nvPicPr>
          <p:cNvPr id="7" name="Image 0" descr="preencoded.png">    </p:cNvPr>
          <p:cNvPicPr>
            <a:picLocks noChangeAspect="1"/>
          </p:cNvPicPr>
          <p:nvPr/>
        </p:nvPicPr>
        <p:blipFill>
          <a:blip r:embed="rId1"/>
          <a:stretch>
            <a:fillRect/>
          </a:stretch>
        </p:blipFill>
        <p:spPr>
          <a:xfrm>
            <a:off x="1383487" y="1913839"/>
            <a:ext cx="378562" cy="378562"/>
          </a:xfrm>
          <a:prstGeom prst="rect">
            <a:avLst/>
          </a:prstGeom>
        </p:spPr>
      </p:pic>
      <p:sp>
        <p:nvSpPr>
          <p:cNvPr id="8" name="Text 5"/>
          <p:cNvSpPr txBox="1"/>
          <p:nvPr/>
        </p:nvSpPr>
        <p:spPr>
          <a:xfrm>
            <a:off x="548640" y="269748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Data</a:t>
            </a:r>
            <a:endParaRPr lang="en-US" sz="1700" dirty="0"/>
          </a:p>
        </p:txBody>
      </p:sp>
      <p:sp>
        <p:nvSpPr>
          <p:cNvPr id="9" name="Text 6"/>
          <p:cNvSpPr txBox="1"/>
          <p:nvPr/>
        </p:nvSpPr>
        <p:spPr>
          <a:xfrm>
            <a:off x="713232" y="3154680"/>
            <a:ext cx="1709928" cy="150876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Enron (legitimate) plus Nazario &amp; SpamAssassin phishing corpora, with synthetic BEC samples</a:t>
            </a:r>
            <a:endParaRPr lang="en-US" sz="1300" dirty="0"/>
          </a:p>
        </p:txBody>
      </p:sp>
      <p:sp>
        <p:nvSpPr>
          <p:cNvPr id="10" name="Text 7"/>
          <p:cNvSpPr txBox="1"/>
          <p:nvPr/>
        </p:nvSpPr>
        <p:spPr>
          <a:xfrm>
            <a:off x="2587752" y="1920240"/>
            <a:ext cx="246888" cy="365760"/>
          </a:xfrm>
          <a:prstGeom prst="rect">
            <a:avLst/>
          </a:prstGeom>
          <a:noFill/>
          <a:ln/>
        </p:spPr>
        <p:txBody>
          <a:bodyPr wrap="square" lIns="0" tIns="0" rIns="0" bIns="0" rtlCol="0" anchor="ctr"/>
          <a:lstStyle/>
          <a:p>
            <a:pPr algn="ctr" indent="0" marL="0">
              <a:buNone/>
            </a:pPr>
            <a:r>
              <a:rPr lang="en-US" sz="2400" b="1" dirty="0">
                <a:solidFill>
                  <a:srgbClr val="1F6F6B"/>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2834640" y="1463040"/>
            <a:ext cx="2039112" cy="3291840"/>
          </a:xfrm>
          <a:prstGeom prst="roundRect">
            <a:avLst>
              <a:gd name="adj" fmla="val 4484"/>
            </a:avLst>
          </a:prstGeom>
          <a:solidFill>
            <a:srgbClr val="FFFFFF"/>
          </a:solidFill>
          <a:ln w="9525">
            <a:solidFill>
              <a:srgbClr val="D8D2C4"/>
            </a:solidFill>
            <a:prstDash val="solid"/>
          </a:ln>
        </p:spPr>
      </p:sp>
      <p:sp>
        <p:nvSpPr>
          <p:cNvPr id="12" name="Shape 9"/>
          <p:cNvSpPr/>
          <p:nvPr/>
        </p:nvSpPr>
        <p:spPr>
          <a:xfrm>
            <a:off x="3447288" y="1691640"/>
            <a:ext cx="822960" cy="822960"/>
          </a:xfrm>
          <a:prstGeom prst="ellipse">
            <a:avLst/>
          </a:prstGeom>
          <a:solidFill>
            <a:srgbClr val="1F6F6B"/>
          </a:solidFill>
          <a:ln w="12700">
            <a:solidFill>
              <a:srgbClr val="1F6F6B"/>
            </a:solidFill>
            <a:prstDash val="solid"/>
          </a:ln>
        </p:spPr>
      </p:sp>
      <p:pic>
        <p:nvPicPr>
          <p:cNvPr id="13" name="Image 1" descr="preencoded.png">    </p:cNvPr>
          <p:cNvPicPr>
            <a:picLocks noChangeAspect="1"/>
          </p:cNvPicPr>
          <p:nvPr/>
        </p:nvPicPr>
        <p:blipFill>
          <a:blip r:embed="rId2"/>
          <a:stretch>
            <a:fillRect/>
          </a:stretch>
        </p:blipFill>
        <p:spPr>
          <a:xfrm>
            <a:off x="3669487" y="1913839"/>
            <a:ext cx="378562" cy="378562"/>
          </a:xfrm>
          <a:prstGeom prst="rect">
            <a:avLst/>
          </a:prstGeom>
        </p:spPr>
      </p:pic>
      <p:sp>
        <p:nvSpPr>
          <p:cNvPr id="14" name="Text 10"/>
          <p:cNvSpPr txBox="1"/>
          <p:nvPr/>
        </p:nvSpPr>
        <p:spPr>
          <a:xfrm>
            <a:off x="2834640" y="269748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Pre-process</a:t>
            </a:r>
            <a:endParaRPr lang="en-US" sz="1700" dirty="0"/>
          </a:p>
        </p:txBody>
      </p:sp>
      <p:sp>
        <p:nvSpPr>
          <p:cNvPr id="15" name="Text 11"/>
          <p:cNvSpPr txBox="1"/>
          <p:nvPr/>
        </p:nvSpPr>
        <p:spPr>
          <a:xfrm>
            <a:off x="2999232" y="3154680"/>
            <a:ext cx="1709928" cy="150876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Parse headers; clean, tokenise and lemmatise text; extract amounts and bank entities</a:t>
            </a:r>
            <a:endParaRPr lang="en-US" sz="1300" dirty="0"/>
          </a:p>
        </p:txBody>
      </p:sp>
      <p:sp>
        <p:nvSpPr>
          <p:cNvPr id="16" name="Text 12"/>
          <p:cNvSpPr txBox="1"/>
          <p:nvPr/>
        </p:nvSpPr>
        <p:spPr>
          <a:xfrm>
            <a:off x="4873752" y="1920240"/>
            <a:ext cx="246888" cy="365760"/>
          </a:xfrm>
          <a:prstGeom prst="rect">
            <a:avLst/>
          </a:prstGeom>
          <a:noFill/>
          <a:ln/>
        </p:spPr>
        <p:txBody>
          <a:bodyPr wrap="square" lIns="0" tIns="0" rIns="0" bIns="0" rtlCol="0" anchor="ctr"/>
          <a:lstStyle/>
          <a:p>
            <a:pPr algn="ctr" indent="0" marL="0">
              <a:buNone/>
            </a:pPr>
            <a:r>
              <a:rPr lang="en-US" sz="2400" b="1" dirty="0">
                <a:solidFill>
                  <a:srgbClr val="1F6F6B"/>
                </a:solidFill>
                <a:latin typeface="Arial" pitchFamily="34" charset="0"/>
                <a:ea typeface="Arial" pitchFamily="34" charset="-122"/>
                <a:cs typeface="Arial" pitchFamily="34" charset="-120"/>
              </a:rPr>
              <a:t>›</a:t>
            </a:r>
            <a:endParaRPr lang="en-US" sz="2400" dirty="0"/>
          </a:p>
        </p:txBody>
      </p:sp>
      <p:sp>
        <p:nvSpPr>
          <p:cNvPr id="17" name="Shape 13"/>
          <p:cNvSpPr/>
          <p:nvPr/>
        </p:nvSpPr>
        <p:spPr>
          <a:xfrm>
            <a:off x="5120640" y="1463040"/>
            <a:ext cx="2039112" cy="3291840"/>
          </a:xfrm>
          <a:prstGeom prst="roundRect">
            <a:avLst>
              <a:gd name="adj" fmla="val 4484"/>
            </a:avLst>
          </a:prstGeom>
          <a:solidFill>
            <a:srgbClr val="FFFFFF"/>
          </a:solidFill>
          <a:ln w="9525">
            <a:solidFill>
              <a:srgbClr val="D8D2C4"/>
            </a:solidFill>
            <a:prstDash val="solid"/>
          </a:ln>
        </p:spPr>
      </p:sp>
      <p:sp>
        <p:nvSpPr>
          <p:cNvPr id="18" name="Shape 14"/>
          <p:cNvSpPr/>
          <p:nvPr/>
        </p:nvSpPr>
        <p:spPr>
          <a:xfrm>
            <a:off x="5733288" y="1691640"/>
            <a:ext cx="822960" cy="822960"/>
          </a:xfrm>
          <a:prstGeom prst="ellipse">
            <a:avLst/>
          </a:prstGeom>
          <a:solidFill>
            <a:srgbClr val="1F6F6B"/>
          </a:solidFill>
          <a:ln w="12700">
            <a:solidFill>
              <a:srgbClr val="1F6F6B"/>
            </a:solidFill>
            <a:prstDash val="solid"/>
          </a:ln>
        </p:spPr>
      </p:sp>
      <p:pic>
        <p:nvPicPr>
          <p:cNvPr id="19" name="Image 2" descr="preencoded.png">    </p:cNvPr>
          <p:cNvPicPr>
            <a:picLocks noChangeAspect="1"/>
          </p:cNvPicPr>
          <p:nvPr/>
        </p:nvPicPr>
        <p:blipFill>
          <a:blip r:embed="rId3"/>
          <a:stretch>
            <a:fillRect/>
          </a:stretch>
        </p:blipFill>
        <p:spPr>
          <a:xfrm>
            <a:off x="5955487" y="1913839"/>
            <a:ext cx="378562" cy="378562"/>
          </a:xfrm>
          <a:prstGeom prst="rect">
            <a:avLst/>
          </a:prstGeom>
        </p:spPr>
      </p:pic>
      <p:sp>
        <p:nvSpPr>
          <p:cNvPr id="20" name="Text 15"/>
          <p:cNvSpPr txBox="1"/>
          <p:nvPr/>
        </p:nvSpPr>
        <p:spPr>
          <a:xfrm>
            <a:off x="5120640" y="269748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Features</a:t>
            </a:r>
            <a:endParaRPr lang="en-US" sz="1700" dirty="0"/>
          </a:p>
        </p:txBody>
      </p:sp>
      <p:sp>
        <p:nvSpPr>
          <p:cNvPr id="21" name="Text 16"/>
          <p:cNvSpPr txBox="1"/>
          <p:nvPr/>
        </p:nvSpPr>
        <p:spPr>
          <a:xfrm>
            <a:off x="5285232" y="3154680"/>
            <a:ext cx="1709928" cy="150876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Header, NLP text and vendor-behaviour features</a:t>
            </a:r>
            <a:endParaRPr lang="en-US" sz="1300" dirty="0"/>
          </a:p>
        </p:txBody>
      </p:sp>
      <p:sp>
        <p:nvSpPr>
          <p:cNvPr id="22" name="Text 17"/>
          <p:cNvSpPr txBox="1"/>
          <p:nvPr/>
        </p:nvSpPr>
        <p:spPr>
          <a:xfrm>
            <a:off x="7159752" y="1920240"/>
            <a:ext cx="246888" cy="365760"/>
          </a:xfrm>
          <a:prstGeom prst="rect">
            <a:avLst/>
          </a:prstGeom>
          <a:noFill/>
          <a:ln/>
        </p:spPr>
        <p:txBody>
          <a:bodyPr wrap="square" lIns="0" tIns="0" rIns="0" bIns="0" rtlCol="0" anchor="ctr"/>
          <a:lstStyle/>
          <a:p>
            <a:pPr algn="ctr" indent="0" marL="0">
              <a:buNone/>
            </a:pPr>
            <a:r>
              <a:rPr lang="en-US" sz="2400" b="1" dirty="0">
                <a:solidFill>
                  <a:srgbClr val="1F6F6B"/>
                </a:solidFill>
                <a:latin typeface="Arial" pitchFamily="34" charset="0"/>
                <a:ea typeface="Arial" pitchFamily="34" charset="-122"/>
                <a:cs typeface="Arial" pitchFamily="34" charset="-120"/>
              </a:rPr>
              <a:t>›</a:t>
            </a:r>
            <a:endParaRPr lang="en-US" sz="2400" dirty="0"/>
          </a:p>
        </p:txBody>
      </p:sp>
      <p:sp>
        <p:nvSpPr>
          <p:cNvPr id="23" name="Shape 18"/>
          <p:cNvSpPr/>
          <p:nvPr/>
        </p:nvSpPr>
        <p:spPr>
          <a:xfrm>
            <a:off x="7406640" y="1463040"/>
            <a:ext cx="2039112" cy="3291840"/>
          </a:xfrm>
          <a:prstGeom prst="roundRect">
            <a:avLst>
              <a:gd name="adj" fmla="val 4484"/>
            </a:avLst>
          </a:prstGeom>
          <a:solidFill>
            <a:srgbClr val="FFFFFF"/>
          </a:solidFill>
          <a:ln w="9525">
            <a:solidFill>
              <a:srgbClr val="D8D2C4"/>
            </a:solidFill>
            <a:prstDash val="solid"/>
          </a:ln>
        </p:spPr>
      </p:sp>
      <p:sp>
        <p:nvSpPr>
          <p:cNvPr id="24" name="Shape 19"/>
          <p:cNvSpPr/>
          <p:nvPr/>
        </p:nvSpPr>
        <p:spPr>
          <a:xfrm>
            <a:off x="8019288" y="1691640"/>
            <a:ext cx="822960" cy="822960"/>
          </a:xfrm>
          <a:prstGeom prst="ellipse">
            <a:avLst/>
          </a:prstGeom>
          <a:solidFill>
            <a:srgbClr val="1F6F6B"/>
          </a:solidFill>
          <a:ln w="12700">
            <a:solidFill>
              <a:srgbClr val="1F6F6B"/>
            </a:solidFill>
            <a:prstDash val="solid"/>
          </a:ln>
        </p:spPr>
      </p:sp>
      <p:pic>
        <p:nvPicPr>
          <p:cNvPr id="25" name="Image 3" descr="preencoded.png">    </p:cNvPr>
          <p:cNvPicPr>
            <a:picLocks noChangeAspect="1"/>
          </p:cNvPicPr>
          <p:nvPr/>
        </p:nvPicPr>
        <p:blipFill>
          <a:blip r:embed="rId4"/>
          <a:stretch>
            <a:fillRect/>
          </a:stretch>
        </p:blipFill>
        <p:spPr>
          <a:xfrm>
            <a:off x="8241487" y="1913839"/>
            <a:ext cx="378562" cy="378562"/>
          </a:xfrm>
          <a:prstGeom prst="rect">
            <a:avLst/>
          </a:prstGeom>
        </p:spPr>
      </p:pic>
      <p:sp>
        <p:nvSpPr>
          <p:cNvPr id="26" name="Text 20"/>
          <p:cNvSpPr txBox="1"/>
          <p:nvPr/>
        </p:nvSpPr>
        <p:spPr>
          <a:xfrm>
            <a:off x="7406640" y="269748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Classify</a:t>
            </a:r>
            <a:endParaRPr lang="en-US" sz="1700" dirty="0"/>
          </a:p>
        </p:txBody>
      </p:sp>
      <p:sp>
        <p:nvSpPr>
          <p:cNvPr id="27" name="Text 21"/>
          <p:cNvSpPr txBox="1"/>
          <p:nvPr/>
        </p:nvSpPr>
        <p:spPr>
          <a:xfrm>
            <a:off x="7571232" y="3154680"/>
            <a:ext cx="1709928" cy="150876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Baseline ML models vs. a fine-tuned DistilBERT</a:t>
            </a:r>
            <a:endParaRPr lang="en-US" sz="1300" dirty="0"/>
          </a:p>
        </p:txBody>
      </p:sp>
      <p:sp>
        <p:nvSpPr>
          <p:cNvPr id="28" name="Text 22"/>
          <p:cNvSpPr txBox="1"/>
          <p:nvPr/>
        </p:nvSpPr>
        <p:spPr>
          <a:xfrm>
            <a:off x="9445752" y="1920240"/>
            <a:ext cx="246888" cy="365760"/>
          </a:xfrm>
          <a:prstGeom prst="rect">
            <a:avLst/>
          </a:prstGeom>
          <a:noFill/>
          <a:ln/>
        </p:spPr>
        <p:txBody>
          <a:bodyPr wrap="square" lIns="0" tIns="0" rIns="0" bIns="0" rtlCol="0" anchor="ctr"/>
          <a:lstStyle/>
          <a:p>
            <a:pPr algn="ctr" indent="0" marL="0">
              <a:buNone/>
            </a:pPr>
            <a:r>
              <a:rPr lang="en-US" sz="2400" b="1" dirty="0">
                <a:solidFill>
                  <a:srgbClr val="1F6F6B"/>
                </a:solidFill>
                <a:latin typeface="Arial" pitchFamily="34" charset="0"/>
                <a:ea typeface="Arial" pitchFamily="34" charset="-122"/>
                <a:cs typeface="Arial" pitchFamily="34" charset="-120"/>
              </a:rPr>
              <a:t>›</a:t>
            </a:r>
            <a:endParaRPr lang="en-US" sz="2400" dirty="0"/>
          </a:p>
        </p:txBody>
      </p:sp>
      <p:sp>
        <p:nvSpPr>
          <p:cNvPr id="29" name="Shape 23"/>
          <p:cNvSpPr/>
          <p:nvPr/>
        </p:nvSpPr>
        <p:spPr>
          <a:xfrm>
            <a:off x="9692640" y="1463040"/>
            <a:ext cx="2039112" cy="3291840"/>
          </a:xfrm>
          <a:prstGeom prst="roundRect">
            <a:avLst>
              <a:gd name="adj" fmla="val 4484"/>
            </a:avLst>
          </a:prstGeom>
          <a:solidFill>
            <a:srgbClr val="FFFFFF"/>
          </a:solidFill>
          <a:ln w="9525">
            <a:solidFill>
              <a:srgbClr val="D8D2C4"/>
            </a:solidFill>
            <a:prstDash val="solid"/>
          </a:ln>
        </p:spPr>
      </p:sp>
      <p:sp>
        <p:nvSpPr>
          <p:cNvPr id="30" name="Shape 24"/>
          <p:cNvSpPr/>
          <p:nvPr/>
        </p:nvSpPr>
        <p:spPr>
          <a:xfrm>
            <a:off x="10305288" y="1691640"/>
            <a:ext cx="822960" cy="822960"/>
          </a:xfrm>
          <a:prstGeom prst="ellipse">
            <a:avLst/>
          </a:prstGeom>
          <a:solidFill>
            <a:srgbClr val="1E4A6B"/>
          </a:solidFill>
          <a:ln w="12700">
            <a:solidFill>
              <a:srgbClr val="1E4A6B"/>
            </a:solidFill>
            <a:prstDash val="solid"/>
          </a:ln>
        </p:spPr>
      </p:sp>
      <p:pic>
        <p:nvPicPr>
          <p:cNvPr id="31" name="Image 4" descr="preencoded.png">    </p:cNvPr>
          <p:cNvPicPr>
            <a:picLocks noChangeAspect="1"/>
          </p:cNvPicPr>
          <p:nvPr/>
        </p:nvPicPr>
        <p:blipFill>
          <a:blip r:embed="rId5"/>
          <a:stretch>
            <a:fillRect/>
          </a:stretch>
        </p:blipFill>
        <p:spPr>
          <a:xfrm>
            <a:off x="10527487" y="1913839"/>
            <a:ext cx="378562" cy="378562"/>
          </a:xfrm>
          <a:prstGeom prst="rect">
            <a:avLst/>
          </a:prstGeom>
        </p:spPr>
      </p:pic>
      <p:sp>
        <p:nvSpPr>
          <p:cNvPr id="32" name="Text 25"/>
          <p:cNvSpPr txBox="1"/>
          <p:nvPr/>
        </p:nvSpPr>
        <p:spPr>
          <a:xfrm>
            <a:off x="9692640" y="2697480"/>
            <a:ext cx="2039112" cy="411480"/>
          </a:xfrm>
          <a:prstGeom prst="rect">
            <a:avLst/>
          </a:prstGeom>
          <a:noFill/>
          <a:ln/>
        </p:spPr>
        <p:txBody>
          <a:bodyPr wrap="square" lIns="0" tIns="0" rIns="0" bIns="0" rtlCol="0" anchor="t"/>
          <a:lstStyle/>
          <a:p>
            <a:pPr algn="ctr" indent="0" marL="0">
              <a:buNone/>
            </a:pPr>
            <a:r>
              <a:rPr lang="en-US" sz="1700" b="1" dirty="0">
                <a:solidFill>
                  <a:srgbClr val="1B2A3A"/>
                </a:solidFill>
                <a:latin typeface="Arial" pitchFamily="34" charset="0"/>
                <a:ea typeface="Arial" pitchFamily="34" charset="-122"/>
                <a:cs typeface="Arial" pitchFamily="34" charset="-120"/>
              </a:rPr>
              <a:t>Act</a:t>
            </a:r>
            <a:endParaRPr lang="en-US" sz="1700" dirty="0"/>
          </a:p>
        </p:txBody>
      </p:sp>
      <p:sp>
        <p:nvSpPr>
          <p:cNvPr id="33" name="Text 26"/>
          <p:cNvSpPr txBox="1"/>
          <p:nvPr/>
        </p:nvSpPr>
        <p:spPr>
          <a:xfrm>
            <a:off x="9857232" y="3154680"/>
            <a:ext cx="1709928" cy="1508760"/>
          </a:xfrm>
          <a:prstGeom prst="rect">
            <a:avLst/>
          </a:prstGeom>
          <a:noFill/>
          <a:ln/>
        </p:spPr>
        <p:txBody>
          <a:bodyPr wrap="square" lIns="0" tIns="0" rIns="0" bIns="0" rtlCol="0" anchor="t"/>
          <a:lstStyle/>
          <a:p>
            <a:pPr algn="ctr" indent="0" marL="0">
              <a:buNone/>
            </a:pPr>
            <a:r>
              <a:rPr lang="en-US" sz="1300" dirty="0">
                <a:solidFill>
                  <a:srgbClr val="4F5E6B"/>
                </a:solidFill>
                <a:latin typeface="Arial" pitchFamily="34" charset="0"/>
                <a:ea typeface="Arial" pitchFamily="34" charset="-122"/>
                <a:cs typeface="Arial" pitchFamily="34" charset="-120"/>
              </a:rPr>
              <a:t>Risk score; high-risk payment emails held for call-back verification</a:t>
            </a:r>
            <a:endParaRPr lang="en-US" sz="1300" dirty="0"/>
          </a:p>
        </p:txBody>
      </p:sp>
      <p:sp>
        <p:nvSpPr>
          <p:cNvPr id="34" name="Shape 27"/>
          <p:cNvSpPr/>
          <p:nvPr/>
        </p:nvSpPr>
        <p:spPr>
          <a:xfrm>
            <a:off x="548640" y="4983480"/>
            <a:ext cx="11091672" cy="1234440"/>
          </a:xfrm>
          <a:prstGeom prst="roundRect">
            <a:avLst>
              <a:gd name="adj" fmla="val 7407"/>
            </a:avLst>
          </a:prstGeom>
          <a:solidFill>
            <a:srgbClr val="E6EDE8"/>
          </a:solidFill>
          <a:ln w="12700">
            <a:solidFill>
              <a:srgbClr val="E6EDE8"/>
            </a:solidFill>
            <a:prstDash val="solid"/>
          </a:ln>
        </p:spPr>
      </p:sp>
      <p:sp>
        <p:nvSpPr>
          <p:cNvPr id="35" name="Text 28"/>
          <p:cNvSpPr txBox="1"/>
          <p:nvPr/>
        </p:nvSpPr>
        <p:spPr>
          <a:xfrm>
            <a:off x="822960" y="5120640"/>
            <a:ext cx="2743200" cy="365760"/>
          </a:xfrm>
          <a:prstGeom prst="rect">
            <a:avLst/>
          </a:prstGeom>
          <a:noFill/>
          <a:ln/>
        </p:spPr>
        <p:txBody>
          <a:bodyPr wrap="square" lIns="0" tIns="0" rIns="0" bIns="0" rtlCol="0" anchor="t"/>
          <a:lstStyle/>
          <a:p>
            <a:pPr indent="0" marL="0">
              <a:buNone/>
            </a:pPr>
            <a:r>
              <a:rPr lang="en-US" sz="1600" b="1" dirty="0">
                <a:solidFill>
                  <a:srgbClr val="1F6F6B"/>
                </a:solidFill>
                <a:latin typeface="Arial" pitchFamily="34" charset="0"/>
                <a:ea typeface="Arial" pitchFamily="34" charset="-122"/>
                <a:cs typeface="Arial" pitchFamily="34" charset="-120"/>
              </a:rPr>
              <a:t>Why hybrid?</a:t>
            </a:r>
            <a:endParaRPr lang="en-US" sz="1600" dirty="0"/>
          </a:p>
        </p:txBody>
      </p:sp>
      <p:sp>
        <p:nvSpPr>
          <p:cNvPr id="36" name="Text 29"/>
          <p:cNvSpPr txBox="1"/>
          <p:nvPr/>
        </p:nvSpPr>
        <p:spPr>
          <a:xfrm>
            <a:off x="822960" y="5486400"/>
            <a:ext cx="10607040" cy="685800"/>
          </a:xfrm>
          <a:prstGeom prst="rect">
            <a:avLst/>
          </a:prstGeom>
          <a:noFill/>
          <a:ln/>
        </p:spPr>
        <p:txBody>
          <a:bodyPr wrap="square" lIns="0" tIns="0" rIns="0" bIns="0" rtlCol="0" anchor="t"/>
          <a:lstStyle/>
          <a:p>
            <a:pPr indent="0" marL="0">
              <a:buNone/>
            </a:pPr>
            <a:r>
              <a:rPr lang="en-US" sz="1400" dirty="0">
                <a:solidFill>
                  <a:srgbClr val="1B2A3A"/>
                </a:solidFill>
                <a:latin typeface="Arial" pitchFamily="34" charset="0"/>
                <a:ea typeface="Arial" pitchFamily="34" charset="-122"/>
                <a:cs typeface="Arial" pitchFamily="34" charset="-120"/>
              </a:rPr>
              <a:t>In BEC the text alone often reads like a normal invoice. Combining what the email says, where it came from, and how it differs from the vendor's past behaviour is what separates a real invoice from a fake one.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Signals that expose a fake invoice</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YAMAN</a:t>
            </a:r>
            <a:endParaRPr lang="en-US" sz="1000" dirty="0"/>
          </a:p>
        </p:txBody>
      </p:sp>
      <p:sp>
        <p:nvSpPr>
          <p:cNvPr id="5" name="Shape 3"/>
          <p:cNvSpPr/>
          <p:nvPr/>
        </p:nvSpPr>
        <p:spPr>
          <a:xfrm>
            <a:off x="548640" y="1463040"/>
            <a:ext cx="11091672" cy="502920"/>
          </a:xfrm>
          <a:prstGeom prst="rect">
            <a:avLst/>
          </a:prstGeom>
          <a:solidFill>
            <a:srgbClr val="1B2A3A"/>
          </a:solidFill>
          <a:ln w="12700">
            <a:solidFill>
              <a:srgbClr val="1B2A3A"/>
            </a:solidFill>
            <a:prstDash val="solid"/>
          </a:ln>
        </p:spPr>
      </p:sp>
      <p:sp>
        <p:nvSpPr>
          <p:cNvPr id="6" name="Text 4"/>
          <p:cNvSpPr txBox="1"/>
          <p:nvPr/>
        </p:nvSpPr>
        <p:spPr>
          <a:xfrm>
            <a:off x="731520" y="1463040"/>
            <a:ext cx="1280160" cy="5029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Group</a:t>
            </a:r>
            <a:endParaRPr lang="en-US" sz="1400" dirty="0"/>
          </a:p>
        </p:txBody>
      </p:sp>
      <p:sp>
        <p:nvSpPr>
          <p:cNvPr id="7" name="Text 5"/>
          <p:cNvSpPr txBox="1"/>
          <p:nvPr/>
        </p:nvSpPr>
        <p:spPr>
          <a:xfrm>
            <a:off x="2286000" y="1463040"/>
            <a:ext cx="4297680" cy="5029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Feature</a:t>
            </a:r>
            <a:endParaRPr lang="en-US" sz="1400" dirty="0"/>
          </a:p>
        </p:txBody>
      </p:sp>
      <p:sp>
        <p:nvSpPr>
          <p:cNvPr id="8" name="Text 6"/>
          <p:cNvSpPr txBox="1"/>
          <p:nvPr/>
        </p:nvSpPr>
        <p:spPr>
          <a:xfrm>
            <a:off x="6858000" y="1463040"/>
            <a:ext cx="4690872" cy="5029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What it would have caught here</a:t>
            </a:r>
            <a:endParaRPr lang="en-US" sz="1400" dirty="0"/>
          </a:p>
        </p:txBody>
      </p:sp>
      <p:sp>
        <p:nvSpPr>
          <p:cNvPr id="9" name="Shape 7"/>
          <p:cNvSpPr/>
          <p:nvPr/>
        </p:nvSpPr>
        <p:spPr>
          <a:xfrm>
            <a:off x="548640" y="1965960"/>
            <a:ext cx="11091672" cy="603504"/>
          </a:xfrm>
          <a:prstGeom prst="rect">
            <a:avLst/>
          </a:prstGeom>
          <a:solidFill>
            <a:srgbClr val="FFFFFF"/>
          </a:solidFill>
          <a:ln w="9525">
            <a:solidFill>
              <a:srgbClr val="D8D2C4"/>
            </a:solidFill>
            <a:prstDash val="solid"/>
          </a:ln>
        </p:spPr>
      </p:sp>
      <p:sp>
        <p:nvSpPr>
          <p:cNvPr id="10" name="Text 8"/>
          <p:cNvSpPr txBox="1"/>
          <p:nvPr/>
        </p:nvSpPr>
        <p:spPr>
          <a:xfrm>
            <a:off x="731520" y="1965960"/>
            <a:ext cx="1280160" cy="603504"/>
          </a:xfrm>
          <a:prstGeom prst="rect">
            <a:avLst/>
          </a:prstGeom>
          <a:noFill/>
          <a:ln/>
        </p:spPr>
        <p:txBody>
          <a:bodyPr wrap="square" lIns="0" tIns="0" rIns="0" bIns="0" rtlCol="0" anchor="ctr"/>
          <a:lstStyle/>
          <a:p>
            <a:pPr indent="0" marL="0">
              <a:buNone/>
            </a:pPr>
            <a:r>
              <a:rPr lang="en-US" sz="1400" b="1" dirty="0">
                <a:solidFill>
                  <a:srgbClr val="1E4A6B"/>
                </a:solidFill>
                <a:latin typeface="Arial" pitchFamily="34" charset="0"/>
                <a:ea typeface="Arial" pitchFamily="34" charset="-122"/>
                <a:cs typeface="Arial" pitchFamily="34" charset="-120"/>
              </a:rPr>
              <a:t>Header</a:t>
            </a:r>
            <a:endParaRPr lang="en-US" sz="1400" dirty="0"/>
          </a:p>
        </p:txBody>
      </p:sp>
      <p:sp>
        <p:nvSpPr>
          <p:cNvPr id="11" name="Text 9"/>
          <p:cNvSpPr txBox="1"/>
          <p:nvPr/>
        </p:nvSpPr>
        <p:spPr>
          <a:xfrm>
            <a:off x="2286000" y="1965960"/>
            <a:ext cx="4297680" cy="603504"/>
          </a:xfrm>
          <a:prstGeom prst="rect">
            <a:avLst/>
          </a:prstGeom>
          <a:noFill/>
          <a:ln/>
        </p:spPr>
        <p:txBody>
          <a:bodyPr wrap="square" lIns="0" tIns="0" rIns="0" bIns="0" rtlCol="0" anchor="ctr"/>
          <a:lstStyle/>
          <a:p>
            <a:pPr indent="0" marL="0">
              <a:buNone/>
            </a:pPr>
            <a:r>
              <a:rPr lang="en-US" sz="1400" dirty="0">
                <a:solidFill>
                  <a:srgbClr val="1B2A3A"/>
                </a:solidFill>
                <a:latin typeface="Arial" pitchFamily="34" charset="0"/>
                <a:ea typeface="Arial" pitchFamily="34" charset="-122"/>
                <a:cs typeface="Arial" pitchFamily="34" charset="-120"/>
              </a:rPr>
              <a:t>SPF / DKIM / DMARC alignment</a:t>
            </a:r>
            <a:endParaRPr lang="en-US" sz="1400" dirty="0"/>
          </a:p>
        </p:txBody>
      </p:sp>
      <p:sp>
        <p:nvSpPr>
          <p:cNvPr id="12" name="Text 10"/>
          <p:cNvSpPr txBox="1"/>
          <p:nvPr/>
        </p:nvSpPr>
        <p:spPr>
          <a:xfrm>
            <a:off x="6858000" y="1965960"/>
            <a:ext cx="4663440" cy="603504"/>
          </a:xfrm>
          <a:prstGeom prst="rect">
            <a:avLst/>
          </a:prstGeom>
          <a:noFill/>
          <a:ln/>
        </p:spPr>
        <p:txBody>
          <a:bodyPr wrap="square" lIns="0" tIns="0" rIns="0" bIns="0" rtlCol="0" anchor="ctr"/>
          <a:lstStyle/>
          <a:p>
            <a:pPr indent="0" marL="0">
              <a:buNone/>
            </a:pPr>
            <a:r>
              <a:rPr lang="en-US" sz="1400" dirty="0">
                <a:solidFill>
                  <a:srgbClr val="4F5E6B"/>
                </a:solidFill>
                <a:latin typeface="Arial" pitchFamily="34" charset="0"/>
                <a:ea typeface="Arial" pitchFamily="34" charset="-122"/>
                <a:cs typeface="Arial" pitchFamily="34" charset="-120"/>
              </a:rPr>
              <a:t>Sender not authenticated by Quanta's real domain</a:t>
            </a:r>
            <a:endParaRPr lang="en-US" sz="1400" dirty="0"/>
          </a:p>
        </p:txBody>
      </p:sp>
      <p:sp>
        <p:nvSpPr>
          <p:cNvPr id="13" name="Shape 11"/>
          <p:cNvSpPr/>
          <p:nvPr/>
        </p:nvSpPr>
        <p:spPr>
          <a:xfrm>
            <a:off x="548640" y="2569464"/>
            <a:ext cx="11091672" cy="603504"/>
          </a:xfrm>
          <a:prstGeom prst="rect">
            <a:avLst/>
          </a:prstGeom>
          <a:solidFill>
            <a:srgbClr val="FBF8F2"/>
          </a:solidFill>
          <a:ln w="9525">
            <a:solidFill>
              <a:srgbClr val="D8D2C4"/>
            </a:solidFill>
            <a:prstDash val="solid"/>
          </a:ln>
        </p:spPr>
      </p:sp>
      <p:sp>
        <p:nvSpPr>
          <p:cNvPr id="14" name="Text 12"/>
          <p:cNvSpPr txBox="1"/>
          <p:nvPr/>
        </p:nvSpPr>
        <p:spPr>
          <a:xfrm>
            <a:off x="731520" y="2569464"/>
            <a:ext cx="1280160" cy="603504"/>
          </a:xfrm>
          <a:prstGeom prst="rect">
            <a:avLst/>
          </a:prstGeom>
          <a:noFill/>
          <a:ln/>
        </p:spPr>
        <p:txBody>
          <a:bodyPr wrap="square" lIns="0" tIns="0" rIns="0" bIns="0" rtlCol="0" anchor="ctr"/>
          <a:lstStyle/>
          <a:p>
            <a:pPr indent="0" marL="0">
              <a:buNone/>
            </a:pPr>
            <a:r>
              <a:rPr lang="en-US" sz="1400" b="1" dirty="0">
                <a:solidFill>
                  <a:srgbClr val="1E4A6B"/>
                </a:solidFill>
                <a:latin typeface="Arial" pitchFamily="34" charset="0"/>
                <a:ea typeface="Arial" pitchFamily="34" charset="-122"/>
                <a:cs typeface="Arial" pitchFamily="34" charset="-120"/>
              </a:rPr>
              <a:t>Header</a:t>
            </a:r>
            <a:endParaRPr lang="en-US" sz="1400" dirty="0"/>
          </a:p>
        </p:txBody>
      </p:sp>
      <p:sp>
        <p:nvSpPr>
          <p:cNvPr id="15" name="Text 13"/>
          <p:cNvSpPr txBox="1"/>
          <p:nvPr/>
        </p:nvSpPr>
        <p:spPr>
          <a:xfrm>
            <a:off x="2286000" y="2569464"/>
            <a:ext cx="4297680" cy="603504"/>
          </a:xfrm>
          <a:prstGeom prst="rect">
            <a:avLst/>
          </a:prstGeom>
          <a:noFill/>
          <a:ln/>
        </p:spPr>
        <p:txBody>
          <a:bodyPr wrap="square" lIns="0" tIns="0" rIns="0" bIns="0" rtlCol="0" anchor="ctr"/>
          <a:lstStyle/>
          <a:p>
            <a:pPr indent="0" marL="0">
              <a:buNone/>
            </a:pPr>
            <a:r>
              <a:rPr lang="en-US" sz="1400" dirty="0">
                <a:solidFill>
                  <a:srgbClr val="1B2A3A"/>
                </a:solidFill>
                <a:latin typeface="Arial" pitchFamily="34" charset="0"/>
                <a:ea typeface="Arial" pitchFamily="34" charset="-122"/>
                <a:cs typeface="Arial" pitchFamily="34" charset="-120"/>
              </a:rPr>
              <a:t>Look-alike domain (edit distance ≤ 2)</a:t>
            </a:r>
            <a:endParaRPr lang="en-US" sz="1400" dirty="0"/>
          </a:p>
        </p:txBody>
      </p:sp>
      <p:sp>
        <p:nvSpPr>
          <p:cNvPr id="16" name="Text 14"/>
          <p:cNvSpPr txBox="1"/>
          <p:nvPr/>
        </p:nvSpPr>
        <p:spPr>
          <a:xfrm>
            <a:off x="6858000" y="2569464"/>
            <a:ext cx="4663440" cy="603504"/>
          </a:xfrm>
          <a:prstGeom prst="rect">
            <a:avLst/>
          </a:prstGeom>
          <a:noFill/>
          <a:ln/>
        </p:spPr>
        <p:txBody>
          <a:bodyPr wrap="square" lIns="0" tIns="0" rIns="0" bIns="0" rtlCol="0" anchor="ctr"/>
          <a:lstStyle/>
          <a:p>
            <a:pPr indent="0" marL="0">
              <a:buNone/>
            </a:pPr>
            <a:r>
              <a:rPr lang="en-US" sz="1400" dirty="0">
                <a:solidFill>
                  <a:srgbClr val="4F5E6B"/>
                </a:solidFill>
                <a:latin typeface="Arial" pitchFamily="34" charset="0"/>
                <a:ea typeface="Arial" pitchFamily="34" charset="-122"/>
                <a:cs typeface="Arial" pitchFamily="34" charset="-120"/>
              </a:rPr>
              <a:t>Near-copy of the supplier's domain or name</a:t>
            </a:r>
            <a:endParaRPr lang="en-US" sz="1400" dirty="0"/>
          </a:p>
        </p:txBody>
      </p:sp>
      <p:sp>
        <p:nvSpPr>
          <p:cNvPr id="17" name="Shape 15"/>
          <p:cNvSpPr/>
          <p:nvPr/>
        </p:nvSpPr>
        <p:spPr>
          <a:xfrm>
            <a:off x="548640" y="3172968"/>
            <a:ext cx="11091672" cy="603504"/>
          </a:xfrm>
          <a:prstGeom prst="rect">
            <a:avLst/>
          </a:prstGeom>
          <a:solidFill>
            <a:srgbClr val="FFFFFF"/>
          </a:solidFill>
          <a:ln w="9525">
            <a:solidFill>
              <a:srgbClr val="D8D2C4"/>
            </a:solidFill>
            <a:prstDash val="solid"/>
          </a:ln>
        </p:spPr>
      </p:sp>
      <p:sp>
        <p:nvSpPr>
          <p:cNvPr id="18" name="Text 16"/>
          <p:cNvSpPr txBox="1"/>
          <p:nvPr/>
        </p:nvSpPr>
        <p:spPr>
          <a:xfrm>
            <a:off x="731520" y="3172968"/>
            <a:ext cx="1280160" cy="603504"/>
          </a:xfrm>
          <a:prstGeom prst="rect">
            <a:avLst/>
          </a:prstGeom>
          <a:noFill/>
          <a:ln/>
        </p:spPr>
        <p:txBody>
          <a:bodyPr wrap="square" lIns="0" tIns="0" rIns="0" bIns="0" rtlCol="0" anchor="ctr"/>
          <a:lstStyle/>
          <a:p>
            <a:pPr indent="0" marL="0">
              <a:buNone/>
            </a:pPr>
            <a:r>
              <a:rPr lang="en-US" sz="1400" b="1" dirty="0">
                <a:solidFill>
                  <a:srgbClr val="1E4A6B"/>
                </a:solidFill>
                <a:latin typeface="Arial" pitchFamily="34" charset="0"/>
                <a:ea typeface="Arial" pitchFamily="34" charset="-122"/>
                <a:cs typeface="Arial" pitchFamily="34" charset="-120"/>
              </a:rPr>
              <a:t>Header</a:t>
            </a:r>
            <a:endParaRPr lang="en-US" sz="1400" dirty="0"/>
          </a:p>
        </p:txBody>
      </p:sp>
      <p:sp>
        <p:nvSpPr>
          <p:cNvPr id="19" name="Text 17"/>
          <p:cNvSpPr txBox="1"/>
          <p:nvPr/>
        </p:nvSpPr>
        <p:spPr>
          <a:xfrm>
            <a:off x="2286000" y="3172968"/>
            <a:ext cx="4297680" cy="603504"/>
          </a:xfrm>
          <a:prstGeom prst="rect">
            <a:avLst/>
          </a:prstGeom>
          <a:noFill/>
          <a:ln/>
        </p:spPr>
        <p:txBody>
          <a:bodyPr wrap="square" lIns="0" tIns="0" rIns="0" bIns="0" rtlCol="0" anchor="ctr"/>
          <a:lstStyle/>
          <a:p>
            <a:pPr indent="0" marL="0">
              <a:buNone/>
            </a:pPr>
            <a:r>
              <a:rPr lang="en-US" sz="1400" dirty="0">
                <a:solidFill>
                  <a:srgbClr val="1B2A3A"/>
                </a:solidFill>
                <a:latin typeface="Arial" pitchFamily="34" charset="0"/>
                <a:ea typeface="Arial" pitchFamily="34" charset="-122"/>
                <a:cs typeface="Arial" pitchFamily="34" charset="-120"/>
              </a:rPr>
              <a:t>Reply-To differs from From</a:t>
            </a:r>
            <a:endParaRPr lang="en-US" sz="1400" dirty="0"/>
          </a:p>
        </p:txBody>
      </p:sp>
      <p:sp>
        <p:nvSpPr>
          <p:cNvPr id="20" name="Text 18"/>
          <p:cNvSpPr txBox="1"/>
          <p:nvPr/>
        </p:nvSpPr>
        <p:spPr>
          <a:xfrm>
            <a:off x="6858000" y="3172968"/>
            <a:ext cx="4663440" cy="603504"/>
          </a:xfrm>
          <a:prstGeom prst="rect">
            <a:avLst/>
          </a:prstGeom>
          <a:noFill/>
          <a:ln/>
        </p:spPr>
        <p:txBody>
          <a:bodyPr wrap="square" lIns="0" tIns="0" rIns="0" bIns="0" rtlCol="0" anchor="ctr"/>
          <a:lstStyle/>
          <a:p>
            <a:pPr indent="0" marL="0">
              <a:buNone/>
            </a:pPr>
            <a:r>
              <a:rPr lang="en-US" sz="1400" dirty="0">
                <a:solidFill>
                  <a:srgbClr val="4F5E6B"/>
                </a:solidFill>
                <a:latin typeface="Arial" pitchFamily="34" charset="0"/>
                <a:ea typeface="Arial" pitchFamily="34" charset="-122"/>
                <a:cs typeface="Arial" pitchFamily="34" charset="-120"/>
              </a:rPr>
              <a:t>Replies silently routed to the attacker</a:t>
            </a:r>
            <a:endParaRPr lang="en-US" sz="1400" dirty="0"/>
          </a:p>
        </p:txBody>
      </p:sp>
      <p:sp>
        <p:nvSpPr>
          <p:cNvPr id="21" name="Shape 19"/>
          <p:cNvSpPr/>
          <p:nvPr/>
        </p:nvSpPr>
        <p:spPr>
          <a:xfrm>
            <a:off x="548640" y="3776472"/>
            <a:ext cx="11091672" cy="603504"/>
          </a:xfrm>
          <a:prstGeom prst="rect">
            <a:avLst/>
          </a:prstGeom>
          <a:solidFill>
            <a:srgbClr val="FBF8F2"/>
          </a:solidFill>
          <a:ln w="9525">
            <a:solidFill>
              <a:srgbClr val="D8D2C4"/>
            </a:solidFill>
            <a:prstDash val="solid"/>
          </a:ln>
        </p:spPr>
      </p:sp>
      <p:sp>
        <p:nvSpPr>
          <p:cNvPr id="22" name="Text 20"/>
          <p:cNvSpPr txBox="1"/>
          <p:nvPr/>
        </p:nvSpPr>
        <p:spPr>
          <a:xfrm>
            <a:off x="731520" y="3776472"/>
            <a:ext cx="1280160" cy="603504"/>
          </a:xfrm>
          <a:prstGeom prst="rect">
            <a:avLst/>
          </a:prstGeom>
          <a:noFill/>
          <a:ln/>
        </p:spPr>
        <p:txBody>
          <a:bodyPr wrap="square" lIns="0" tIns="0" rIns="0" bIns="0" rtlCol="0" anchor="ctr"/>
          <a:lstStyle/>
          <a:p>
            <a:pPr indent="0" marL="0">
              <a:buNone/>
            </a:pPr>
            <a:r>
              <a:rPr lang="en-US" sz="1400" b="1" dirty="0">
                <a:solidFill>
                  <a:srgbClr val="1F6F6B"/>
                </a:solidFill>
                <a:latin typeface="Arial" pitchFamily="34" charset="0"/>
                <a:ea typeface="Arial" pitchFamily="34" charset="-122"/>
                <a:cs typeface="Arial" pitchFamily="34" charset="-120"/>
              </a:rPr>
              <a:t>NLP</a:t>
            </a:r>
            <a:endParaRPr lang="en-US" sz="1400" dirty="0"/>
          </a:p>
        </p:txBody>
      </p:sp>
      <p:sp>
        <p:nvSpPr>
          <p:cNvPr id="23" name="Text 21"/>
          <p:cNvSpPr txBox="1"/>
          <p:nvPr/>
        </p:nvSpPr>
        <p:spPr>
          <a:xfrm>
            <a:off x="2286000" y="3776472"/>
            <a:ext cx="4297680" cy="603504"/>
          </a:xfrm>
          <a:prstGeom prst="rect">
            <a:avLst/>
          </a:prstGeom>
          <a:noFill/>
          <a:ln/>
        </p:spPr>
        <p:txBody>
          <a:bodyPr wrap="square" lIns="0" tIns="0" rIns="0" bIns="0" rtlCol="0" anchor="ctr"/>
          <a:lstStyle/>
          <a:p>
            <a:pPr indent="0" marL="0">
              <a:buNone/>
            </a:pPr>
            <a:r>
              <a:rPr lang="en-US" sz="1400" dirty="0">
                <a:solidFill>
                  <a:srgbClr val="1B2A3A"/>
                </a:solidFill>
                <a:latin typeface="Arial" pitchFamily="34" charset="0"/>
                <a:ea typeface="Arial" pitchFamily="34" charset="-122"/>
                <a:cs typeface="Arial" pitchFamily="34" charset="-120"/>
              </a:rPr>
              <a:t>Payment-change + urgency intent</a:t>
            </a:r>
            <a:endParaRPr lang="en-US" sz="1400" dirty="0"/>
          </a:p>
        </p:txBody>
      </p:sp>
      <p:sp>
        <p:nvSpPr>
          <p:cNvPr id="24" name="Text 22"/>
          <p:cNvSpPr txBox="1"/>
          <p:nvPr/>
        </p:nvSpPr>
        <p:spPr>
          <a:xfrm>
            <a:off x="6858000" y="3776472"/>
            <a:ext cx="4663440" cy="603504"/>
          </a:xfrm>
          <a:prstGeom prst="rect">
            <a:avLst/>
          </a:prstGeom>
          <a:noFill/>
          <a:ln/>
        </p:spPr>
        <p:txBody>
          <a:bodyPr wrap="square" lIns="0" tIns="0" rIns="0" bIns="0" rtlCol="0" anchor="ctr"/>
          <a:lstStyle/>
          <a:p>
            <a:pPr indent="0" marL="0">
              <a:buNone/>
            </a:pPr>
            <a:r>
              <a:rPr lang="en-US" sz="1400" dirty="0">
                <a:solidFill>
                  <a:srgbClr val="4F5E6B"/>
                </a:solidFill>
                <a:latin typeface="Arial" pitchFamily="34" charset="0"/>
                <a:ea typeface="Arial" pitchFamily="34" charset="-122"/>
                <a:cs typeface="Arial" pitchFamily="34" charset="-120"/>
              </a:rPr>
              <a:t>“bank details updated”, “within 3 business days”</a:t>
            </a:r>
            <a:endParaRPr lang="en-US" sz="1400" dirty="0"/>
          </a:p>
        </p:txBody>
      </p:sp>
      <p:sp>
        <p:nvSpPr>
          <p:cNvPr id="25" name="Shape 23"/>
          <p:cNvSpPr/>
          <p:nvPr/>
        </p:nvSpPr>
        <p:spPr>
          <a:xfrm>
            <a:off x="548640" y="4379976"/>
            <a:ext cx="11091672" cy="603504"/>
          </a:xfrm>
          <a:prstGeom prst="rect">
            <a:avLst/>
          </a:prstGeom>
          <a:solidFill>
            <a:srgbClr val="FFFFFF"/>
          </a:solidFill>
          <a:ln w="9525">
            <a:solidFill>
              <a:srgbClr val="D8D2C4"/>
            </a:solidFill>
            <a:prstDash val="solid"/>
          </a:ln>
        </p:spPr>
      </p:sp>
      <p:sp>
        <p:nvSpPr>
          <p:cNvPr id="26" name="Text 24"/>
          <p:cNvSpPr txBox="1"/>
          <p:nvPr/>
        </p:nvSpPr>
        <p:spPr>
          <a:xfrm>
            <a:off x="731520" y="4379976"/>
            <a:ext cx="1280160" cy="603504"/>
          </a:xfrm>
          <a:prstGeom prst="rect">
            <a:avLst/>
          </a:prstGeom>
          <a:noFill/>
          <a:ln/>
        </p:spPr>
        <p:txBody>
          <a:bodyPr wrap="square" lIns="0" tIns="0" rIns="0" bIns="0" rtlCol="0" anchor="ctr"/>
          <a:lstStyle/>
          <a:p>
            <a:pPr indent="0" marL="0">
              <a:buNone/>
            </a:pPr>
            <a:r>
              <a:rPr lang="en-US" sz="1400" b="1" dirty="0">
                <a:solidFill>
                  <a:srgbClr val="1F6F6B"/>
                </a:solidFill>
                <a:latin typeface="Arial" pitchFamily="34" charset="0"/>
                <a:ea typeface="Arial" pitchFamily="34" charset="-122"/>
                <a:cs typeface="Arial" pitchFamily="34" charset="-120"/>
              </a:rPr>
              <a:t>NLP</a:t>
            </a:r>
            <a:endParaRPr lang="en-US" sz="1400" dirty="0"/>
          </a:p>
        </p:txBody>
      </p:sp>
      <p:sp>
        <p:nvSpPr>
          <p:cNvPr id="27" name="Text 25"/>
          <p:cNvSpPr txBox="1"/>
          <p:nvPr/>
        </p:nvSpPr>
        <p:spPr>
          <a:xfrm>
            <a:off x="2286000" y="4379976"/>
            <a:ext cx="4297680" cy="603504"/>
          </a:xfrm>
          <a:prstGeom prst="rect">
            <a:avLst/>
          </a:prstGeom>
          <a:noFill/>
          <a:ln/>
        </p:spPr>
        <p:txBody>
          <a:bodyPr wrap="square" lIns="0" tIns="0" rIns="0" bIns="0" rtlCol="0" anchor="ctr"/>
          <a:lstStyle/>
          <a:p>
            <a:pPr indent="0" marL="0">
              <a:buNone/>
            </a:pPr>
            <a:r>
              <a:rPr lang="en-US" sz="1400" dirty="0">
                <a:solidFill>
                  <a:srgbClr val="1B2A3A"/>
                </a:solidFill>
                <a:latin typeface="Arial" pitchFamily="34" charset="0"/>
                <a:ea typeface="Arial" pitchFamily="34" charset="-122"/>
                <a:cs typeface="Arial" pitchFamily="34" charset="-120"/>
              </a:rPr>
              <a:t>Entity mismatch: bank vs. vendor country</a:t>
            </a:r>
            <a:endParaRPr lang="en-US" sz="1400" dirty="0"/>
          </a:p>
        </p:txBody>
      </p:sp>
      <p:sp>
        <p:nvSpPr>
          <p:cNvPr id="28" name="Text 26"/>
          <p:cNvSpPr txBox="1"/>
          <p:nvPr/>
        </p:nvSpPr>
        <p:spPr>
          <a:xfrm>
            <a:off x="6858000" y="4379976"/>
            <a:ext cx="4663440" cy="603504"/>
          </a:xfrm>
          <a:prstGeom prst="rect">
            <a:avLst/>
          </a:prstGeom>
          <a:noFill/>
          <a:ln/>
        </p:spPr>
        <p:txBody>
          <a:bodyPr wrap="square" lIns="0" tIns="0" rIns="0" bIns="0" rtlCol="0" anchor="ctr"/>
          <a:lstStyle/>
          <a:p>
            <a:pPr indent="0" marL="0">
              <a:buNone/>
            </a:pPr>
            <a:r>
              <a:rPr lang="en-US" sz="1400" dirty="0">
                <a:solidFill>
                  <a:srgbClr val="4F5E6B"/>
                </a:solidFill>
                <a:latin typeface="Arial" pitchFamily="34" charset="0"/>
                <a:ea typeface="Arial" pitchFamily="34" charset="-122"/>
                <a:cs typeface="Arial" pitchFamily="34" charset="-120"/>
              </a:rPr>
              <a:t>Latvian / Cypriot accounts for a Taiwanese supplier</a:t>
            </a:r>
            <a:endParaRPr lang="en-US" sz="1400" dirty="0"/>
          </a:p>
        </p:txBody>
      </p:sp>
      <p:sp>
        <p:nvSpPr>
          <p:cNvPr id="29" name="Shape 27"/>
          <p:cNvSpPr/>
          <p:nvPr/>
        </p:nvSpPr>
        <p:spPr>
          <a:xfrm>
            <a:off x="548640" y="4983480"/>
            <a:ext cx="11091672" cy="603504"/>
          </a:xfrm>
          <a:prstGeom prst="rect">
            <a:avLst/>
          </a:prstGeom>
          <a:solidFill>
            <a:srgbClr val="FBF8F2"/>
          </a:solidFill>
          <a:ln w="9525">
            <a:solidFill>
              <a:srgbClr val="D8D2C4"/>
            </a:solidFill>
            <a:prstDash val="solid"/>
          </a:ln>
        </p:spPr>
      </p:sp>
      <p:sp>
        <p:nvSpPr>
          <p:cNvPr id="30" name="Text 28"/>
          <p:cNvSpPr txBox="1"/>
          <p:nvPr/>
        </p:nvSpPr>
        <p:spPr>
          <a:xfrm>
            <a:off x="731520" y="4983480"/>
            <a:ext cx="1280160" cy="603504"/>
          </a:xfrm>
          <a:prstGeom prst="rect">
            <a:avLst/>
          </a:prstGeom>
          <a:noFill/>
          <a:ln/>
        </p:spPr>
        <p:txBody>
          <a:bodyPr wrap="square" lIns="0" tIns="0" rIns="0" bIns="0" rtlCol="0" anchor="ctr"/>
          <a:lstStyle/>
          <a:p>
            <a:pPr indent="0" marL="0">
              <a:buNone/>
            </a:pPr>
            <a:r>
              <a:rPr lang="en-US" sz="1400" b="1" dirty="0">
                <a:solidFill>
                  <a:srgbClr val="B5452F"/>
                </a:solidFill>
                <a:latin typeface="Arial" pitchFamily="34" charset="0"/>
                <a:ea typeface="Arial" pitchFamily="34" charset="-122"/>
                <a:cs typeface="Arial" pitchFamily="34" charset="-120"/>
              </a:rPr>
              <a:t>Behaviour</a:t>
            </a:r>
            <a:endParaRPr lang="en-US" sz="1400" dirty="0"/>
          </a:p>
        </p:txBody>
      </p:sp>
      <p:sp>
        <p:nvSpPr>
          <p:cNvPr id="31" name="Text 29"/>
          <p:cNvSpPr txBox="1"/>
          <p:nvPr/>
        </p:nvSpPr>
        <p:spPr>
          <a:xfrm>
            <a:off x="2286000" y="4983480"/>
            <a:ext cx="4297680" cy="603504"/>
          </a:xfrm>
          <a:prstGeom prst="rect">
            <a:avLst/>
          </a:prstGeom>
          <a:noFill/>
          <a:ln/>
        </p:spPr>
        <p:txBody>
          <a:bodyPr wrap="square" lIns="0" tIns="0" rIns="0" bIns="0" rtlCol="0" anchor="ctr"/>
          <a:lstStyle/>
          <a:p>
            <a:pPr indent="0" marL="0">
              <a:buNone/>
            </a:pPr>
            <a:r>
              <a:rPr lang="en-US" sz="1400" dirty="0">
                <a:solidFill>
                  <a:srgbClr val="1B2A3A"/>
                </a:solidFill>
                <a:latin typeface="Arial" pitchFamily="34" charset="0"/>
                <a:ea typeface="Arial" pitchFamily="34" charset="-122"/>
                <a:cs typeface="Arial" pitchFamily="34" charset="-120"/>
              </a:rPr>
              <a:t>New payee vs. vendor payment history</a:t>
            </a:r>
            <a:endParaRPr lang="en-US" sz="1400" dirty="0"/>
          </a:p>
        </p:txBody>
      </p:sp>
      <p:sp>
        <p:nvSpPr>
          <p:cNvPr id="32" name="Text 30"/>
          <p:cNvSpPr txBox="1"/>
          <p:nvPr/>
        </p:nvSpPr>
        <p:spPr>
          <a:xfrm>
            <a:off x="6858000" y="4983480"/>
            <a:ext cx="4663440" cy="603504"/>
          </a:xfrm>
          <a:prstGeom prst="rect">
            <a:avLst/>
          </a:prstGeom>
          <a:noFill/>
          <a:ln/>
        </p:spPr>
        <p:txBody>
          <a:bodyPr wrap="square" lIns="0" tIns="0" rIns="0" bIns="0" rtlCol="0" anchor="ctr"/>
          <a:lstStyle/>
          <a:p>
            <a:pPr indent="0" marL="0">
              <a:buNone/>
            </a:pPr>
            <a:r>
              <a:rPr lang="en-US" sz="1400" dirty="0">
                <a:solidFill>
                  <a:srgbClr val="4F5E6B"/>
                </a:solidFill>
                <a:latin typeface="Arial" pitchFamily="34" charset="0"/>
                <a:ea typeface="Arial" pitchFamily="34" charset="-122"/>
                <a:cs typeface="Arial" pitchFamily="34" charset="-120"/>
              </a:rPr>
              <a:t>Account never used before for this vendor</a:t>
            </a:r>
            <a:endParaRPr lang="en-US" sz="1400" dirty="0"/>
          </a:p>
        </p:txBody>
      </p:sp>
      <p:sp>
        <p:nvSpPr>
          <p:cNvPr id="33" name="Shape 31"/>
          <p:cNvSpPr/>
          <p:nvPr/>
        </p:nvSpPr>
        <p:spPr>
          <a:xfrm>
            <a:off x="548640" y="5715000"/>
            <a:ext cx="11091672" cy="548640"/>
          </a:xfrm>
          <a:prstGeom prst="roundRect">
            <a:avLst>
              <a:gd name="adj" fmla="val 16667"/>
            </a:avLst>
          </a:prstGeom>
          <a:solidFill>
            <a:srgbClr val="E6EDE8"/>
          </a:solidFill>
          <a:ln w="12700">
            <a:solidFill>
              <a:srgbClr val="E6EDE8"/>
            </a:solidFill>
            <a:prstDash val="solid"/>
          </a:ln>
        </p:spPr>
      </p:sp>
      <p:sp>
        <p:nvSpPr>
          <p:cNvPr id="34" name="Text 32"/>
          <p:cNvSpPr txBox="1"/>
          <p:nvPr/>
        </p:nvSpPr>
        <p:spPr>
          <a:xfrm>
            <a:off x="822960" y="5715000"/>
            <a:ext cx="10607040" cy="548640"/>
          </a:xfrm>
          <a:prstGeom prst="rect">
            <a:avLst/>
          </a:prstGeom>
          <a:noFill/>
          <a:ln/>
        </p:spPr>
        <p:txBody>
          <a:bodyPr wrap="square" lIns="0" tIns="0" rIns="0" bIns="0" rtlCol="0" anchor="ctr"/>
          <a:lstStyle/>
          <a:p>
            <a:pPr indent="0" marL="0">
              <a:buNone/>
            </a:pPr>
            <a:r>
              <a:rPr lang="en-US" sz="1500" b="1" i="1" dirty="0">
                <a:solidFill>
                  <a:srgbClr val="1F6F6B"/>
                </a:solidFill>
                <a:latin typeface="Arial" pitchFamily="34" charset="0"/>
                <a:ea typeface="Arial" pitchFamily="34" charset="-122"/>
                <a:cs typeface="Arial" pitchFamily="34" charset="-120"/>
              </a:rPr>
              <a:t>Each signal alone can be noisy. Together, they push these emails far above a genuine Quanta invoice.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886968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Models compared and how we evaluate them</a:t>
            </a:r>
            <a:endParaRPr lang="en-US" sz="3200" dirty="0"/>
          </a:p>
        </p:txBody>
      </p:sp>
      <p:sp>
        <p:nvSpPr>
          <p:cNvPr id="3" name="Shape 1"/>
          <p:cNvSpPr/>
          <p:nvPr/>
        </p:nvSpPr>
        <p:spPr>
          <a:xfrm>
            <a:off x="9738360" y="630936"/>
            <a:ext cx="1901952" cy="384048"/>
          </a:xfrm>
          <a:prstGeom prst="roundRect">
            <a:avLst>
              <a:gd name="adj" fmla="val 50000"/>
            </a:avLst>
          </a:prstGeom>
          <a:solidFill>
            <a:srgbClr val="E6EDE8"/>
          </a:solidFill>
          <a:ln w="12700">
            <a:solidFill>
              <a:srgbClr val="E6EDE8"/>
            </a:solidFill>
            <a:prstDash val="solid"/>
          </a:ln>
        </p:spPr>
      </p:sp>
      <p:sp>
        <p:nvSpPr>
          <p:cNvPr id="4" name="Text 2"/>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1F6F6B"/>
                </a:solidFill>
                <a:latin typeface="Arial" pitchFamily="34" charset="0"/>
                <a:ea typeface="Arial" pitchFamily="34" charset="-122"/>
                <a:cs typeface="Arial" pitchFamily="34" charset="-120"/>
              </a:rPr>
              <a:t>PRESENTER · YAMAN</a:t>
            </a:r>
            <a:endParaRPr lang="en-US" sz="1000" dirty="0"/>
          </a:p>
        </p:txBody>
      </p:sp>
      <p:sp>
        <p:nvSpPr>
          <p:cNvPr id="5" name="Shape 3"/>
          <p:cNvSpPr/>
          <p:nvPr/>
        </p:nvSpPr>
        <p:spPr>
          <a:xfrm>
            <a:off x="548640" y="1463040"/>
            <a:ext cx="7040880" cy="4754880"/>
          </a:xfrm>
          <a:prstGeom prst="roundRect">
            <a:avLst>
              <a:gd name="adj" fmla="val 1923"/>
            </a:avLst>
          </a:prstGeom>
          <a:solidFill>
            <a:srgbClr val="FFFFFF"/>
          </a:solidFill>
          <a:ln w="9525">
            <a:solidFill>
              <a:srgbClr val="D8D2C4"/>
            </a:solidFill>
            <a:prstDash val="solid"/>
          </a:ln>
        </p:spPr>
      </p:sp>
      <p:sp>
        <p:nvSpPr>
          <p:cNvPr id="6" name="Text 4"/>
          <p:cNvSpPr txBox="1"/>
          <p:nvPr/>
        </p:nvSpPr>
        <p:spPr>
          <a:xfrm>
            <a:off x="822960" y="1691640"/>
            <a:ext cx="3291840" cy="274320"/>
          </a:xfrm>
          <a:prstGeom prst="rect">
            <a:avLst/>
          </a:prstGeom>
          <a:noFill/>
          <a:ln/>
        </p:spPr>
        <p:txBody>
          <a:bodyPr wrap="square" lIns="0" tIns="0" rIns="0" bIns="0" rtlCol="0" anchor="t"/>
          <a:lstStyle/>
          <a:p>
            <a:pPr indent="0" marL="0">
              <a:buNone/>
            </a:pPr>
            <a:r>
              <a:rPr lang="en-US" sz="1100" b="1" spc="200" kern="0" dirty="0">
                <a:solidFill>
                  <a:srgbClr val="4F5E6B"/>
                </a:solidFill>
                <a:latin typeface="Arial" pitchFamily="34" charset="0"/>
                <a:ea typeface="Arial" pitchFamily="34" charset="-122"/>
                <a:cs typeface="Arial" pitchFamily="34" charset="-120"/>
              </a:rPr>
              <a:t>MODEL</a:t>
            </a:r>
            <a:endParaRPr lang="en-US" sz="1100" dirty="0"/>
          </a:p>
        </p:txBody>
      </p:sp>
      <p:sp>
        <p:nvSpPr>
          <p:cNvPr id="7" name="Text 5"/>
          <p:cNvSpPr txBox="1"/>
          <p:nvPr/>
        </p:nvSpPr>
        <p:spPr>
          <a:xfrm>
            <a:off x="4572000" y="1691640"/>
            <a:ext cx="1371600" cy="274320"/>
          </a:xfrm>
          <a:prstGeom prst="rect">
            <a:avLst/>
          </a:prstGeom>
          <a:noFill/>
          <a:ln/>
        </p:spPr>
        <p:txBody>
          <a:bodyPr wrap="square" lIns="0" tIns="0" rIns="0" bIns="0" rtlCol="0" anchor="t"/>
          <a:lstStyle/>
          <a:p>
            <a:pPr algn="ctr" indent="0" marL="0">
              <a:buNone/>
            </a:pPr>
            <a:r>
              <a:rPr lang="en-US" sz="1100" b="1" spc="200" kern="0" dirty="0">
                <a:solidFill>
                  <a:srgbClr val="4F5E6B"/>
                </a:solidFill>
                <a:latin typeface="Arial" pitchFamily="34" charset="0"/>
                <a:ea typeface="Arial" pitchFamily="34" charset="-122"/>
                <a:cs typeface="Arial" pitchFamily="34" charset="-120"/>
              </a:rPr>
              <a:t>CONTEXT</a:t>
            </a:r>
            <a:endParaRPr lang="en-US" sz="1100" dirty="0"/>
          </a:p>
        </p:txBody>
      </p:sp>
      <p:sp>
        <p:nvSpPr>
          <p:cNvPr id="8" name="Text 6"/>
          <p:cNvSpPr txBox="1"/>
          <p:nvPr/>
        </p:nvSpPr>
        <p:spPr>
          <a:xfrm>
            <a:off x="6035040" y="1691640"/>
            <a:ext cx="1371600" cy="274320"/>
          </a:xfrm>
          <a:prstGeom prst="rect">
            <a:avLst/>
          </a:prstGeom>
          <a:noFill/>
          <a:ln/>
        </p:spPr>
        <p:txBody>
          <a:bodyPr wrap="square" lIns="0" tIns="0" rIns="0" bIns="0" rtlCol="0" anchor="t"/>
          <a:lstStyle/>
          <a:p>
            <a:pPr algn="ctr" indent="0" marL="0">
              <a:buNone/>
            </a:pPr>
            <a:r>
              <a:rPr lang="en-US" sz="1100" b="1" spc="200" kern="0" dirty="0">
                <a:solidFill>
                  <a:srgbClr val="4F5E6B"/>
                </a:solidFill>
                <a:latin typeface="Arial" pitchFamily="34" charset="0"/>
                <a:ea typeface="Arial" pitchFamily="34" charset="-122"/>
                <a:cs typeface="Arial" pitchFamily="34" charset="-120"/>
              </a:rPr>
              <a:t>SPEED</a:t>
            </a:r>
            <a:endParaRPr lang="en-US" sz="1100" dirty="0"/>
          </a:p>
        </p:txBody>
      </p:sp>
      <p:sp>
        <p:nvSpPr>
          <p:cNvPr id="9" name="Text 7"/>
          <p:cNvSpPr txBox="1"/>
          <p:nvPr/>
        </p:nvSpPr>
        <p:spPr>
          <a:xfrm>
            <a:off x="822960" y="2148840"/>
            <a:ext cx="3657600" cy="365760"/>
          </a:xfrm>
          <a:prstGeom prst="rect">
            <a:avLst/>
          </a:prstGeom>
          <a:noFill/>
          <a:ln/>
        </p:spPr>
        <p:txBody>
          <a:bodyPr wrap="square" lIns="0" tIns="0" rIns="0" bIns="0" rtlCol="0" anchor="t"/>
          <a:lstStyle/>
          <a:p>
            <a:pPr indent="0" marL="0">
              <a:buNone/>
            </a:pPr>
            <a:r>
              <a:rPr lang="en-US" sz="1500" b="1" dirty="0">
                <a:solidFill>
                  <a:srgbClr val="1B2A3A"/>
                </a:solidFill>
                <a:latin typeface="Arial" pitchFamily="34" charset="0"/>
                <a:ea typeface="Arial" pitchFamily="34" charset="-122"/>
                <a:cs typeface="Arial" pitchFamily="34" charset="-120"/>
              </a:rPr>
              <a:t>TF-IDF + Logistic Regression</a:t>
            </a:r>
            <a:endParaRPr lang="en-US" sz="1500" dirty="0"/>
          </a:p>
        </p:txBody>
      </p:sp>
      <p:sp>
        <p:nvSpPr>
          <p:cNvPr id="10" name="Text 8"/>
          <p:cNvSpPr txBox="1"/>
          <p:nvPr/>
        </p:nvSpPr>
        <p:spPr>
          <a:xfrm>
            <a:off x="822960" y="2532888"/>
            <a:ext cx="3657600" cy="32004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Fast, interpretable baseline</a:t>
            </a:r>
            <a:endParaRPr lang="en-US" sz="1300" dirty="0"/>
          </a:p>
        </p:txBody>
      </p:sp>
      <p:sp>
        <p:nvSpPr>
          <p:cNvPr id="11" name="Shape 9"/>
          <p:cNvSpPr/>
          <p:nvPr/>
        </p:nvSpPr>
        <p:spPr>
          <a:xfrm>
            <a:off x="4773168" y="2377440"/>
            <a:ext cx="182880" cy="182880"/>
          </a:xfrm>
          <a:prstGeom prst="ellipse">
            <a:avLst/>
          </a:prstGeom>
          <a:solidFill>
            <a:srgbClr val="1F6F6B"/>
          </a:solidFill>
          <a:ln w="12700">
            <a:solidFill>
              <a:srgbClr val="1F6F6B"/>
            </a:solidFill>
            <a:prstDash val="solid"/>
          </a:ln>
        </p:spPr>
      </p:sp>
      <p:sp>
        <p:nvSpPr>
          <p:cNvPr id="12" name="Shape 10"/>
          <p:cNvSpPr/>
          <p:nvPr/>
        </p:nvSpPr>
        <p:spPr>
          <a:xfrm>
            <a:off x="5029200" y="2377440"/>
            <a:ext cx="182880" cy="182880"/>
          </a:xfrm>
          <a:prstGeom prst="ellipse">
            <a:avLst/>
          </a:prstGeom>
          <a:solidFill>
            <a:srgbClr val="1F6F6B"/>
          </a:solidFill>
          <a:ln w="12700">
            <a:solidFill>
              <a:srgbClr val="1F6F6B"/>
            </a:solidFill>
            <a:prstDash val="solid"/>
          </a:ln>
        </p:spPr>
      </p:sp>
      <p:sp>
        <p:nvSpPr>
          <p:cNvPr id="13" name="Shape 11"/>
          <p:cNvSpPr/>
          <p:nvPr/>
        </p:nvSpPr>
        <p:spPr>
          <a:xfrm>
            <a:off x="5285232" y="2377440"/>
            <a:ext cx="182880" cy="182880"/>
          </a:xfrm>
          <a:prstGeom prst="ellipse">
            <a:avLst/>
          </a:prstGeom>
          <a:solidFill>
            <a:srgbClr val="DDE5E0"/>
          </a:solidFill>
          <a:ln w="12700">
            <a:solidFill>
              <a:srgbClr val="DDE5E0"/>
            </a:solidFill>
            <a:prstDash val="solid"/>
          </a:ln>
        </p:spPr>
      </p:sp>
      <p:sp>
        <p:nvSpPr>
          <p:cNvPr id="14" name="Shape 12"/>
          <p:cNvSpPr/>
          <p:nvPr/>
        </p:nvSpPr>
        <p:spPr>
          <a:xfrm>
            <a:off x="5541264" y="2377440"/>
            <a:ext cx="182880" cy="182880"/>
          </a:xfrm>
          <a:prstGeom prst="ellipse">
            <a:avLst/>
          </a:prstGeom>
          <a:solidFill>
            <a:srgbClr val="DDE5E0"/>
          </a:solidFill>
          <a:ln w="12700">
            <a:solidFill>
              <a:srgbClr val="DDE5E0"/>
            </a:solidFill>
            <a:prstDash val="solid"/>
          </a:ln>
        </p:spPr>
      </p:sp>
      <p:sp>
        <p:nvSpPr>
          <p:cNvPr id="15" name="Shape 13"/>
          <p:cNvSpPr/>
          <p:nvPr/>
        </p:nvSpPr>
        <p:spPr>
          <a:xfrm>
            <a:off x="6236208" y="2377440"/>
            <a:ext cx="182880" cy="182880"/>
          </a:xfrm>
          <a:prstGeom prst="ellipse">
            <a:avLst/>
          </a:prstGeom>
          <a:solidFill>
            <a:srgbClr val="1F6F6B"/>
          </a:solidFill>
          <a:ln w="12700">
            <a:solidFill>
              <a:srgbClr val="1F6F6B"/>
            </a:solidFill>
            <a:prstDash val="solid"/>
          </a:ln>
        </p:spPr>
      </p:sp>
      <p:sp>
        <p:nvSpPr>
          <p:cNvPr id="16" name="Shape 14"/>
          <p:cNvSpPr/>
          <p:nvPr/>
        </p:nvSpPr>
        <p:spPr>
          <a:xfrm>
            <a:off x="6492240" y="2377440"/>
            <a:ext cx="182880" cy="182880"/>
          </a:xfrm>
          <a:prstGeom prst="ellipse">
            <a:avLst/>
          </a:prstGeom>
          <a:solidFill>
            <a:srgbClr val="1F6F6B"/>
          </a:solidFill>
          <a:ln w="12700">
            <a:solidFill>
              <a:srgbClr val="1F6F6B"/>
            </a:solidFill>
            <a:prstDash val="solid"/>
          </a:ln>
        </p:spPr>
      </p:sp>
      <p:sp>
        <p:nvSpPr>
          <p:cNvPr id="17" name="Shape 15"/>
          <p:cNvSpPr/>
          <p:nvPr/>
        </p:nvSpPr>
        <p:spPr>
          <a:xfrm>
            <a:off x="6748272" y="2377440"/>
            <a:ext cx="182880" cy="182880"/>
          </a:xfrm>
          <a:prstGeom prst="ellipse">
            <a:avLst/>
          </a:prstGeom>
          <a:solidFill>
            <a:srgbClr val="1F6F6B"/>
          </a:solidFill>
          <a:ln w="12700">
            <a:solidFill>
              <a:srgbClr val="1F6F6B"/>
            </a:solidFill>
            <a:prstDash val="solid"/>
          </a:ln>
        </p:spPr>
      </p:sp>
      <p:sp>
        <p:nvSpPr>
          <p:cNvPr id="18" name="Shape 16"/>
          <p:cNvSpPr/>
          <p:nvPr/>
        </p:nvSpPr>
        <p:spPr>
          <a:xfrm>
            <a:off x="7004304" y="2377440"/>
            <a:ext cx="182880" cy="182880"/>
          </a:xfrm>
          <a:prstGeom prst="ellipse">
            <a:avLst/>
          </a:prstGeom>
          <a:solidFill>
            <a:srgbClr val="1F6F6B"/>
          </a:solidFill>
          <a:ln w="12700">
            <a:solidFill>
              <a:srgbClr val="1F6F6B"/>
            </a:solidFill>
            <a:prstDash val="solid"/>
          </a:ln>
        </p:spPr>
      </p:sp>
      <p:sp>
        <p:nvSpPr>
          <p:cNvPr id="19" name="Shape 17"/>
          <p:cNvSpPr/>
          <p:nvPr/>
        </p:nvSpPr>
        <p:spPr>
          <a:xfrm>
            <a:off x="822960" y="3026664"/>
            <a:ext cx="6492240" cy="0"/>
          </a:xfrm>
          <a:prstGeom prst="line">
            <a:avLst/>
          </a:prstGeom>
          <a:noFill/>
          <a:ln w="9525">
            <a:solidFill>
              <a:srgbClr val="D8D2C4"/>
            </a:solidFill>
            <a:prstDash val="solid"/>
          </a:ln>
        </p:spPr>
      </p:sp>
      <p:sp>
        <p:nvSpPr>
          <p:cNvPr id="20" name="Text 18"/>
          <p:cNvSpPr txBox="1"/>
          <p:nvPr/>
        </p:nvSpPr>
        <p:spPr>
          <a:xfrm>
            <a:off x="822960" y="3136392"/>
            <a:ext cx="3657600" cy="365760"/>
          </a:xfrm>
          <a:prstGeom prst="rect">
            <a:avLst/>
          </a:prstGeom>
          <a:noFill/>
          <a:ln/>
        </p:spPr>
        <p:txBody>
          <a:bodyPr wrap="square" lIns="0" tIns="0" rIns="0" bIns="0" rtlCol="0" anchor="t"/>
          <a:lstStyle/>
          <a:p>
            <a:pPr indent="0" marL="0">
              <a:buNone/>
            </a:pPr>
            <a:r>
              <a:rPr lang="en-US" sz="1500" b="1" dirty="0">
                <a:solidFill>
                  <a:srgbClr val="1B2A3A"/>
                </a:solidFill>
                <a:latin typeface="Arial" pitchFamily="34" charset="0"/>
                <a:ea typeface="Arial" pitchFamily="34" charset="-122"/>
                <a:cs typeface="Arial" pitchFamily="34" charset="-120"/>
              </a:rPr>
              <a:t>Random Forest (hybrid features)</a:t>
            </a:r>
            <a:endParaRPr lang="en-US" sz="1500" dirty="0"/>
          </a:p>
        </p:txBody>
      </p:sp>
      <p:sp>
        <p:nvSpPr>
          <p:cNvPr id="21" name="Text 19"/>
          <p:cNvSpPr txBox="1"/>
          <p:nvPr/>
        </p:nvSpPr>
        <p:spPr>
          <a:xfrm>
            <a:off x="822960" y="3520440"/>
            <a:ext cx="3657600" cy="32004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Combines header + behaviour signals</a:t>
            </a:r>
            <a:endParaRPr lang="en-US" sz="1300" dirty="0"/>
          </a:p>
        </p:txBody>
      </p:sp>
      <p:sp>
        <p:nvSpPr>
          <p:cNvPr id="22" name="Shape 20"/>
          <p:cNvSpPr/>
          <p:nvPr/>
        </p:nvSpPr>
        <p:spPr>
          <a:xfrm>
            <a:off x="4773168" y="3364992"/>
            <a:ext cx="182880" cy="182880"/>
          </a:xfrm>
          <a:prstGeom prst="ellipse">
            <a:avLst/>
          </a:prstGeom>
          <a:solidFill>
            <a:srgbClr val="1F6F6B"/>
          </a:solidFill>
          <a:ln w="12700">
            <a:solidFill>
              <a:srgbClr val="1F6F6B"/>
            </a:solidFill>
            <a:prstDash val="solid"/>
          </a:ln>
        </p:spPr>
      </p:sp>
      <p:sp>
        <p:nvSpPr>
          <p:cNvPr id="23" name="Shape 21"/>
          <p:cNvSpPr/>
          <p:nvPr/>
        </p:nvSpPr>
        <p:spPr>
          <a:xfrm>
            <a:off x="5029200" y="3364992"/>
            <a:ext cx="182880" cy="182880"/>
          </a:xfrm>
          <a:prstGeom prst="ellipse">
            <a:avLst/>
          </a:prstGeom>
          <a:solidFill>
            <a:srgbClr val="1F6F6B"/>
          </a:solidFill>
          <a:ln w="12700">
            <a:solidFill>
              <a:srgbClr val="1F6F6B"/>
            </a:solidFill>
            <a:prstDash val="solid"/>
          </a:ln>
        </p:spPr>
      </p:sp>
      <p:sp>
        <p:nvSpPr>
          <p:cNvPr id="24" name="Shape 22"/>
          <p:cNvSpPr/>
          <p:nvPr/>
        </p:nvSpPr>
        <p:spPr>
          <a:xfrm>
            <a:off x="5285232" y="3364992"/>
            <a:ext cx="182880" cy="182880"/>
          </a:xfrm>
          <a:prstGeom prst="ellipse">
            <a:avLst/>
          </a:prstGeom>
          <a:solidFill>
            <a:srgbClr val="1F6F6B"/>
          </a:solidFill>
          <a:ln w="12700">
            <a:solidFill>
              <a:srgbClr val="1F6F6B"/>
            </a:solidFill>
            <a:prstDash val="solid"/>
          </a:ln>
        </p:spPr>
      </p:sp>
      <p:sp>
        <p:nvSpPr>
          <p:cNvPr id="25" name="Shape 23"/>
          <p:cNvSpPr/>
          <p:nvPr/>
        </p:nvSpPr>
        <p:spPr>
          <a:xfrm>
            <a:off x="5541264" y="3364992"/>
            <a:ext cx="182880" cy="182880"/>
          </a:xfrm>
          <a:prstGeom prst="ellipse">
            <a:avLst/>
          </a:prstGeom>
          <a:solidFill>
            <a:srgbClr val="DDE5E0"/>
          </a:solidFill>
          <a:ln w="12700">
            <a:solidFill>
              <a:srgbClr val="DDE5E0"/>
            </a:solidFill>
            <a:prstDash val="solid"/>
          </a:ln>
        </p:spPr>
      </p:sp>
      <p:sp>
        <p:nvSpPr>
          <p:cNvPr id="26" name="Shape 24"/>
          <p:cNvSpPr/>
          <p:nvPr/>
        </p:nvSpPr>
        <p:spPr>
          <a:xfrm>
            <a:off x="6236208" y="3364992"/>
            <a:ext cx="182880" cy="182880"/>
          </a:xfrm>
          <a:prstGeom prst="ellipse">
            <a:avLst/>
          </a:prstGeom>
          <a:solidFill>
            <a:srgbClr val="1F6F6B"/>
          </a:solidFill>
          <a:ln w="12700">
            <a:solidFill>
              <a:srgbClr val="1F6F6B"/>
            </a:solidFill>
            <a:prstDash val="solid"/>
          </a:ln>
        </p:spPr>
      </p:sp>
      <p:sp>
        <p:nvSpPr>
          <p:cNvPr id="27" name="Shape 25"/>
          <p:cNvSpPr/>
          <p:nvPr/>
        </p:nvSpPr>
        <p:spPr>
          <a:xfrm>
            <a:off x="6492240" y="3364992"/>
            <a:ext cx="182880" cy="182880"/>
          </a:xfrm>
          <a:prstGeom prst="ellipse">
            <a:avLst/>
          </a:prstGeom>
          <a:solidFill>
            <a:srgbClr val="1F6F6B"/>
          </a:solidFill>
          <a:ln w="12700">
            <a:solidFill>
              <a:srgbClr val="1F6F6B"/>
            </a:solidFill>
            <a:prstDash val="solid"/>
          </a:ln>
        </p:spPr>
      </p:sp>
      <p:sp>
        <p:nvSpPr>
          <p:cNvPr id="28" name="Shape 26"/>
          <p:cNvSpPr/>
          <p:nvPr/>
        </p:nvSpPr>
        <p:spPr>
          <a:xfrm>
            <a:off x="6748272" y="3364992"/>
            <a:ext cx="182880" cy="182880"/>
          </a:xfrm>
          <a:prstGeom prst="ellipse">
            <a:avLst/>
          </a:prstGeom>
          <a:solidFill>
            <a:srgbClr val="1F6F6B"/>
          </a:solidFill>
          <a:ln w="12700">
            <a:solidFill>
              <a:srgbClr val="1F6F6B"/>
            </a:solidFill>
            <a:prstDash val="solid"/>
          </a:ln>
        </p:spPr>
      </p:sp>
      <p:sp>
        <p:nvSpPr>
          <p:cNvPr id="29" name="Shape 27"/>
          <p:cNvSpPr/>
          <p:nvPr/>
        </p:nvSpPr>
        <p:spPr>
          <a:xfrm>
            <a:off x="7004304" y="3364992"/>
            <a:ext cx="182880" cy="182880"/>
          </a:xfrm>
          <a:prstGeom prst="ellipse">
            <a:avLst/>
          </a:prstGeom>
          <a:solidFill>
            <a:srgbClr val="DDE5E0"/>
          </a:solidFill>
          <a:ln w="12700">
            <a:solidFill>
              <a:srgbClr val="DDE5E0"/>
            </a:solidFill>
            <a:prstDash val="solid"/>
          </a:ln>
        </p:spPr>
      </p:sp>
      <p:sp>
        <p:nvSpPr>
          <p:cNvPr id="30" name="Shape 28"/>
          <p:cNvSpPr/>
          <p:nvPr/>
        </p:nvSpPr>
        <p:spPr>
          <a:xfrm>
            <a:off x="822960" y="4014216"/>
            <a:ext cx="6492240" cy="0"/>
          </a:xfrm>
          <a:prstGeom prst="line">
            <a:avLst/>
          </a:prstGeom>
          <a:noFill/>
          <a:ln w="9525">
            <a:solidFill>
              <a:srgbClr val="D8D2C4"/>
            </a:solidFill>
            <a:prstDash val="solid"/>
          </a:ln>
        </p:spPr>
      </p:sp>
      <p:sp>
        <p:nvSpPr>
          <p:cNvPr id="31" name="Text 29"/>
          <p:cNvSpPr txBox="1"/>
          <p:nvPr/>
        </p:nvSpPr>
        <p:spPr>
          <a:xfrm>
            <a:off x="822960" y="4123944"/>
            <a:ext cx="3657600" cy="365760"/>
          </a:xfrm>
          <a:prstGeom prst="rect">
            <a:avLst/>
          </a:prstGeom>
          <a:noFill/>
          <a:ln/>
        </p:spPr>
        <p:txBody>
          <a:bodyPr wrap="square" lIns="0" tIns="0" rIns="0" bIns="0" rtlCol="0" anchor="t"/>
          <a:lstStyle/>
          <a:p>
            <a:pPr indent="0" marL="0">
              <a:buNone/>
            </a:pPr>
            <a:r>
              <a:rPr lang="en-US" sz="1500" b="1" dirty="0">
                <a:solidFill>
                  <a:srgbClr val="1B2A3A"/>
                </a:solidFill>
                <a:latin typeface="Arial" pitchFamily="34" charset="0"/>
                <a:ea typeface="Arial" pitchFamily="34" charset="-122"/>
                <a:cs typeface="Arial" pitchFamily="34" charset="-120"/>
              </a:rPr>
              <a:t>BiLSTM</a:t>
            </a:r>
            <a:endParaRPr lang="en-US" sz="1500" dirty="0"/>
          </a:p>
        </p:txBody>
      </p:sp>
      <p:sp>
        <p:nvSpPr>
          <p:cNvPr id="32" name="Text 30"/>
          <p:cNvSpPr txBox="1"/>
          <p:nvPr/>
        </p:nvSpPr>
        <p:spPr>
          <a:xfrm>
            <a:off x="822960" y="4507992"/>
            <a:ext cx="3657600" cy="32004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Captures word order and phrasing</a:t>
            </a:r>
            <a:endParaRPr lang="en-US" sz="1300" dirty="0"/>
          </a:p>
        </p:txBody>
      </p:sp>
      <p:sp>
        <p:nvSpPr>
          <p:cNvPr id="33" name="Shape 31"/>
          <p:cNvSpPr/>
          <p:nvPr/>
        </p:nvSpPr>
        <p:spPr>
          <a:xfrm>
            <a:off x="4773168" y="4352544"/>
            <a:ext cx="182880" cy="182880"/>
          </a:xfrm>
          <a:prstGeom prst="ellipse">
            <a:avLst/>
          </a:prstGeom>
          <a:solidFill>
            <a:srgbClr val="1F6F6B"/>
          </a:solidFill>
          <a:ln w="12700">
            <a:solidFill>
              <a:srgbClr val="1F6F6B"/>
            </a:solidFill>
            <a:prstDash val="solid"/>
          </a:ln>
        </p:spPr>
      </p:sp>
      <p:sp>
        <p:nvSpPr>
          <p:cNvPr id="34" name="Shape 32"/>
          <p:cNvSpPr/>
          <p:nvPr/>
        </p:nvSpPr>
        <p:spPr>
          <a:xfrm>
            <a:off x="5029200" y="4352544"/>
            <a:ext cx="182880" cy="182880"/>
          </a:xfrm>
          <a:prstGeom prst="ellipse">
            <a:avLst/>
          </a:prstGeom>
          <a:solidFill>
            <a:srgbClr val="1F6F6B"/>
          </a:solidFill>
          <a:ln w="12700">
            <a:solidFill>
              <a:srgbClr val="1F6F6B"/>
            </a:solidFill>
            <a:prstDash val="solid"/>
          </a:ln>
        </p:spPr>
      </p:sp>
      <p:sp>
        <p:nvSpPr>
          <p:cNvPr id="35" name="Shape 33"/>
          <p:cNvSpPr/>
          <p:nvPr/>
        </p:nvSpPr>
        <p:spPr>
          <a:xfrm>
            <a:off x="5285232" y="4352544"/>
            <a:ext cx="182880" cy="182880"/>
          </a:xfrm>
          <a:prstGeom prst="ellipse">
            <a:avLst/>
          </a:prstGeom>
          <a:solidFill>
            <a:srgbClr val="1F6F6B"/>
          </a:solidFill>
          <a:ln w="12700">
            <a:solidFill>
              <a:srgbClr val="1F6F6B"/>
            </a:solidFill>
            <a:prstDash val="solid"/>
          </a:ln>
        </p:spPr>
      </p:sp>
      <p:sp>
        <p:nvSpPr>
          <p:cNvPr id="36" name="Shape 34"/>
          <p:cNvSpPr/>
          <p:nvPr/>
        </p:nvSpPr>
        <p:spPr>
          <a:xfrm>
            <a:off x="5541264" y="4352544"/>
            <a:ext cx="182880" cy="182880"/>
          </a:xfrm>
          <a:prstGeom prst="ellipse">
            <a:avLst/>
          </a:prstGeom>
          <a:solidFill>
            <a:srgbClr val="DDE5E0"/>
          </a:solidFill>
          <a:ln w="12700">
            <a:solidFill>
              <a:srgbClr val="DDE5E0"/>
            </a:solidFill>
            <a:prstDash val="solid"/>
          </a:ln>
        </p:spPr>
      </p:sp>
      <p:sp>
        <p:nvSpPr>
          <p:cNvPr id="37" name="Shape 35"/>
          <p:cNvSpPr/>
          <p:nvPr/>
        </p:nvSpPr>
        <p:spPr>
          <a:xfrm>
            <a:off x="6236208" y="4352544"/>
            <a:ext cx="182880" cy="182880"/>
          </a:xfrm>
          <a:prstGeom prst="ellipse">
            <a:avLst/>
          </a:prstGeom>
          <a:solidFill>
            <a:srgbClr val="1F6F6B"/>
          </a:solidFill>
          <a:ln w="12700">
            <a:solidFill>
              <a:srgbClr val="1F6F6B"/>
            </a:solidFill>
            <a:prstDash val="solid"/>
          </a:ln>
        </p:spPr>
      </p:sp>
      <p:sp>
        <p:nvSpPr>
          <p:cNvPr id="38" name="Shape 36"/>
          <p:cNvSpPr/>
          <p:nvPr/>
        </p:nvSpPr>
        <p:spPr>
          <a:xfrm>
            <a:off x="6492240" y="4352544"/>
            <a:ext cx="182880" cy="182880"/>
          </a:xfrm>
          <a:prstGeom prst="ellipse">
            <a:avLst/>
          </a:prstGeom>
          <a:solidFill>
            <a:srgbClr val="1F6F6B"/>
          </a:solidFill>
          <a:ln w="12700">
            <a:solidFill>
              <a:srgbClr val="1F6F6B"/>
            </a:solidFill>
            <a:prstDash val="solid"/>
          </a:ln>
        </p:spPr>
      </p:sp>
      <p:sp>
        <p:nvSpPr>
          <p:cNvPr id="39" name="Shape 37"/>
          <p:cNvSpPr/>
          <p:nvPr/>
        </p:nvSpPr>
        <p:spPr>
          <a:xfrm>
            <a:off x="6748272" y="4352544"/>
            <a:ext cx="182880" cy="182880"/>
          </a:xfrm>
          <a:prstGeom prst="ellipse">
            <a:avLst/>
          </a:prstGeom>
          <a:solidFill>
            <a:srgbClr val="DDE5E0"/>
          </a:solidFill>
          <a:ln w="12700">
            <a:solidFill>
              <a:srgbClr val="DDE5E0"/>
            </a:solidFill>
            <a:prstDash val="solid"/>
          </a:ln>
        </p:spPr>
      </p:sp>
      <p:sp>
        <p:nvSpPr>
          <p:cNvPr id="40" name="Shape 38"/>
          <p:cNvSpPr/>
          <p:nvPr/>
        </p:nvSpPr>
        <p:spPr>
          <a:xfrm>
            <a:off x="7004304" y="4352544"/>
            <a:ext cx="182880" cy="182880"/>
          </a:xfrm>
          <a:prstGeom prst="ellipse">
            <a:avLst/>
          </a:prstGeom>
          <a:solidFill>
            <a:srgbClr val="DDE5E0"/>
          </a:solidFill>
          <a:ln w="12700">
            <a:solidFill>
              <a:srgbClr val="DDE5E0"/>
            </a:solidFill>
            <a:prstDash val="solid"/>
          </a:ln>
        </p:spPr>
      </p:sp>
      <p:sp>
        <p:nvSpPr>
          <p:cNvPr id="41" name="Shape 39"/>
          <p:cNvSpPr/>
          <p:nvPr/>
        </p:nvSpPr>
        <p:spPr>
          <a:xfrm>
            <a:off x="822960" y="5001768"/>
            <a:ext cx="6492240" cy="0"/>
          </a:xfrm>
          <a:prstGeom prst="line">
            <a:avLst/>
          </a:prstGeom>
          <a:noFill/>
          <a:ln w="9525">
            <a:solidFill>
              <a:srgbClr val="D8D2C4"/>
            </a:solidFill>
            <a:prstDash val="solid"/>
          </a:ln>
        </p:spPr>
      </p:sp>
      <p:sp>
        <p:nvSpPr>
          <p:cNvPr id="42" name="Text 40"/>
          <p:cNvSpPr txBox="1"/>
          <p:nvPr/>
        </p:nvSpPr>
        <p:spPr>
          <a:xfrm>
            <a:off x="822960" y="5111496"/>
            <a:ext cx="3657600" cy="365760"/>
          </a:xfrm>
          <a:prstGeom prst="rect">
            <a:avLst/>
          </a:prstGeom>
          <a:noFill/>
          <a:ln/>
        </p:spPr>
        <p:txBody>
          <a:bodyPr wrap="square" lIns="0" tIns="0" rIns="0" bIns="0" rtlCol="0" anchor="t"/>
          <a:lstStyle/>
          <a:p>
            <a:pPr indent="0" marL="0">
              <a:buNone/>
            </a:pPr>
            <a:r>
              <a:rPr lang="en-US" sz="1500" b="1" dirty="0">
                <a:solidFill>
                  <a:srgbClr val="1F6F6B"/>
                </a:solidFill>
                <a:latin typeface="Arial" pitchFamily="34" charset="0"/>
                <a:ea typeface="Arial" pitchFamily="34" charset="-122"/>
                <a:cs typeface="Arial" pitchFamily="34" charset="-120"/>
              </a:rPr>
              <a:t>Fine-tuned DistilBERT</a:t>
            </a:r>
            <a:endParaRPr lang="en-US" sz="1500" dirty="0"/>
          </a:p>
        </p:txBody>
      </p:sp>
      <p:sp>
        <p:nvSpPr>
          <p:cNvPr id="43" name="Text 41"/>
          <p:cNvSpPr txBox="1"/>
          <p:nvPr/>
        </p:nvSpPr>
        <p:spPr>
          <a:xfrm>
            <a:off x="822960" y="5495544"/>
            <a:ext cx="3657600" cy="32004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Best grasp of intent and context</a:t>
            </a:r>
            <a:endParaRPr lang="en-US" sz="1300" dirty="0"/>
          </a:p>
        </p:txBody>
      </p:sp>
      <p:sp>
        <p:nvSpPr>
          <p:cNvPr id="44" name="Shape 42"/>
          <p:cNvSpPr/>
          <p:nvPr/>
        </p:nvSpPr>
        <p:spPr>
          <a:xfrm>
            <a:off x="4773168" y="5340096"/>
            <a:ext cx="182880" cy="182880"/>
          </a:xfrm>
          <a:prstGeom prst="ellipse">
            <a:avLst/>
          </a:prstGeom>
          <a:solidFill>
            <a:srgbClr val="1F6F6B"/>
          </a:solidFill>
          <a:ln w="12700">
            <a:solidFill>
              <a:srgbClr val="1F6F6B"/>
            </a:solidFill>
            <a:prstDash val="solid"/>
          </a:ln>
        </p:spPr>
      </p:sp>
      <p:sp>
        <p:nvSpPr>
          <p:cNvPr id="45" name="Shape 43"/>
          <p:cNvSpPr/>
          <p:nvPr/>
        </p:nvSpPr>
        <p:spPr>
          <a:xfrm>
            <a:off x="5029200" y="5340096"/>
            <a:ext cx="182880" cy="182880"/>
          </a:xfrm>
          <a:prstGeom prst="ellipse">
            <a:avLst/>
          </a:prstGeom>
          <a:solidFill>
            <a:srgbClr val="1F6F6B"/>
          </a:solidFill>
          <a:ln w="12700">
            <a:solidFill>
              <a:srgbClr val="1F6F6B"/>
            </a:solidFill>
            <a:prstDash val="solid"/>
          </a:ln>
        </p:spPr>
      </p:sp>
      <p:sp>
        <p:nvSpPr>
          <p:cNvPr id="46" name="Shape 44"/>
          <p:cNvSpPr/>
          <p:nvPr/>
        </p:nvSpPr>
        <p:spPr>
          <a:xfrm>
            <a:off x="5285232" y="5340096"/>
            <a:ext cx="182880" cy="182880"/>
          </a:xfrm>
          <a:prstGeom prst="ellipse">
            <a:avLst/>
          </a:prstGeom>
          <a:solidFill>
            <a:srgbClr val="1F6F6B"/>
          </a:solidFill>
          <a:ln w="12700">
            <a:solidFill>
              <a:srgbClr val="1F6F6B"/>
            </a:solidFill>
            <a:prstDash val="solid"/>
          </a:ln>
        </p:spPr>
      </p:sp>
      <p:sp>
        <p:nvSpPr>
          <p:cNvPr id="47" name="Shape 45"/>
          <p:cNvSpPr/>
          <p:nvPr/>
        </p:nvSpPr>
        <p:spPr>
          <a:xfrm>
            <a:off x="5541264" y="5340096"/>
            <a:ext cx="182880" cy="182880"/>
          </a:xfrm>
          <a:prstGeom prst="ellipse">
            <a:avLst/>
          </a:prstGeom>
          <a:solidFill>
            <a:srgbClr val="1F6F6B"/>
          </a:solidFill>
          <a:ln w="12700">
            <a:solidFill>
              <a:srgbClr val="1F6F6B"/>
            </a:solidFill>
            <a:prstDash val="solid"/>
          </a:ln>
        </p:spPr>
      </p:sp>
      <p:sp>
        <p:nvSpPr>
          <p:cNvPr id="48" name="Shape 46"/>
          <p:cNvSpPr/>
          <p:nvPr/>
        </p:nvSpPr>
        <p:spPr>
          <a:xfrm>
            <a:off x="6236208" y="5340096"/>
            <a:ext cx="182880" cy="182880"/>
          </a:xfrm>
          <a:prstGeom prst="ellipse">
            <a:avLst/>
          </a:prstGeom>
          <a:solidFill>
            <a:srgbClr val="1F6F6B"/>
          </a:solidFill>
          <a:ln w="12700">
            <a:solidFill>
              <a:srgbClr val="1F6F6B"/>
            </a:solidFill>
            <a:prstDash val="solid"/>
          </a:ln>
        </p:spPr>
      </p:sp>
      <p:sp>
        <p:nvSpPr>
          <p:cNvPr id="49" name="Shape 47"/>
          <p:cNvSpPr/>
          <p:nvPr/>
        </p:nvSpPr>
        <p:spPr>
          <a:xfrm>
            <a:off x="6492240" y="5340096"/>
            <a:ext cx="182880" cy="182880"/>
          </a:xfrm>
          <a:prstGeom prst="ellipse">
            <a:avLst/>
          </a:prstGeom>
          <a:solidFill>
            <a:srgbClr val="DDE5E0"/>
          </a:solidFill>
          <a:ln w="12700">
            <a:solidFill>
              <a:srgbClr val="DDE5E0"/>
            </a:solidFill>
            <a:prstDash val="solid"/>
          </a:ln>
        </p:spPr>
      </p:sp>
      <p:sp>
        <p:nvSpPr>
          <p:cNvPr id="50" name="Shape 48"/>
          <p:cNvSpPr/>
          <p:nvPr/>
        </p:nvSpPr>
        <p:spPr>
          <a:xfrm>
            <a:off x="6748272" y="5340096"/>
            <a:ext cx="182880" cy="182880"/>
          </a:xfrm>
          <a:prstGeom prst="ellipse">
            <a:avLst/>
          </a:prstGeom>
          <a:solidFill>
            <a:srgbClr val="DDE5E0"/>
          </a:solidFill>
          <a:ln w="12700">
            <a:solidFill>
              <a:srgbClr val="DDE5E0"/>
            </a:solidFill>
            <a:prstDash val="solid"/>
          </a:ln>
        </p:spPr>
      </p:sp>
      <p:sp>
        <p:nvSpPr>
          <p:cNvPr id="51" name="Shape 49"/>
          <p:cNvSpPr/>
          <p:nvPr/>
        </p:nvSpPr>
        <p:spPr>
          <a:xfrm>
            <a:off x="7004304" y="5340096"/>
            <a:ext cx="182880" cy="182880"/>
          </a:xfrm>
          <a:prstGeom prst="ellipse">
            <a:avLst/>
          </a:prstGeom>
          <a:solidFill>
            <a:srgbClr val="DDE5E0"/>
          </a:solidFill>
          <a:ln w="12700">
            <a:solidFill>
              <a:srgbClr val="DDE5E0"/>
            </a:solidFill>
            <a:prstDash val="solid"/>
          </a:ln>
        </p:spPr>
      </p:sp>
      <p:sp>
        <p:nvSpPr>
          <p:cNvPr id="52" name="Shape 50"/>
          <p:cNvSpPr/>
          <p:nvPr/>
        </p:nvSpPr>
        <p:spPr>
          <a:xfrm>
            <a:off x="7863840" y="1463040"/>
            <a:ext cx="3776472" cy="4754880"/>
          </a:xfrm>
          <a:prstGeom prst="roundRect">
            <a:avLst>
              <a:gd name="adj" fmla="val 2421"/>
            </a:avLst>
          </a:prstGeom>
          <a:solidFill>
            <a:srgbClr val="E6EDE8"/>
          </a:solidFill>
          <a:ln w="12700">
            <a:solidFill>
              <a:srgbClr val="E6EDE8"/>
            </a:solidFill>
            <a:prstDash val="solid"/>
          </a:ln>
        </p:spPr>
      </p:sp>
      <p:sp>
        <p:nvSpPr>
          <p:cNvPr id="53" name="Text 51"/>
          <p:cNvSpPr txBox="1"/>
          <p:nvPr/>
        </p:nvSpPr>
        <p:spPr>
          <a:xfrm>
            <a:off x="8138160" y="1691640"/>
            <a:ext cx="3291840" cy="411480"/>
          </a:xfrm>
          <a:prstGeom prst="rect">
            <a:avLst/>
          </a:prstGeom>
          <a:noFill/>
          <a:ln/>
        </p:spPr>
        <p:txBody>
          <a:bodyPr wrap="square" lIns="0" tIns="0" rIns="0" bIns="0" rtlCol="0" anchor="t"/>
          <a:lstStyle/>
          <a:p>
            <a:pPr indent="0" marL="0">
              <a:buNone/>
            </a:pPr>
            <a:r>
              <a:rPr lang="en-US" sz="1800" b="1" dirty="0">
                <a:solidFill>
                  <a:srgbClr val="1F6F6B"/>
                </a:solidFill>
                <a:latin typeface="Arial" pitchFamily="34" charset="0"/>
                <a:ea typeface="Arial" pitchFamily="34" charset="-122"/>
                <a:cs typeface="Arial" pitchFamily="34" charset="-120"/>
              </a:rPr>
              <a:t>Evaluation</a:t>
            </a:r>
            <a:endParaRPr lang="en-US" sz="1800" dirty="0"/>
          </a:p>
        </p:txBody>
      </p:sp>
      <p:sp>
        <p:nvSpPr>
          <p:cNvPr id="54" name="Text 52"/>
          <p:cNvSpPr txBox="1"/>
          <p:nvPr/>
        </p:nvSpPr>
        <p:spPr>
          <a:xfrm>
            <a:off x="8138160" y="2240280"/>
            <a:ext cx="3291840" cy="292608"/>
          </a:xfrm>
          <a:prstGeom prst="rect">
            <a:avLst/>
          </a:prstGeom>
          <a:noFill/>
          <a:ln/>
        </p:spPr>
        <p:txBody>
          <a:bodyPr wrap="square" lIns="0" tIns="0" rIns="0" bIns="0" rtlCol="0" anchor="t"/>
          <a:lstStyle/>
          <a:p>
            <a:pPr indent="0" marL="0">
              <a:buNone/>
            </a:pPr>
            <a:r>
              <a:rPr lang="en-US" sz="1300" b="1" dirty="0">
                <a:solidFill>
                  <a:srgbClr val="1B2A3A"/>
                </a:solidFill>
                <a:latin typeface="Arial" pitchFamily="34" charset="0"/>
                <a:ea typeface="Arial" pitchFamily="34" charset="-122"/>
                <a:cs typeface="Arial" pitchFamily="34" charset="-120"/>
              </a:rPr>
              <a:t>Split</a:t>
            </a:r>
            <a:endParaRPr lang="en-US" sz="1300" dirty="0"/>
          </a:p>
        </p:txBody>
      </p:sp>
      <p:sp>
        <p:nvSpPr>
          <p:cNvPr id="55" name="Text 53"/>
          <p:cNvSpPr txBox="1"/>
          <p:nvPr/>
        </p:nvSpPr>
        <p:spPr>
          <a:xfrm>
            <a:off x="8138160" y="2532888"/>
            <a:ext cx="3291840" cy="64008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80/20 stratified + 5-fold cross-validation</a:t>
            </a:r>
            <a:endParaRPr lang="en-US" sz="1300" dirty="0"/>
          </a:p>
        </p:txBody>
      </p:sp>
      <p:sp>
        <p:nvSpPr>
          <p:cNvPr id="56" name="Text 54"/>
          <p:cNvSpPr txBox="1"/>
          <p:nvPr/>
        </p:nvSpPr>
        <p:spPr>
          <a:xfrm>
            <a:off x="8138160" y="3218688"/>
            <a:ext cx="3291840" cy="292608"/>
          </a:xfrm>
          <a:prstGeom prst="rect">
            <a:avLst/>
          </a:prstGeom>
          <a:noFill/>
          <a:ln/>
        </p:spPr>
        <p:txBody>
          <a:bodyPr wrap="square" lIns="0" tIns="0" rIns="0" bIns="0" rtlCol="0" anchor="t"/>
          <a:lstStyle/>
          <a:p>
            <a:pPr indent="0" marL="0">
              <a:buNone/>
            </a:pPr>
            <a:r>
              <a:rPr lang="en-US" sz="1300" b="1" dirty="0">
                <a:solidFill>
                  <a:srgbClr val="1B2A3A"/>
                </a:solidFill>
                <a:latin typeface="Arial" pitchFamily="34" charset="0"/>
                <a:ea typeface="Arial" pitchFamily="34" charset="-122"/>
                <a:cs typeface="Arial" pitchFamily="34" charset="-120"/>
              </a:rPr>
              <a:t>Metrics</a:t>
            </a:r>
            <a:endParaRPr lang="en-US" sz="1300" dirty="0"/>
          </a:p>
        </p:txBody>
      </p:sp>
      <p:sp>
        <p:nvSpPr>
          <p:cNvPr id="57" name="Text 55"/>
          <p:cNvSpPr txBox="1"/>
          <p:nvPr/>
        </p:nvSpPr>
        <p:spPr>
          <a:xfrm>
            <a:off x="8138160" y="3511296"/>
            <a:ext cx="3291840" cy="64008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Precision, Recall, F1, False-Positive Rate</a:t>
            </a:r>
            <a:endParaRPr lang="en-US" sz="1300" dirty="0"/>
          </a:p>
        </p:txBody>
      </p:sp>
      <p:sp>
        <p:nvSpPr>
          <p:cNvPr id="58" name="Text 56"/>
          <p:cNvSpPr txBox="1"/>
          <p:nvPr/>
        </p:nvSpPr>
        <p:spPr>
          <a:xfrm>
            <a:off x="8138160" y="4197096"/>
            <a:ext cx="3291840" cy="292608"/>
          </a:xfrm>
          <a:prstGeom prst="rect">
            <a:avLst/>
          </a:prstGeom>
          <a:noFill/>
          <a:ln/>
        </p:spPr>
        <p:txBody>
          <a:bodyPr wrap="square" lIns="0" tIns="0" rIns="0" bIns="0" rtlCol="0" anchor="t"/>
          <a:lstStyle/>
          <a:p>
            <a:pPr indent="0" marL="0">
              <a:buNone/>
            </a:pPr>
            <a:r>
              <a:rPr lang="en-US" sz="1300" b="1" dirty="0">
                <a:solidFill>
                  <a:srgbClr val="1B2A3A"/>
                </a:solidFill>
                <a:latin typeface="Arial" pitchFamily="34" charset="0"/>
                <a:ea typeface="Arial" pitchFamily="34" charset="-122"/>
                <a:cs typeface="Arial" pitchFamily="34" charset="-120"/>
              </a:rPr>
              <a:t>Priority</a:t>
            </a:r>
            <a:endParaRPr lang="en-US" sz="1300" dirty="0"/>
          </a:p>
        </p:txBody>
      </p:sp>
      <p:sp>
        <p:nvSpPr>
          <p:cNvPr id="59" name="Text 57"/>
          <p:cNvSpPr txBox="1"/>
          <p:nvPr/>
        </p:nvSpPr>
        <p:spPr>
          <a:xfrm>
            <a:off x="8138160" y="4489704"/>
            <a:ext cx="3291840" cy="64008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Recall on payment emails: a miss costs millions, a false alarm costs one call</a:t>
            </a:r>
            <a:endParaRPr lang="en-US" sz="1300" dirty="0"/>
          </a:p>
        </p:txBody>
      </p:sp>
      <p:sp>
        <p:nvSpPr>
          <p:cNvPr id="60" name="Text 58"/>
          <p:cNvSpPr txBox="1"/>
          <p:nvPr/>
        </p:nvSpPr>
        <p:spPr>
          <a:xfrm>
            <a:off x="8138160" y="5175504"/>
            <a:ext cx="3291840" cy="292608"/>
          </a:xfrm>
          <a:prstGeom prst="rect">
            <a:avLst/>
          </a:prstGeom>
          <a:noFill/>
          <a:ln/>
        </p:spPr>
        <p:txBody>
          <a:bodyPr wrap="square" lIns="0" tIns="0" rIns="0" bIns="0" rtlCol="0" anchor="t"/>
          <a:lstStyle/>
          <a:p>
            <a:pPr indent="0" marL="0">
              <a:buNone/>
            </a:pPr>
            <a:r>
              <a:rPr lang="en-US" sz="1300" b="1" dirty="0">
                <a:solidFill>
                  <a:srgbClr val="1B2A3A"/>
                </a:solidFill>
                <a:latin typeface="Arial" pitchFamily="34" charset="0"/>
                <a:ea typeface="Arial" pitchFamily="34" charset="-122"/>
                <a:cs typeface="Arial" pitchFamily="34" charset="-120"/>
              </a:rPr>
              <a:t>Benchmark</a:t>
            </a:r>
            <a:endParaRPr lang="en-US" sz="1300" dirty="0"/>
          </a:p>
        </p:txBody>
      </p:sp>
      <p:sp>
        <p:nvSpPr>
          <p:cNvPr id="61" name="Text 59"/>
          <p:cNvSpPr txBox="1"/>
          <p:nvPr/>
        </p:nvSpPr>
        <p:spPr>
          <a:xfrm>
            <a:off x="8138160" y="5468112"/>
            <a:ext cx="3291840" cy="640080"/>
          </a:xfrm>
          <a:prstGeom prst="rect">
            <a:avLst/>
          </a:prstGeom>
          <a:noFill/>
          <a:ln/>
        </p:spPr>
        <p:txBody>
          <a:bodyPr wrap="square" lIns="0" tIns="0" rIns="0" bIns="0" rtlCol="0" anchor="t"/>
          <a:lstStyle/>
          <a:p>
            <a:pPr indent="0" marL="0">
              <a:buNone/>
            </a:pPr>
            <a:r>
              <a:rPr lang="en-US" sz="1300" dirty="0">
                <a:solidFill>
                  <a:srgbClr val="4F5E6B"/>
                </a:solidFill>
                <a:latin typeface="Arial" pitchFamily="34" charset="0"/>
                <a:ea typeface="Arial" pitchFamily="34" charset="-122"/>
                <a:cs typeface="Arial" pitchFamily="34" charset="-120"/>
              </a:rPr>
              <a:t>Transformers often exceed 0.95 F1 on public phishing corpora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3A"/>
        </a:solidFill>
      </p:bgPr>
    </p:bg>
    <p:spTree>
      <p:nvGrpSpPr>
        <p:cNvPr id="1" name=""/>
        <p:cNvGrpSpPr/>
        <p:nvPr/>
      </p:nvGrpSpPr>
      <p:grpSpPr>
        <a:xfrm>
          <a:off x="0" y="0"/>
          <a:ext cx="0" cy="0"/>
          <a:chOff x="0" y="0"/>
          <a:chExt cx="0" cy="0"/>
        </a:xfrm>
      </p:grpSpPr>
      <p:sp>
        <p:nvSpPr>
          <p:cNvPr id="2" name="Text 0"/>
          <p:cNvSpPr txBox="1"/>
          <p:nvPr/>
        </p:nvSpPr>
        <p:spPr>
          <a:xfrm>
            <a:off x="548640" y="457200"/>
            <a:ext cx="8961120" cy="731520"/>
          </a:xfrm>
          <a:prstGeom prst="rect">
            <a:avLst/>
          </a:prstGeom>
          <a:noFill/>
          <a:ln/>
        </p:spPr>
        <p:txBody>
          <a:bodyPr wrap="square" lIns="0" tIns="0" rIns="0" bIns="0" rtlCol="0" anchor="ctr"/>
          <a:lstStyle/>
          <a:p>
            <a:pPr indent="0" marL="0">
              <a:buNone/>
            </a:pPr>
            <a:r>
              <a:rPr lang="en-US" sz="3200" b="1" dirty="0">
                <a:solidFill>
                  <a:srgbClr val="F5EFE3"/>
                </a:solidFill>
                <a:latin typeface="Georgia" pitchFamily="34" charset="0"/>
                <a:ea typeface="Georgia" pitchFamily="34" charset="-122"/>
                <a:cs typeface="Georgia" pitchFamily="34" charset="-120"/>
              </a:rPr>
              <a:t>Lessons: ML flags it, process stops it</a:t>
            </a:r>
            <a:endParaRPr lang="en-US" sz="3200" dirty="0"/>
          </a:p>
        </p:txBody>
      </p:sp>
      <p:sp>
        <p:nvSpPr>
          <p:cNvPr id="3" name="Text 1"/>
          <p:cNvSpPr txBox="1"/>
          <p:nvPr/>
        </p:nvSpPr>
        <p:spPr>
          <a:xfrm>
            <a:off x="9738360" y="630936"/>
            <a:ext cx="1901952" cy="384048"/>
          </a:xfrm>
          <a:prstGeom prst="rect">
            <a:avLst/>
          </a:prstGeom>
          <a:noFill/>
          <a:ln/>
        </p:spPr>
        <p:txBody>
          <a:bodyPr wrap="square" lIns="0" tIns="0" rIns="0" bIns="0" rtlCol="0" anchor="ctr"/>
          <a:lstStyle/>
          <a:p>
            <a:pPr algn="ctr" indent="0" marL="0">
              <a:buNone/>
            </a:pPr>
            <a:r>
              <a:rPr lang="en-US" sz="1000" b="1" spc="100" kern="0" dirty="0">
                <a:solidFill>
                  <a:srgbClr val="8DB8A8"/>
                </a:solidFill>
                <a:latin typeface="Arial" pitchFamily="34" charset="0"/>
                <a:ea typeface="Arial" pitchFamily="34" charset="-122"/>
                <a:cs typeface="Arial" pitchFamily="34" charset="-120"/>
              </a:rPr>
              <a:t>PRESENTER · YAMAN</a:t>
            </a:r>
            <a:endParaRPr lang="en-US" sz="1000" dirty="0"/>
          </a:p>
        </p:txBody>
      </p:sp>
      <p:sp>
        <p:nvSpPr>
          <p:cNvPr id="4" name="Shape 2"/>
          <p:cNvSpPr/>
          <p:nvPr/>
        </p:nvSpPr>
        <p:spPr>
          <a:xfrm>
            <a:off x="548640" y="1463040"/>
            <a:ext cx="3520440" cy="3429000"/>
          </a:xfrm>
          <a:prstGeom prst="roundRect">
            <a:avLst>
              <a:gd name="adj" fmla="val 2667"/>
            </a:avLst>
          </a:prstGeom>
          <a:solidFill>
            <a:srgbClr val="24384D"/>
          </a:solidFill>
          <a:ln w="9525">
            <a:solidFill>
              <a:srgbClr val="2F4760"/>
            </a:solidFill>
            <a:prstDash val="solid"/>
          </a:ln>
        </p:spPr>
      </p:sp>
      <p:sp>
        <p:nvSpPr>
          <p:cNvPr id="5" name="Shape 3"/>
          <p:cNvSpPr/>
          <p:nvPr/>
        </p:nvSpPr>
        <p:spPr>
          <a:xfrm>
            <a:off x="822960" y="1737360"/>
            <a:ext cx="731520" cy="731520"/>
          </a:xfrm>
          <a:prstGeom prst="ellipse">
            <a:avLst/>
          </a:prstGeom>
          <a:solidFill>
            <a:srgbClr val="1F6F6B"/>
          </a:solidFill>
          <a:ln w="12700">
            <a:solidFill>
              <a:srgbClr val="1F6F6B"/>
            </a:solidFill>
            <a:prstDash val="solid"/>
          </a:ln>
        </p:spPr>
      </p:sp>
      <p:pic>
        <p:nvPicPr>
          <p:cNvPr id="6" name="Image 0" descr="preencoded.png">    </p:cNvPr>
          <p:cNvPicPr>
            <a:picLocks noChangeAspect="1"/>
          </p:cNvPicPr>
          <p:nvPr/>
        </p:nvPicPr>
        <p:blipFill>
          <a:blip r:embed="rId1"/>
          <a:stretch>
            <a:fillRect/>
          </a:stretch>
        </p:blipFill>
        <p:spPr>
          <a:xfrm>
            <a:off x="1020470" y="1934870"/>
            <a:ext cx="336499" cy="336499"/>
          </a:xfrm>
          <a:prstGeom prst="rect">
            <a:avLst/>
          </a:prstGeom>
        </p:spPr>
      </p:pic>
      <p:sp>
        <p:nvSpPr>
          <p:cNvPr id="7" name="Text 4"/>
          <p:cNvSpPr txBox="1"/>
          <p:nvPr/>
        </p:nvSpPr>
        <p:spPr>
          <a:xfrm>
            <a:off x="1737360" y="1920240"/>
            <a:ext cx="2194560" cy="411480"/>
          </a:xfrm>
          <a:prstGeom prst="rect">
            <a:avLst/>
          </a:prstGeom>
          <a:noFill/>
          <a:ln/>
        </p:spPr>
        <p:txBody>
          <a:bodyPr wrap="square" lIns="0" tIns="0" rIns="0" bIns="0" rtlCol="0" anchor="t"/>
          <a:lstStyle/>
          <a:p>
            <a:pPr indent="0" marL="0">
              <a:buNone/>
            </a:pPr>
            <a:r>
              <a:rPr lang="en-US" sz="2000" b="1" dirty="0">
                <a:solidFill>
                  <a:srgbClr val="F5EFE3"/>
                </a:solidFill>
                <a:latin typeface="Arial" pitchFamily="34" charset="0"/>
                <a:ea typeface="Arial" pitchFamily="34" charset="-122"/>
                <a:cs typeface="Arial" pitchFamily="34" charset="-120"/>
              </a:rPr>
              <a:t>Detection</a:t>
            </a:r>
            <a:endParaRPr lang="en-US" sz="2000" dirty="0"/>
          </a:p>
        </p:txBody>
      </p:sp>
      <p:sp>
        <p:nvSpPr>
          <p:cNvPr id="8" name="Shape 5"/>
          <p:cNvSpPr/>
          <p:nvPr/>
        </p:nvSpPr>
        <p:spPr>
          <a:xfrm>
            <a:off x="868680" y="2807208"/>
            <a:ext cx="109728" cy="109728"/>
          </a:xfrm>
          <a:prstGeom prst="ellipse">
            <a:avLst/>
          </a:prstGeom>
          <a:solidFill>
            <a:srgbClr val="8DB8A8"/>
          </a:solidFill>
          <a:ln w="12700">
            <a:solidFill>
              <a:srgbClr val="8DB8A8"/>
            </a:solidFill>
            <a:prstDash val="solid"/>
          </a:ln>
        </p:spPr>
      </p:sp>
      <p:sp>
        <p:nvSpPr>
          <p:cNvPr id="9" name="Text 6"/>
          <p:cNvSpPr txBox="1"/>
          <p:nvPr/>
        </p:nvSpPr>
        <p:spPr>
          <a:xfrm>
            <a:off x="1097280" y="269748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Hybrid models: text + headers + vendor behaviour</a:t>
            </a:r>
            <a:endParaRPr lang="en-US" sz="1400" dirty="0"/>
          </a:p>
        </p:txBody>
      </p:sp>
      <p:sp>
        <p:nvSpPr>
          <p:cNvPr id="10" name="Shape 7"/>
          <p:cNvSpPr/>
          <p:nvPr/>
        </p:nvSpPr>
        <p:spPr>
          <a:xfrm>
            <a:off x="868680" y="3584448"/>
            <a:ext cx="109728" cy="109728"/>
          </a:xfrm>
          <a:prstGeom prst="ellipse">
            <a:avLst/>
          </a:prstGeom>
          <a:solidFill>
            <a:srgbClr val="8DB8A8"/>
          </a:solidFill>
          <a:ln w="12700">
            <a:solidFill>
              <a:srgbClr val="8DB8A8"/>
            </a:solidFill>
            <a:prstDash val="solid"/>
          </a:ln>
        </p:spPr>
      </p:sp>
      <p:sp>
        <p:nvSpPr>
          <p:cNvPr id="11" name="Text 8"/>
          <p:cNvSpPr txBox="1"/>
          <p:nvPr/>
        </p:nvSpPr>
        <p:spPr>
          <a:xfrm>
            <a:off x="1097280" y="347472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Enforce DMARC; flag look-alike domains</a:t>
            </a:r>
            <a:endParaRPr lang="en-US" sz="1400" dirty="0"/>
          </a:p>
        </p:txBody>
      </p:sp>
      <p:sp>
        <p:nvSpPr>
          <p:cNvPr id="12" name="Shape 9"/>
          <p:cNvSpPr/>
          <p:nvPr/>
        </p:nvSpPr>
        <p:spPr>
          <a:xfrm>
            <a:off x="868680" y="4361688"/>
            <a:ext cx="109728" cy="109728"/>
          </a:xfrm>
          <a:prstGeom prst="ellipse">
            <a:avLst/>
          </a:prstGeom>
          <a:solidFill>
            <a:srgbClr val="8DB8A8"/>
          </a:solidFill>
          <a:ln w="12700">
            <a:solidFill>
              <a:srgbClr val="8DB8A8"/>
            </a:solidFill>
            <a:prstDash val="solid"/>
          </a:ln>
        </p:spPr>
      </p:sp>
      <p:sp>
        <p:nvSpPr>
          <p:cNvPr id="13" name="Text 10"/>
          <p:cNvSpPr txBox="1"/>
          <p:nvPr/>
        </p:nvSpPr>
        <p:spPr>
          <a:xfrm>
            <a:off x="1097280" y="425196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Score payment emails, don't just filter spam</a:t>
            </a:r>
            <a:endParaRPr lang="en-US" sz="1400" dirty="0"/>
          </a:p>
        </p:txBody>
      </p:sp>
      <p:sp>
        <p:nvSpPr>
          <p:cNvPr id="14" name="Shape 11"/>
          <p:cNvSpPr/>
          <p:nvPr/>
        </p:nvSpPr>
        <p:spPr>
          <a:xfrm>
            <a:off x="4306824" y="1463040"/>
            <a:ext cx="3520440" cy="3429000"/>
          </a:xfrm>
          <a:prstGeom prst="roundRect">
            <a:avLst>
              <a:gd name="adj" fmla="val 2667"/>
            </a:avLst>
          </a:prstGeom>
          <a:solidFill>
            <a:srgbClr val="24384D"/>
          </a:solidFill>
          <a:ln w="9525">
            <a:solidFill>
              <a:srgbClr val="2F4760"/>
            </a:solidFill>
            <a:prstDash val="solid"/>
          </a:ln>
        </p:spPr>
      </p:sp>
      <p:sp>
        <p:nvSpPr>
          <p:cNvPr id="15" name="Shape 12"/>
          <p:cNvSpPr/>
          <p:nvPr/>
        </p:nvSpPr>
        <p:spPr>
          <a:xfrm>
            <a:off x="4581144" y="1737360"/>
            <a:ext cx="731520" cy="731520"/>
          </a:xfrm>
          <a:prstGeom prst="ellipse">
            <a:avLst/>
          </a:prstGeom>
          <a:solidFill>
            <a:srgbClr val="1F6F6B"/>
          </a:solidFill>
          <a:ln w="12700">
            <a:solidFill>
              <a:srgbClr val="1F6F6B"/>
            </a:solidFill>
            <a:prstDash val="solid"/>
          </a:ln>
        </p:spPr>
      </p:sp>
      <p:pic>
        <p:nvPicPr>
          <p:cNvPr id="16" name="Image 1" descr="preencoded.png">    </p:cNvPr>
          <p:cNvPicPr>
            <a:picLocks noChangeAspect="1"/>
          </p:cNvPicPr>
          <p:nvPr/>
        </p:nvPicPr>
        <p:blipFill>
          <a:blip r:embed="rId2"/>
          <a:stretch>
            <a:fillRect/>
          </a:stretch>
        </p:blipFill>
        <p:spPr>
          <a:xfrm>
            <a:off x="4778654" y="1934870"/>
            <a:ext cx="336499" cy="336499"/>
          </a:xfrm>
          <a:prstGeom prst="rect">
            <a:avLst/>
          </a:prstGeom>
        </p:spPr>
      </p:pic>
      <p:sp>
        <p:nvSpPr>
          <p:cNvPr id="17" name="Text 13"/>
          <p:cNvSpPr txBox="1"/>
          <p:nvPr/>
        </p:nvSpPr>
        <p:spPr>
          <a:xfrm>
            <a:off x="5495544" y="1920240"/>
            <a:ext cx="2194560" cy="411480"/>
          </a:xfrm>
          <a:prstGeom prst="rect">
            <a:avLst/>
          </a:prstGeom>
          <a:noFill/>
          <a:ln/>
        </p:spPr>
        <p:txBody>
          <a:bodyPr wrap="square" lIns="0" tIns="0" rIns="0" bIns="0" rtlCol="0" anchor="t"/>
          <a:lstStyle/>
          <a:p>
            <a:pPr indent="0" marL="0">
              <a:buNone/>
            </a:pPr>
            <a:r>
              <a:rPr lang="en-US" sz="2000" b="1" dirty="0">
                <a:solidFill>
                  <a:srgbClr val="F5EFE3"/>
                </a:solidFill>
                <a:latin typeface="Arial" pitchFamily="34" charset="0"/>
                <a:ea typeface="Arial" pitchFamily="34" charset="-122"/>
                <a:cs typeface="Arial" pitchFamily="34" charset="-120"/>
              </a:rPr>
              <a:t>Process</a:t>
            </a:r>
            <a:endParaRPr lang="en-US" sz="2000" dirty="0"/>
          </a:p>
        </p:txBody>
      </p:sp>
      <p:sp>
        <p:nvSpPr>
          <p:cNvPr id="18" name="Shape 14"/>
          <p:cNvSpPr/>
          <p:nvPr/>
        </p:nvSpPr>
        <p:spPr>
          <a:xfrm>
            <a:off x="4626864" y="2807208"/>
            <a:ext cx="109728" cy="109728"/>
          </a:xfrm>
          <a:prstGeom prst="ellipse">
            <a:avLst/>
          </a:prstGeom>
          <a:solidFill>
            <a:srgbClr val="8DB8A8"/>
          </a:solidFill>
          <a:ln w="12700">
            <a:solidFill>
              <a:srgbClr val="8DB8A8"/>
            </a:solidFill>
            <a:prstDash val="solid"/>
          </a:ln>
        </p:spPr>
      </p:sp>
      <p:sp>
        <p:nvSpPr>
          <p:cNvPr id="19" name="Text 15"/>
          <p:cNvSpPr txBox="1"/>
          <p:nvPr/>
        </p:nvSpPr>
        <p:spPr>
          <a:xfrm>
            <a:off x="4855464" y="269748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Verify bank-detail changes by phone, using a known contact</a:t>
            </a:r>
            <a:endParaRPr lang="en-US" sz="1400" dirty="0"/>
          </a:p>
        </p:txBody>
      </p:sp>
      <p:sp>
        <p:nvSpPr>
          <p:cNvPr id="20" name="Shape 16"/>
          <p:cNvSpPr/>
          <p:nvPr/>
        </p:nvSpPr>
        <p:spPr>
          <a:xfrm>
            <a:off x="4626864" y="3584448"/>
            <a:ext cx="109728" cy="109728"/>
          </a:xfrm>
          <a:prstGeom prst="ellipse">
            <a:avLst/>
          </a:prstGeom>
          <a:solidFill>
            <a:srgbClr val="8DB8A8"/>
          </a:solidFill>
          <a:ln w="12700">
            <a:solidFill>
              <a:srgbClr val="8DB8A8"/>
            </a:solidFill>
            <a:prstDash val="solid"/>
          </a:ln>
        </p:spPr>
      </p:sp>
      <p:sp>
        <p:nvSpPr>
          <p:cNvPr id="21" name="Text 17"/>
          <p:cNvSpPr txBox="1"/>
          <p:nvPr/>
        </p:nvSpPr>
        <p:spPr>
          <a:xfrm>
            <a:off x="4855464" y="347472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Dual approval above a value threshold</a:t>
            </a:r>
            <a:endParaRPr lang="en-US" sz="1400" dirty="0"/>
          </a:p>
        </p:txBody>
      </p:sp>
      <p:sp>
        <p:nvSpPr>
          <p:cNvPr id="22" name="Shape 18"/>
          <p:cNvSpPr/>
          <p:nvPr/>
        </p:nvSpPr>
        <p:spPr>
          <a:xfrm>
            <a:off x="4626864" y="4361688"/>
            <a:ext cx="109728" cy="109728"/>
          </a:xfrm>
          <a:prstGeom prst="ellipse">
            <a:avLst/>
          </a:prstGeom>
          <a:solidFill>
            <a:srgbClr val="8DB8A8"/>
          </a:solidFill>
          <a:ln w="12700">
            <a:solidFill>
              <a:srgbClr val="8DB8A8"/>
            </a:solidFill>
            <a:prstDash val="solid"/>
          </a:ln>
        </p:spPr>
      </p:sp>
      <p:sp>
        <p:nvSpPr>
          <p:cNvPr id="23" name="Text 19"/>
          <p:cNvSpPr txBox="1"/>
          <p:nvPr/>
        </p:nvSpPr>
        <p:spPr>
          <a:xfrm>
            <a:off x="4855464" y="425196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Hold new payee accounts until confirmed</a:t>
            </a:r>
            <a:endParaRPr lang="en-US" sz="1400" dirty="0"/>
          </a:p>
        </p:txBody>
      </p:sp>
      <p:sp>
        <p:nvSpPr>
          <p:cNvPr id="24" name="Shape 20"/>
          <p:cNvSpPr/>
          <p:nvPr/>
        </p:nvSpPr>
        <p:spPr>
          <a:xfrm>
            <a:off x="8065008" y="1463040"/>
            <a:ext cx="3520440" cy="3429000"/>
          </a:xfrm>
          <a:prstGeom prst="roundRect">
            <a:avLst>
              <a:gd name="adj" fmla="val 2667"/>
            </a:avLst>
          </a:prstGeom>
          <a:solidFill>
            <a:srgbClr val="24384D"/>
          </a:solidFill>
          <a:ln w="9525">
            <a:solidFill>
              <a:srgbClr val="2F4760"/>
            </a:solidFill>
            <a:prstDash val="solid"/>
          </a:ln>
        </p:spPr>
      </p:sp>
      <p:sp>
        <p:nvSpPr>
          <p:cNvPr id="25" name="Shape 21"/>
          <p:cNvSpPr/>
          <p:nvPr/>
        </p:nvSpPr>
        <p:spPr>
          <a:xfrm>
            <a:off x="8339328" y="1737360"/>
            <a:ext cx="731520" cy="731520"/>
          </a:xfrm>
          <a:prstGeom prst="ellipse">
            <a:avLst/>
          </a:prstGeom>
          <a:solidFill>
            <a:srgbClr val="1F6F6B"/>
          </a:solidFill>
          <a:ln w="12700">
            <a:solidFill>
              <a:srgbClr val="1F6F6B"/>
            </a:solidFill>
            <a:prstDash val="solid"/>
          </a:ln>
        </p:spPr>
      </p:sp>
      <p:pic>
        <p:nvPicPr>
          <p:cNvPr id="26" name="Image 2" descr="preencoded.png">    </p:cNvPr>
          <p:cNvPicPr>
            <a:picLocks noChangeAspect="1"/>
          </p:cNvPicPr>
          <p:nvPr/>
        </p:nvPicPr>
        <p:blipFill>
          <a:blip r:embed="rId3"/>
          <a:stretch>
            <a:fillRect/>
          </a:stretch>
        </p:blipFill>
        <p:spPr>
          <a:xfrm>
            <a:off x="8536838" y="1934870"/>
            <a:ext cx="336499" cy="336499"/>
          </a:xfrm>
          <a:prstGeom prst="rect">
            <a:avLst/>
          </a:prstGeom>
        </p:spPr>
      </p:pic>
      <p:sp>
        <p:nvSpPr>
          <p:cNvPr id="27" name="Text 22"/>
          <p:cNvSpPr txBox="1"/>
          <p:nvPr/>
        </p:nvSpPr>
        <p:spPr>
          <a:xfrm>
            <a:off x="9253728" y="1920240"/>
            <a:ext cx="2194560" cy="411480"/>
          </a:xfrm>
          <a:prstGeom prst="rect">
            <a:avLst/>
          </a:prstGeom>
          <a:noFill/>
          <a:ln/>
        </p:spPr>
        <p:txBody>
          <a:bodyPr wrap="square" lIns="0" tIns="0" rIns="0" bIns="0" rtlCol="0" anchor="t"/>
          <a:lstStyle/>
          <a:p>
            <a:pPr indent="0" marL="0">
              <a:buNone/>
            </a:pPr>
            <a:r>
              <a:rPr lang="en-US" sz="2000" b="1" dirty="0">
                <a:solidFill>
                  <a:srgbClr val="F5EFE3"/>
                </a:solidFill>
                <a:latin typeface="Arial" pitchFamily="34" charset="0"/>
                <a:ea typeface="Arial" pitchFamily="34" charset="-122"/>
                <a:cs typeface="Arial" pitchFamily="34" charset="-120"/>
              </a:rPr>
              <a:t>People</a:t>
            </a:r>
            <a:endParaRPr lang="en-US" sz="2000" dirty="0"/>
          </a:p>
        </p:txBody>
      </p:sp>
      <p:sp>
        <p:nvSpPr>
          <p:cNvPr id="28" name="Shape 23"/>
          <p:cNvSpPr/>
          <p:nvPr/>
        </p:nvSpPr>
        <p:spPr>
          <a:xfrm>
            <a:off x="8385048" y="2807208"/>
            <a:ext cx="109728" cy="109728"/>
          </a:xfrm>
          <a:prstGeom prst="ellipse">
            <a:avLst/>
          </a:prstGeom>
          <a:solidFill>
            <a:srgbClr val="8DB8A8"/>
          </a:solidFill>
          <a:ln w="12700">
            <a:solidFill>
              <a:srgbClr val="8DB8A8"/>
            </a:solidFill>
            <a:prstDash val="solid"/>
          </a:ln>
        </p:spPr>
      </p:sp>
      <p:sp>
        <p:nvSpPr>
          <p:cNvPr id="29" name="Text 24"/>
          <p:cNvSpPr txBox="1"/>
          <p:nvPr/>
        </p:nvSpPr>
        <p:spPr>
          <a:xfrm>
            <a:off x="8613648" y="269748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Train finance teams on BEC red flags</a:t>
            </a:r>
            <a:endParaRPr lang="en-US" sz="1400" dirty="0"/>
          </a:p>
        </p:txBody>
      </p:sp>
      <p:sp>
        <p:nvSpPr>
          <p:cNvPr id="30" name="Shape 25"/>
          <p:cNvSpPr/>
          <p:nvPr/>
        </p:nvSpPr>
        <p:spPr>
          <a:xfrm>
            <a:off x="8385048" y="3584448"/>
            <a:ext cx="109728" cy="109728"/>
          </a:xfrm>
          <a:prstGeom prst="ellipse">
            <a:avLst/>
          </a:prstGeom>
          <a:solidFill>
            <a:srgbClr val="8DB8A8"/>
          </a:solidFill>
          <a:ln w="12700">
            <a:solidFill>
              <a:srgbClr val="8DB8A8"/>
            </a:solidFill>
            <a:prstDash val="solid"/>
          </a:ln>
        </p:spPr>
      </p:sp>
      <p:sp>
        <p:nvSpPr>
          <p:cNvPr id="31" name="Text 26"/>
          <p:cNvSpPr txBox="1"/>
          <p:nvPr/>
        </p:nvSpPr>
        <p:spPr>
          <a:xfrm>
            <a:off x="8613648" y="347472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Make it normal to question “urgent” requests</a:t>
            </a:r>
            <a:endParaRPr lang="en-US" sz="1400" dirty="0"/>
          </a:p>
        </p:txBody>
      </p:sp>
      <p:sp>
        <p:nvSpPr>
          <p:cNvPr id="32" name="Shape 27"/>
          <p:cNvSpPr/>
          <p:nvPr/>
        </p:nvSpPr>
        <p:spPr>
          <a:xfrm>
            <a:off x="8385048" y="4361688"/>
            <a:ext cx="109728" cy="109728"/>
          </a:xfrm>
          <a:prstGeom prst="ellipse">
            <a:avLst/>
          </a:prstGeom>
          <a:solidFill>
            <a:srgbClr val="8DB8A8"/>
          </a:solidFill>
          <a:ln w="12700">
            <a:solidFill>
              <a:srgbClr val="8DB8A8"/>
            </a:solidFill>
            <a:prstDash val="solid"/>
          </a:ln>
        </p:spPr>
      </p:sp>
      <p:sp>
        <p:nvSpPr>
          <p:cNvPr id="33" name="Text 28"/>
          <p:cNvSpPr txBox="1"/>
          <p:nvPr/>
        </p:nvSpPr>
        <p:spPr>
          <a:xfrm>
            <a:off x="8613648" y="4251960"/>
            <a:ext cx="2788920" cy="685800"/>
          </a:xfrm>
          <a:prstGeom prst="rect">
            <a:avLst/>
          </a:prstGeom>
          <a:noFill/>
          <a:ln/>
        </p:spPr>
        <p:txBody>
          <a:bodyPr wrap="square" lIns="0" tIns="0" rIns="0" bIns="0" rtlCol="0" anchor="t"/>
          <a:lstStyle/>
          <a:p>
            <a:pPr indent="0" marL="0">
              <a:buNone/>
            </a:pPr>
            <a:r>
              <a:rPr lang="en-US" sz="1400" dirty="0">
                <a:solidFill>
                  <a:srgbClr val="DCE5E0"/>
                </a:solidFill>
                <a:latin typeface="Arial" pitchFamily="34" charset="0"/>
                <a:ea typeface="Arial" pitchFamily="34" charset="-122"/>
                <a:cs typeface="Arial" pitchFamily="34" charset="-120"/>
              </a:rPr>
              <a:t>Report suspicious emails fast</a:t>
            </a:r>
            <a:endParaRPr lang="en-US" sz="1400" dirty="0"/>
          </a:p>
        </p:txBody>
      </p:sp>
      <p:sp>
        <p:nvSpPr>
          <p:cNvPr id="34" name="Text 29"/>
          <p:cNvSpPr txBox="1"/>
          <p:nvPr/>
        </p:nvSpPr>
        <p:spPr>
          <a:xfrm>
            <a:off x="548640" y="5257800"/>
            <a:ext cx="11064240" cy="777240"/>
          </a:xfrm>
          <a:prstGeom prst="rect">
            <a:avLst/>
          </a:prstGeom>
          <a:noFill/>
          <a:ln/>
        </p:spPr>
        <p:txBody>
          <a:bodyPr wrap="square" lIns="0" tIns="0" rIns="0" bIns="0" rtlCol="0" anchor="t"/>
          <a:lstStyle/>
          <a:p>
            <a:pPr indent="0" marL="0">
              <a:buNone/>
            </a:pPr>
            <a:r>
              <a:rPr lang="en-US" sz="1600" i="1" dirty="0">
                <a:solidFill>
                  <a:srgbClr val="8DB8A8"/>
                </a:solidFill>
                <a:latin typeface="Arial" pitchFamily="34" charset="0"/>
                <a:ea typeface="Arial" pitchFamily="34" charset="-122"/>
                <a:cs typeface="Arial" pitchFamily="34" charset="-120"/>
              </a:rPr>
              <a:t>The Google–Facebook fraud succeeded without a single line of malicious code. Defending against it needs systems that read context, and processes that verify before money moves.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3"/>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200" b="1" dirty="0">
                <a:solidFill>
                  <a:srgbClr val="1B2A3A"/>
                </a:solidFill>
                <a:latin typeface="Georgia" pitchFamily="34" charset="0"/>
                <a:ea typeface="Georgia" pitchFamily="34" charset="-122"/>
                <a:cs typeface="Georgia" pitchFamily="34" charset="-120"/>
              </a:rPr>
              <a:t>Key references</a:t>
            </a:r>
            <a:endParaRPr lang="en-US" sz="3200" dirty="0"/>
          </a:p>
        </p:txBody>
      </p:sp>
      <p:sp>
        <p:nvSpPr>
          <p:cNvPr id="3" name="Text 1"/>
          <p:cNvSpPr txBox="1"/>
          <p:nvPr/>
        </p:nvSpPr>
        <p:spPr>
          <a:xfrm>
            <a:off x="548640" y="1463040"/>
            <a:ext cx="365760" cy="548640"/>
          </a:xfrm>
          <a:prstGeom prst="rect">
            <a:avLst/>
          </a:prstGeom>
          <a:noFill/>
          <a:ln/>
        </p:spPr>
        <p:txBody>
          <a:bodyPr wrap="square" lIns="0" tIns="0" rIns="0" bIns="0" rtlCol="0" anchor="t"/>
          <a:lstStyle/>
          <a:p>
            <a:pPr indent="0" marL="0">
              <a:buNone/>
            </a:pPr>
            <a:r>
              <a:rPr lang="en-US" sz="1400" b="1" dirty="0">
                <a:solidFill>
                  <a:srgbClr val="1F6F6B"/>
                </a:solidFill>
                <a:latin typeface="Arial" pitchFamily="34" charset="0"/>
                <a:ea typeface="Arial" pitchFamily="34" charset="-122"/>
                <a:cs typeface="Arial" pitchFamily="34" charset="-120"/>
              </a:rPr>
              <a:t>1</a:t>
            </a:r>
            <a:endParaRPr lang="en-US" sz="1400" dirty="0"/>
          </a:p>
        </p:txBody>
      </p:sp>
      <p:sp>
        <p:nvSpPr>
          <p:cNvPr id="4" name="Text 2"/>
          <p:cNvSpPr txBox="1"/>
          <p:nvPr/>
        </p:nvSpPr>
        <p:spPr>
          <a:xfrm>
            <a:off x="914400" y="1463040"/>
            <a:ext cx="7223760" cy="59436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U.S. Department of Justice, SDNY. Press releases on the charging (2017), guilty plea (2019) and sentencing (2019) of Evaldas Rimašauskas.</a:t>
            </a:r>
            <a:endParaRPr lang="en-US" sz="1300" dirty="0"/>
          </a:p>
        </p:txBody>
      </p:sp>
      <p:sp>
        <p:nvSpPr>
          <p:cNvPr id="5" name="Text 3"/>
          <p:cNvSpPr txBox="1"/>
          <p:nvPr/>
        </p:nvSpPr>
        <p:spPr>
          <a:xfrm>
            <a:off x="548640" y="2121408"/>
            <a:ext cx="365760" cy="548640"/>
          </a:xfrm>
          <a:prstGeom prst="rect">
            <a:avLst/>
          </a:prstGeom>
          <a:noFill/>
          <a:ln/>
        </p:spPr>
        <p:txBody>
          <a:bodyPr wrap="square" lIns="0" tIns="0" rIns="0" bIns="0" rtlCol="0" anchor="t"/>
          <a:lstStyle/>
          <a:p>
            <a:pPr indent="0" marL="0">
              <a:buNone/>
            </a:pPr>
            <a:r>
              <a:rPr lang="en-US" sz="1400" b="1" dirty="0">
                <a:solidFill>
                  <a:srgbClr val="1F6F6B"/>
                </a:solidFill>
                <a:latin typeface="Arial" pitchFamily="34" charset="0"/>
                <a:ea typeface="Arial" pitchFamily="34" charset="-122"/>
                <a:cs typeface="Arial" pitchFamily="34" charset="-120"/>
              </a:rPr>
              <a:t>2</a:t>
            </a:r>
            <a:endParaRPr lang="en-US" sz="1400" dirty="0"/>
          </a:p>
        </p:txBody>
      </p:sp>
      <p:sp>
        <p:nvSpPr>
          <p:cNvPr id="6" name="Text 4"/>
          <p:cNvSpPr txBox="1"/>
          <p:nvPr/>
        </p:nvSpPr>
        <p:spPr>
          <a:xfrm>
            <a:off x="914400" y="2121408"/>
            <a:ext cx="7223760" cy="59436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J. J. Roberts, Fortune, April 2017: report naming Google and Facebook as the victims.</a:t>
            </a:r>
            <a:endParaRPr lang="en-US" sz="1300" dirty="0"/>
          </a:p>
        </p:txBody>
      </p:sp>
      <p:sp>
        <p:nvSpPr>
          <p:cNvPr id="7" name="Text 5"/>
          <p:cNvSpPr txBox="1"/>
          <p:nvPr/>
        </p:nvSpPr>
        <p:spPr>
          <a:xfrm>
            <a:off x="548640" y="2779776"/>
            <a:ext cx="365760" cy="548640"/>
          </a:xfrm>
          <a:prstGeom prst="rect">
            <a:avLst/>
          </a:prstGeom>
          <a:noFill/>
          <a:ln/>
        </p:spPr>
        <p:txBody>
          <a:bodyPr wrap="square" lIns="0" tIns="0" rIns="0" bIns="0" rtlCol="0" anchor="t"/>
          <a:lstStyle/>
          <a:p>
            <a:pPr indent="0" marL="0">
              <a:buNone/>
            </a:pPr>
            <a:r>
              <a:rPr lang="en-US" sz="1400" b="1" dirty="0">
                <a:solidFill>
                  <a:srgbClr val="1F6F6B"/>
                </a:solidFill>
                <a:latin typeface="Arial" pitchFamily="34" charset="0"/>
                <a:ea typeface="Arial" pitchFamily="34" charset="-122"/>
                <a:cs typeface="Arial" pitchFamily="34" charset="-120"/>
              </a:rPr>
              <a:t>3</a:t>
            </a:r>
            <a:endParaRPr lang="en-US" sz="1400" dirty="0"/>
          </a:p>
        </p:txBody>
      </p:sp>
      <p:sp>
        <p:nvSpPr>
          <p:cNvPr id="8" name="Text 6"/>
          <p:cNvSpPr txBox="1"/>
          <p:nvPr/>
        </p:nvSpPr>
        <p:spPr>
          <a:xfrm>
            <a:off x="914400" y="2779776"/>
            <a:ext cx="7223760" cy="59436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FBI IC3, Internet Crime Reports 2016–2024; PSA “Business Email Compromise: The $55 Billion Scam,” 2024.</a:t>
            </a:r>
            <a:endParaRPr lang="en-US" sz="1300" dirty="0"/>
          </a:p>
        </p:txBody>
      </p:sp>
      <p:sp>
        <p:nvSpPr>
          <p:cNvPr id="9" name="Text 7"/>
          <p:cNvSpPr txBox="1"/>
          <p:nvPr/>
        </p:nvSpPr>
        <p:spPr>
          <a:xfrm>
            <a:off x="548640" y="3438144"/>
            <a:ext cx="365760" cy="548640"/>
          </a:xfrm>
          <a:prstGeom prst="rect">
            <a:avLst/>
          </a:prstGeom>
          <a:noFill/>
          <a:ln/>
        </p:spPr>
        <p:txBody>
          <a:bodyPr wrap="square" lIns="0" tIns="0" rIns="0" bIns="0" rtlCol="0" anchor="t"/>
          <a:lstStyle/>
          <a:p>
            <a:pPr indent="0" marL="0">
              <a:buNone/>
            </a:pPr>
            <a:r>
              <a:rPr lang="en-US" sz="1400" b="1" dirty="0">
                <a:solidFill>
                  <a:srgbClr val="1F6F6B"/>
                </a:solidFill>
                <a:latin typeface="Arial" pitchFamily="34" charset="0"/>
                <a:ea typeface="Arial" pitchFamily="34" charset="-122"/>
                <a:cs typeface="Arial" pitchFamily="34" charset="-120"/>
              </a:rPr>
              <a:t>4</a:t>
            </a:r>
            <a:endParaRPr lang="en-US" sz="1400" dirty="0"/>
          </a:p>
        </p:txBody>
      </p:sp>
      <p:sp>
        <p:nvSpPr>
          <p:cNvPr id="10" name="Text 8"/>
          <p:cNvSpPr txBox="1"/>
          <p:nvPr/>
        </p:nvSpPr>
        <p:spPr>
          <a:xfrm>
            <a:off x="914400" y="3438144"/>
            <a:ext cx="7223760" cy="59436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I. Fette, N. Sadeh, A. Tomasic, “Learning to detect phishing emails,” WWW, 2007.</a:t>
            </a:r>
            <a:endParaRPr lang="en-US" sz="1300" dirty="0"/>
          </a:p>
        </p:txBody>
      </p:sp>
      <p:sp>
        <p:nvSpPr>
          <p:cNvPr id="11" name="Text 9"/>
          <p:cNvSpPr txBox="1"/>
          <p:nvPr/>
        </p:nvSpPr>
        <p:spPr>
          <a:xfrm>
            <a:off x="548640" y="4096512"/>
            <a:ext cx="365760" cy="548640"/>
          </a:xfrm>
          <a:prstGeom prst="rect">
            <a:avLst/>
          </a:prstGeom>
          <a:noFill/>
          <a:ln/>
        </p:spPr>
        <p:txBody>
          <a:bodyPr wrap="square" lIns="0" tIns="0" rIns="0" bIns="0" rtlCol="0" anchor="t"/>
          <a:lstStyle/>
          <a:p>
            <a:pPr indent="0" marL="0">
              <a:buNone/>
            </a:pPr>
            <a:r>
              <a:rPr lang="en-US" sz="1400" b="1" dirty="0">
                <a:solidFill>
                  <a:srgbClr val="1F6F6B"/>
                </a:solidFill>
                <a:latin typeface="Arial" pitchFamily="34" charset="0"/>
                <a:ea typeface="Arial" pitchFamily="34" charset="-122"/>
                <a:cs typeface="Arial" pitchFamily="34" charset="-120"/>
              </a:rPr>
              <a:t>5</a:t>
            </a:r>
            <a:endParaRPr lang="en-US" sz="1400" dirty="0"/>
          </a:p>
        </p:txBody>
      </p:sp>
      <p:sp>
        <p:nvSpPr>
          <p:cNvPr id="12" name="Text 10"/>
          <p:cNvSpPr txBox="1"/>
          <p:nvPr/>
        </p:nvSpPr>
        <p:spPr>
          <a:xfrm>
            <a:off x="914400" y="4096512"/>
            <a:ext cx="7223760" cy="59436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A. Cidon et al., “High precision detection of business email compromise,” USENIX Security, 2019.</a:t>
            </a:r>
            <a:endParaRPr lang="en-US" sz="1300" dirty="0"/>
          </a:p>
        </p:txBody>
      </p:sp>
      <p:sp>
        <p:nvSpPr>
          <p:cNvPr id="13" name="Text 11"/>
          <p:cNvSpPr txBox="1"/>
          <p:nvPr/>
        </p:nvSpPr>
        <p:spPr>
          <a:xfrm>
            <a:off x="548640" y="4754880"/>
            <a:ext cx="365760" cy="548640"/>
          </a:xfrm>
          <a:prstGeom prst="rect">
            <a:avLst/>
          </a:prstGeom>
          <a:noFill/>
          <a:ln/>
        </p:spPr>
        <p:txBody>
          <a:bodyPr wrap="square" lIns="0" tIns="0" rIns="0" bIns="0" rtlCol="0" anchor="t"/>
          <a:lstStyle/>
          <a:p>
            <a:pPr indent="0" marL="0">
              <a:buNone/>
            </a:pPr>
            <a:r>
              <a:rPr lang="en-US" sz="1400" b="1" dirty="0">
                <a:solidFill>
                  <a:srgbClr val="1F6F6B"/>
                </a:solidFill>
                <a:latin typeface="Arial" pitchFamily="34" charset="0"/>
                <a:ea typeface="Arial" pitchFamily="34" charset="-122"/>
                <a:cs typeface="Arial" pitchFamily="34" charset="-120"/>
              </a:rPr>
              <a:t>6</a:t>
            </a:r>
            <a:endParaRPr lang="en-US" sz="1400" dirty="0"/>
          </a:p>
        </p:txBody>
      </p:sp>
      <p:sp>
        <p:nvSpPr>
          <p:cNvPr id="14" name="Text 12"/>
          <p:cNvSpPr txBox="1"/>
          <p:nvPr/>
        </p:nvSpPr>
        <p:spPr>
          <a:xfrm>
            <a:off x="914400" y="4754880"/>
            <a:ext cx="7223760" cy="59436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J. Devlin et al., “BERT: Pre-training of deep bidirectional transformers,” NAACL, 2019.</a:t>
            </a:r>
            <a:endParaRPr lang="en-US" sz="1300" dirty="0"/>
          </a:p>
        </p:txBody>
      </p:sp>
      <p:sp>
        <p:nvSpPr>
          <p:cNvPr id="15" name="Text 13"/>
          <p:cNvSpPr txBox="1"/>
          <p:nvPr/>
        </p:nvSpPr>
        <p:spPr>
          <a:xfrm>
            <a:off x="548640" y="5413248"/>
            <a:ext cx="365760" cy="548640"/>
          </a:xfrm>
          <a:prstGeom prst="rect">
            <a:avLst/>
          </a:prstGeom>
          <a:noFill/>
          <a:ln/>
        </p:spPr>
        <p:txBody>
          <a:bodyPr wrap="square" lIns="0" tIns="0" rIns="0" bIns="0" rtlCol="0" anchor="t"/>
          <a:lstStyle/>
          <a:p>
            <a:pPr indent="0" marL="0">
              <a:buNone/>
            </a:pPr>
            <a:r>
              <a:rPr lang="en-US" sz="1400" b="1" dirty="0">
                <a:solidFill>
                  <a:srgbClr val="1F6F6B"/>
                </a:solidFill>
                <a:latin typeface="Arial" pitchFamily="34" charset="0"/>
                <a:ea typeface="Arial" pitchFamily="34" charset="-122"/>
                <a:cs typeface="Arial" pitchFamily="34" charset="-120"/>
              </a:rPr>
              <a:t>7</a:t>
            </a:r>
            <a:endParaRPr lang="en-US" sz="1400" dirty="0"/>
          </a:p>
        </p:txBody>
      </p:sp>
      <p:sp>
        <p:nvSpPr>
          <p:cNvPr id="16" name="Text 14"/>
          <p:cNvSpPr txBox="1"/>
          <p:nvPr/>
        </p:nvSpPr>
        <p:spPr>
          <a:xfrm>
            <a:off x="914400" y="5413248"/>
            <a:ext cx="7223760" cy="594360"/>
          </a:xfrm>
          <a:prstGeom prst="rect">
            <a:avLst/>
          </a:prstGeom>
          <a:noFill/>
          <a:ln/>
        </p:spPr>
        <p:txBody>
          <a:bodyPr wrap="square" lIns="0" tIns="0" rIns="0" bIns="0" rtlCol="0" anchor="t"/>
          <a:lstStyle/>
          <a:p>
            <a:pPr indent="0" marL="0">
              <a:buNone/>
            </a:pPr>
            <a:r>
              <a:rPr lang="en-US" sz="1300" dirty="0">
                <a:solidFill>
                  <a:srgbClr val="1B2A3A"/>
                </a:solidFill>
                <a:latin typeface="Arial" pitchFamily="34" charset="0"/>
                <a:ea typeface="Arial" pitchFamily="34" charset="-122"/>
                <a:cs typeface="Arial" pitchFamily="34" charset="-120"/>
              </a:rPr>
              <a:t>S. Salloum et al., “Phishing email detection using NLP techniques: a systematic review,” IEEE Access, 2022.</a:t>
            </a:r>
            <a:endParaRPr lang="en-US" sz="1300" dirty="0"/>
          </a:p>
        </p:txBody>
      </p:sp>
      <p:sp>
        <p:nvSpPr>
          <p:cNvPr id="17" name="Shape 15"/>
          <p:cNvSpPr/>
          <p:nvPr/>
        </p:nvSpPr>
        <p:spPr>
          <a:xfrm>
            <a:off x="8595360" y="1463040"/>
            <a:ext cx="3044952" cy="4754880"/>
          </a:xfrm>
          <a:prstGeom prst="roundRect">
            <a:avLst>
              <a:gd name="adj" fmla="val 3003"/>
            </a:avLst>
          </a:prstGeom>
          <a:solidFill>
            <a:srgbClr val="1B2A3A"/>
          </a:solidFill>
          <a:ln w="12700">
            <a:solidFill>
              <a:srgbClr val="1B2A3A"/>
            </a:solidFill>
            <a:prstDash val="solid"/>
          </a:ln>
        </p:spPr>
      </p:sp>
      <p:pic>
        <p:nvPicPr>
          <p:cNvPr id="18" name="Image 0" descr="preencoded.png">    </p:cNvPr>
          <p:cNvPicPr>
            <a:picLocks noChangeAspect="1"/>
          </p:cNvPicPr>
          <p:nvPr/>
        </p:nvPicPr>
        <p:blipFill>
          <a:blip r:embed="rId1"/>
          <a:stretch>
            <a:fillRect/>
          </a:stretch>
        </p:blipFill>
        <p:spPr>
          <a:xfrm>
            <a:off x="9601200" y="2103120"/>
            <a:ext cx="1005840" cy="1005840"/>
          </a:xfrm>
          <a:prstGeom prst="rect">
            <a:avLst/>
          </a:prstGeom>
        </p:spPr>
      </p:pic>
      <p:sp>
        <p:nvSpPr>
          <p:cNvPr id="19" name="Text 16"/>
          <p:cNvSpPr txBox="1"/>
          <p:nvPr/>
        </p:nvSpPr>
        <p:spPr>
          <a:xfrm>
            <a:off x="8595360" y="3383280"/>
            <a:ext cx="3044952" cy="640080"/>
          </a:xfrm>
          <a:prstGeom prst="rect">
            <a:avLst/>
          </a:prstGeom>
          <a:noFill/>
          <a:ln/>
        </p:spPr>
        <p:txBody>
          <a:bodyPr wrap="square" lIns="0" tIns="0" rIns="0" bIns="0" rtlCol="0" anchor="t"/>
          <a:lstStyle/>
          <a:p>
            <a:pPr algn="ctr" indent="0" marL="0">
              <a:buNone/>
            </a:pPr>
            <a:r>
              <a:rPr lang="en-US" sz="3000" b="1" dirty="0">
                <a:solidFill>
                  <a:srgbClr val="F5EFE3"/>
                </a:solidFill>
                <a:latin typeface="Georgia" pitchFamily="34" charset="0"/>
                <a:ea typeface="Georgia" pitchFamily="34" charset="-122"/>
                <a:cs typeface="Georgia" pitchFamily="34" charset="-120"/>
              </a:rPr>
              <a:t>Thank you</a:t>
            </a:r>
            <a:endParaRPr lang="en-US" sz="3000" dirty="0"/>
          </a:p>
        </p:txBody>
      </p:sp>
      <p:sp>
        <p:nvSpPr>
          <p:cNvPr id="20" name="Text 17"/>
          <p:cNvSpPr txBox="1"/>
          <p:nvPr/>
        </p:nvSpPr>
        <p:spPr>
          <a:xfrm>
            <a:off x="8595360" y="4069080"/>
            <a:ext cx="3044952" cy="411480"/>
          </a:xfrm>
          <a:prstGeom prst="rect">
            <a:avLst/>
          </a:prstGeom>
          <a:noFill/>
          <a:ln/>
        </p:spPr>
        <p:txBody>
          <a:bodyPr wrap="square" lIns="0" tIns="0" rIns="0" bIns="0" rtlCol="0" anchor="t"/>
          <a:lstStyle/>
          <a:p>
            <a:pPr algn="ctr" indent="0" marL="0">
              <a:buNone/>
            </a:pPr>
            <a:r>
              <a:rPr lang="en-US" sz="1800" i="1" dirty="0">
                <a:solidFill>
                  <a:srgbClr val="8DB8A8"/>
                </a:solidFill>
                <a:latin typeface="Arial" pitchFamily="34" charset="0"/>
                <a:ea typeface="Arial" pitchFamily="34" charset="-122"/>
                <a:cs typeface="Arial" pitchFamily="34" charset="-120"/>
              </a:rPr>
              <a:t>Questions?</a:t>
            </a:r>
            <a:endParaRPr lang="en-US" sz="1800" dirty="0"/>
          </a:p>
        </p:txBody>
      </p:sp>
      <p:sp>
        <p:nvSpPr>
          <p:cNvPr id="21" name="Text 18"/>
          <p:cNvSpPr txBox="1"/>
          <p:nvPr/>
        </p:nvSpPr>
        <p:spPr>
          <a:xfrm>
            <a:off x="8595360" y="5303520"/>
            <a:ext cx="3044952" cy="365760"/>
          </a:xfrm>
          <a:prstGeom prst="rect">
            <a:avLst/>
          </a:prstGeom>
          <a:noFill/>
          <a:ln/>
        </p:spPr>
        <p:txBody>
          <a:bodyPr wrap="square" lIns="0" tIns="0" rIns="0" bIns="0" rtlCol="0" anchor="t"/>
          <a:lstStyle/>
          <a:p>
            <a:pPr algn="ctr" indent="0" marL="0">
              <a:buNone/>
            </a:pPr>
            <a:r>
              <a:rPr lang="en-US" sz="1300" dirty="0">
                <a:solidFill>
                  <a:srgbClr val="DCE5E0"/>
                </a:solidFill>
                <a:latin typeface="Arial" pitchFamily="34" charset="0"/>
                <a:ea typeface="Arial" pitchFamily="34" charset="-122"/>
                <a:cs typeface="Arial" pitchFamily="34" charset="-120"/>
              </a:rPr>
              <a:t>Tarang · Vivaan · Yaman Ansari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Email Detection using ML/NLP – Google–Facebook BEC Case Study</dc:title>
  <dc:subject>PptxGenJS Presentation</dc:subject>
  <dc:creator>Tarang, Vivaan, Yaman Ansari</dc:creator>
  <cp:lastModifiedBy>Tarang, Vivaan, Yaman Ansari</cp:lastModifiedBy>
  <cp:revision>1</cp:revision>
  <dcterms:created xsi:type="dcterms:W3CDTF">2026-10-14T15:15:05Z</dcterms:created>
  <dcterms:modified xsi:type="dcterms:W3CDTF">2026-10-14T15:15:05Z</dcterms:modified>
</cp:coreProperties>
</file>